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99" r:id="rId5"/>
    <p:sldId id="300" r:id="rId6"/>
    <p:sldId id="301" r:id="rId7"/>
    <p:sldId id="302" r:id="rId8"/>
    <p:sldId id="260" r:id="rId9"/>
    <p:sldId id="284" r:id="rId10"/>
    <p:sldId id="308" r:id="rId11"/>
    <p:sldId id="265" r:id="rId12"/>
    <p:sldId id="289" r:id="rId13"/>
    <p:sldId id="303" r:id="rId14"/>
    <p:sldId id="290" r:id="rId15"/>
    <p:sldId id="305" r:id="rId16"/>
    <p:sldId id="291" r:id="rId17"/>
    <p:sldId id="304" r:id="rId18"/>
    <p:sldId id="292" r:id="rId19"/>
    <p:sldId id="306" r:id="rId20"/>
    <p:sldId id="293" r:id="rId21"/>
    <p:sldId id="307" r:id="rId22"/>
    <p:sldId id="283" r:id="rId23"/>
    <p:sldId id="25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B05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891" autoAdjust="0"/>
    <p:restoredTop sz="94660"/>
  </p:normalViewPr>
  <p:slideViewPr>
    <p:cSldViewPr snapToGrid="0">
      <p:cViewPr varScale="1">
        <p:scale>
          <a:sx n="76" d="100"/>
          <a:sy n="76" d="100"/>
        </p:scale>
        <p:origin x="-480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60860F-C340-F964-8711-B70D18F2D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316" y="2997171"/>
            <a:ext cx="5911368" cy="8636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Video Title</a:t>
            </a:r>
            <a:endParaRPr lang="en-IN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="" xmlns:a16="http://schemas.microsoft.com/office/drawing/2014/main" id="{F41921D5-B2A7-423B-B9D7-CEB7266C8A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1EEF7B5-2005-487C-A335-E2554B8F2C0F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61038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942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9171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="" xmlns:a16="http://schemas.microsoft.com/office/drawing/2014/main" id="{9E4CB4B1-306A-4384-AC34-AB499A6C7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1718085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="" xmlns:a16="http://schemas.microsoft.com/office/drawing/2014/main" id="{47040CAB-B54D-4828-9A04-3A7C3AC3E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107653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610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419" y="1308691"/>
            <a:ext cx="6341163" cy="485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5896" y="2438947"/>
            <a:ext cx="4432852" cy="199390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0449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72" y="1757411"/>
            <a:ext cx="4642371" cy="3555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7735" y="2353091"/>
            <a:ext cx="2927443" cy="23220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="" xmlns:a16="http://schemas.microsoft.com/office/drawing/2014/main" id="{6B93A7B1-FE5F-4D38-90BD-226BB1FA1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8997" y="1579545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53D03DA-6A09-453B-8E92-DDE6238E616E}"/>
              </a:ext>
            </a:extLst>
          </p:cNvPr>
          <p:cNvGrpSpPr/>
          <p:nvPr userDrawn="1"/>
        </p:nvGrpSpPr>
        <p:grpSpPr>
          <a:xfrm rot="10800000">
            <a:off x="831850" y="4257656"/>
            <a:ext cx="1289304" cy="1289304"/>
            <a:chOff x="9611350" y="1273785"/>
            <a:chExt cx="1289304" cy="128930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="" xmlns:a16="http://schemas.microsoft.com/office/drawing/2014/main" id="{787947E2-03B1-49D1-8F29-87DF3EFE5CE2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="" xmlns:a16="http://schemas.microsoft.com/office/drawing/2014/main" id="{538E91B5-064A-42BF-8C2B-298B665E358A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B255699C-CFB9-49D1-9C35-50A5F279595C}"/>
              </a:ext>
            </a:extLst>
          </p:cNvPr>
          <p:cNvGrpSpPr/>
          <p:nvPr userDrawn="1"/>
        </p:nvGrpSpPr>
        <p:grpSpPr>
          <a:xfrm>
            <a:off x="3372568" y="1527159"/>
            <a:ext cx="1289304" cy="1289304"/>
            <a:chOff x="9611350" y="1273785"/>
            <a:chExt cx="1289304" cy="12893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="" xmlns:a16="http://schemas.microsoft.com/office/drawing/2014/main" id="{C9B84DFC-6D56-44C0-897B-40A729BF74DC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="" xmlns:a16="http://schemas.microsoft.com/office/drawing/2014/main" id="{E49F67E5-6A93-438F-84F1-2E440D2ECFBF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219314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64753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5" name="Text Placeholder 4">
            <a:extLst>
              <a:ext uri="{FF2B5EF4-FFF2-40B4-BE49-F238E27FC236}">
                <a16:creationId xmlns="" xmlns:a16="http://schemas.microsoft.com/office/drawing/2014/main" id="{13B55745-1481-41BE-9233-B21F4F00BA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30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3147" y="1640436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2DD83F17-A635-4F57-9358-97F743C3216F}"/>
              </a:ext>
            </a:extLst>
          </p:cNvPr>
          <p:cNvGrpSpPr/>
          <p:nvPr userDrawn="1"/>
        </p:nvGrpSpPr>
        <p:grpSpPr>
          <a:xfrm rot="10800000">
            <a:off x="6096000" y="4318547"/>
            <a:ext cx="1289304" cy="1289304"/>
            <a:chOff x="9611350" y="1273785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E4E50DDF-0C10-4989-911A-32DB07DC9F52}"/>
              </a:ext>
            </a:extLst>
          </p:cNvPr>
          <p:cNvGrpSpPr/>
          <p:nvPr userDrawn="1"/>
        </p:nvGrpSpPr>
        <p:grpSpPr>
          <a:xfrm>
            <a:off x="8636718" y="1588050"/>
            <a:ext cx="1289304" cy="1289304"/>
            <a:chOff x="9611350" y="1273785"/>
            <a:chExt cx="1289304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494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6496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6" name="Text Placeholder 4">
            <a:extLst>
              <a:ext uri="{FF2B5EF4-FFF2-40B4-BE49-F238E27FC236}">
                <a16:creationId xmlns="" xmlns:a16="http://schemas.microsoft.com/office/drawing/2014/main" id="{6DCD2EC6-4AE2-4605-9670-EE79E1A4B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="" xmlns:a16="http://schemas.microsoft.com/office/drawing/2014/main" id="{54CB8A54-9CBD-40B9-88A7-3B0B2FB6BA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8224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20794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93955"/>
            <a:ext cx="9137444" cy="4190687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0519280C-517B-4F4A-AD31-E885447E1D7D}"/>
              </a:ext>
            </a:extLst>
          </p:cNvPr>
          <p:cNvSpPr/>
          <p:nvPr userDrawn="1"/>
        </p:nvSpPr>
        <p:spPr>
          <a:xfrm>
            <a:off x="358917" y="416162"/>
            <a:ext cx="218361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Summary</a:t>
            </a:r>
            <a:endParaRPr lang="en-IN" sz="3600" b="1" kern="12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4C789902-3498-444F-888A-CD8E960A75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77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A Logo start and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7B14931-B1C9-481D-A12E-67817E6ECD19}"/>
              </a:ext>
            </a:extLst>
          </p:cNvPr>
          <p:cNvSpPr/>
          <p:nvPr userDrawn="1"/>
        </p:nvSpPr>
        <p:spPr>
          <a:xfrm>
            <a:off x="0" y="0"/>
            <a:ext cx="12192000" cy="669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B8C40B09-EF0A-40AA-B833-35019707AD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6" y="3017519"/>
            <a:ext cx="3810008" cy="82296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47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C1B16E8-8992-B39B-527E-7E2267D2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94E762-59DB-4A56-B671-6707C2ACF63B}" type="datetimeFigureOut">
              <a:rPr lang="en-IN" smtClean="0"/>
              <a:pPr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24BA001-1173-3B81-16E7-A1CABA0F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E1E256B-6739-E4D3-25B2-A3D4670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0CE178-C5E0-487A-BEDA-02254E864867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E5C22FAF-F747-40D1-9697-6B119C1E0E5B}"/>
              </a:ext>
            </a:extLst>
          </p:cNvPr>
          <p:cNvSpPr/>
          <p:nvPr userDrawn="1"/>
        </p:nvSpPr>
        <p:spPr>
          <a:xfrm>
            <a:off x="-99391" y="-45719"/>
            <a:ext cx="12423913" cy="6903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62ADEEB-5BA3-4C4B-BD02-E7EDE90FF541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746F02-3F1E-4264-B2CD-33C59ED11B12}"/>
              </a:ext>
            </a:extLst>
          </p:cNvPr>
          <p:cNvSpPr/>
          <p:nvPr userDrawn="1"/>
        </p:nvSpPr>
        <p:spPr>
          <a:xfrm>
            <a:off x="1557130" y="10590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Video Title: Roboto, Bold, 44</a:t>
            </a:r>
          </a:p>
          <a:p>
            <a:r>
              <a:rPr lang="en-US" dirty="0"/>
              <a:t>Top Heading 1: Roboto, Bold, 36</a:t>
            </a:r>
          </a:p>
          <a:p>
            <a:r>
              <a:rPr lang="en-US" dirty="0"/>
              <a:t>Sub- Heading 2: Roboto, Bold, 20</a:t>
            </a:r>
          </a:p>
          <a:p>
            <a:r>
              <a:rPr lang="en-US" dirty="0"/>
              <a:t>Body Text: Roboto, 18</a:t>
            </a:r>
          </a:p>
        </p:txBody>
      </p:sp>
    </p:spTree>
    <p:extLst>
      <p:ext uri="{BB962C8B-B14F-4D97-AF65-F5344CB8AC3E}">
        <p14:creationId xmlns="" xmlns:p14="http://schemas.microsoft.com/office/powerpoint/2010/main" val="62476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89EBD0A-0020-4F1B-8C0B-2A6D21CB67FA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94" y="430902"/>
            <a:ext cx="2282687" cy="49306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235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2" r:id="rId3"/>
    <p:sldLayoutId id="2147483680" r:id="rId4"/>
    <p:sldLayoutId id="2147483676" r:id="rId5"/>
    <p:sldLayoutId id="2147483677" r:id="rId6"/>
    <p:sldLayoutId id="2147483661" r:id="rId7"/>
    <p:sldLayoutId id="2147483678" r:id="rId8"/>
    <p:sldLayoutId id="2147483673" r:id="rId9"/>
    <p:sldLayoutId id="2147483674" r:id="rId10"/>
    <p:sldLayoutId id="2147483679" r:id="rId11"/>
    <p:sldLayoutId id="2147483675" r:id="rId12"/>
    <p:sldLayoutId id="2147483664" r:id="rId13"/>
    <p:sldLayoutId id="2147483671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ckerrank.com/auth/login" TargetMode="External"/><Relationship Id="rId2" Type="http://schemas.openxmlformats.org/officeDocument/2006/relationships/hyperlink" Target="https://leetcod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atacamp.com/" TargetMode="External"/><Relationship Id="rId4" Type="http://schemas.openxmlformats.org/officeDocument/2006/relationships/hyperlink" Target="https://algocademy.com/blog/top-leetcode-alternatives-for-coding-practice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chin365123/Applies-Data-Structure-and-Application-GLA-Online-Sessions-Jan---Jun-2026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2265" y="492257"/>
            <a:ext cx="808747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Roboto"/>
              </a:rPr>
              <a:t>Applies Data Structure and Application</a:t>
            </a:r>
          </a:p>
          <a:p>
            <a:pPr algn="ctr"/>
            <a:endParaRPr lang="en-US" sz="3600" dirty="0" smtClean="0">
              <a:latin typeface="Roboto"/>
            </a:endParaRPr>
          </a:p>
          <a:p>
            <a:pPr algn="ctr"/>
            <a:r>
              <a:rPr lang="en-US" b="1" dirty="0" smtClean="0">
                <a:solidFill>
                  <a:srgbClr val="00B050"/>
                </a:solidFill>
              </a:rPr>
              <a:t>Dr </a:t>
            </a:r>
            <a:r>
              <a:rPr lang="en-US" b="1" dirty="0" err="1" smtClean="0">
                <a:solidFill>
                  <a:srgbClr val="00B050"/>
                </a:solidFill>
              </a:rPr>
              <a:t>Sachin</a:t>
            </a:r>
            <a:r>
              <a:rPr lang="en-US" b="1" dirty="0" smtClean="0">
                <a:solidFill>
                  <a:srgbClr val="00B050"/>
                </a:solidFill>
              </a:rPr>
              <a:t> K </a:t>
            </a:r>
            <a:r>
              <a:rPr lang="en-US" b="1" dirty="0" err="1" smtClean="0">
                <a:solidFill>
                  <a:srgbClr val="00B050"/>
                </a:solidFill>
              </a:rPr>
              <a:t>Saxena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Sr</a:t>
            </a:r>
            <a:r>
              <a:rPr lang="en-US" dirty="0" smtClean="0"/>
              <a:t> Data Analyst, Portugal, MNC</a:t>
            </a:r>
          </a:p>
          <a:p>
            <a:pPr algn="ctr"/>
            <a:r>
              <a:rPr lang="en-US" dirty="0" smtClean="0"/>
              <a:t>Ex-</a:t>
            </a:r>
            <a:r>
              <a:rPr lang="en-US" dirty="0" err="1" smtClean="0"/>
              <a:t>Sr</a:t>
            </a:r>
            <a:r>
              <a:rPr lang="en-US" dirty="0" smtClean="0"/>
              <a:t> Software Engineer - Data Scientist</a:t>
            </a:r>
          </a:p>
          <a:p>
            <a:pPr algn="ctr"/>
            <a:endParaRPr lang="en-US" sz="3600" dirty="0">
              <a:latin typeface="Roboto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8080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316" y="2817845"/>
            <a:ext cx="5911368" cy="1042984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3775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b="1" smtClean="0"/>
              <a:t>Application of Stack: </a:t>
            </a:r>
            <a:r>
              <a:rPr smtClean="0"/>
              <a:t>Conversion of Infix to Prefix Expressions</a:t>
            </a:r>
          </a:p>
          <a:p>
            <a:r>
              <a:rPr b="1" smtClean="0"/>
              <a:t>Application of Stack: </a:t>
            </a:r>
            <a:r>
              <a:rPr smtClean="0"/>
              <a:t>Conversion of Infix to Postfix Expressions</a:t>
            </a:r>
          </a:p>
          <a:p>
            <a:r>
              <a:rPr smtClean="0"/>
              <a:t>Evaluation of Postfix Expression using Stack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Stack: Parentheses Match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305" y="1421964"/>
            <a:ext cx="9507538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9166" y="1483981"/>
            <a:ext cx="9802812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● A Stack is a linear data structure that only allows inserting, deleting and querying elements at one of its ends, which we call the top. </a:t>
            </a:r>
          </a:p>
          <a:p>
            <a:r>
              <a:rPr smtClean="0"/>
              <a:t>● LIFO type structure (Last In, First Out), in which the last element that enters is the first element that leaves.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640" y="2783394"/>
            <a:ext cx="6941554" cy="2841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Alternatives for Coding Practice and Interview Prep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● Leetcode: </a:t>
            </a:r>
            <a:r>
              <a:rPr smtClean="0">
                <a:hlinkClick r:id="rId2"/>
              </a:rPr>
              <a:t>LeetCode - The World's Leading Online Programming Learning Platform</a:t>
            </a:r>
            <a:endParaRPr smtClean="0"/>
          </a:p>
          <a:p>
            <a:r>
              <a:rPr smtClean="0"/>
              <a:t>● Hackerrank: </a:t>
            </a:r>
            <a:r>
              <a:rPr smtClean="0">
                <a:hlinkClick r:id="rId3"/>
              </a:rPr>
              <a:t>HackerRank</a:t>
            </a:r>
            <a:endParaRPr smtClean="0"/>
          </a:p>
          <a:p>
            <a:r>
              <a:rPr smtClean="0"/>
              <a:t>● Agoacademy: </a:t>
            </a:r>
            <a:r>
              <a:rPr smtClean="0">
                <a:hlinkClick r:id="rId4"/>
              </a:rPr>
              <a:t>https://algocademy.com/blog/top-leetcode-alternatives-for-coding-practice/</a:t>
            </a:r>
            <a:endParaRPr smtClean="0"/>
          </a:p>
          <a:p>
            <a:r>
              <a:rPr smtClean="0"/>
              <a:t>● Datacamp: </a:t>
            </a:r>
            <a:r>
              <a:rPr smtClean="0">
                <a:hlinkClick r:id="rId5"/>
              </a:rPr>
              <a:t>Learn Data Science and AI Online | DataCamp</a:t>
            </a:r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Prefix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3109802-316C-721A-8025-47A0C1B11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nn-NO" dirty="0" smtClean="0"/>
              <a:t>Infix: Operand Operator Operand  eg: a+b</a:t>
            </a:r>
          </a:p>
          <a:p>
            <a:pPr marL="342900" indent="-342900">
              <a:buFont typeface="Wingdings" panose="05000000000000000000" pitchFamily="2" charset="2"/>
              <a:buAutoNum type="arabicPeriod"/>
            </a:pPr>
            <a:r>
              <a:rPr lang="nn-NO" dirty="0" smtClean="0"/>
              <a:t>Infix: Operator  Operand Operand  eg: +ab</a:t>
            </a:r>
          </a:p>
          <a:p>
            <a:pPr marL="342900" indent="-342900">
              <a:buFont typeface="Wingdings" panose="05000000000000000000" pitchFamily="2" charset="2"/>
              <a:buAutoNum type="arabicPeriod"/>
            </a:pPr>
            <a:r>
              <a:rPr lang="nn-NO" dirty="0" smtClean="0"/>
              <a:t>Infix: Operand Operand Operator  eg: ab+</a:t>
            </a:r>
          </a:p>
          <a:p>
            <a:pPr marL="342900" indent="-342900">
              <a:buAutoNum type="arabicPeriod"/>
            </a:pPr>
            <a:endParaRPr lang="nn-NO" dirty="0"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Prefix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 descr="Infix to Prefix Conversion - Helpmestudybr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2857" y="1361523"/>
            <a:ext cx="4133960" cy="454691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512466" y="2411605"/>
            <a:ext cx="4139921" cy="3456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00" dirty="0"/>
          </a:p>
        </p:txBody>
      </p:sp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Prefix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 descr="Infix to Prefix Conversion - Helpmestudybr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2857" y="1361523"/>
            <a:ext cx="4133960" cy="45469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Postfix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D1A8D59-4F24-8CD1-414B-EA007474F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smtClean="0"/>
              <a:t>Infix: Operand Operator Operand  eg: a+b</a:t>
            </a:r>
          </a:p>
          <a:p>
            <a:pPr marL="342900" indent="-342900">
              <a:buFont typeface="Wingdings" panose="05000000000000000000" pitchFamily="2" charset="2"/>
              <a:buAutoNum type="arabicPeriod"/>
            </a:pPr>
            <a:r>
              <a:rPr smtClean="0"/>
              <a:t>Infix: Operator  Operand Operand  eg: +ab</a:t>
            </a:r>
          </a:p>
          <a:p>
            <a:pPr marL="342900" indent="-342900">
              <a:buFont typeface="Wingdings" panose="05000000000000000000" pitchFamily="2" charset="2"/>
              <a:buAutoNum type="arabicPeriod"/>
            </a:pPr>
            <a:r>
              <a:rPr smtClean="0"/>
              <a:t>Infix: Operand Operand Operator  eg: ab+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Postfix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D1A8D59-4F24-8CD1-414B-EA007474F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Let's solve : 8 + 3 * (9 - 6) / 2 pow 2</a:t>
            </a:r>
            <a:r>
              <a:rPr sz="900" smtClean="0"/>
              <a:t> </a:t>
            </a:r>
            <a:r>
              <a:rPr smtClean="0"/>
              <a:t>+ 6 / 2</a:t>
            </a:r>
          </a:p>
          <a:p>
            <a:r>
              <a:rPr smtClean="0"/>
              <a:t>Answer: 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Postfix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D1A8D59-4F24-8CD1-414B-EA007474F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Let's solve : 8 + 3 * (9 - 6) / 2 pow 2</a:t>
            </a:r>
            <a:r>
              <a:rPr sz="900" smtClean="0"/>
              <a:t> </a:t>
            </a:r>
            <a:r>
              <a:rPr smtClean="0"/>
              <a:t>+ 6 / 2</a:t>
            </a:r>
          </a:p>
          <a:p>
            <a:r>
              <a:rPr smtClean="0"/>
              <a:t>Answer: 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https://i.ytimg.com/vi/i2i8YkFyLVs/sddefault.jpg"/>
          <p:cNvPicPr>
            <a:picLocks noChangeAspect="1" noChangeArrowheads="1"/>
          </p:cNvPicPr>
          <p:nvPr/>
        </p:nvPicPr>
        <p:blipFill>
          <a:blip r:embed="rId2"/>
          <a:srcRect t="12599" b="24963"/>
          <a:stretch>
            <a:fillRect/>
          </a:stretch>
        </p:blipFill>
        <p:spPr bwMode="auto">
          <a:xfrm>
            <a:off x="4819512" y="2532185"/>
            <a:ext cx="5128356" cy="24015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Postfix Expressions: Method 1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Infix to Postfix Conversion in C [Program and Algorithm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3667" y="1416819"/>
            <a:ext cx="5578434" cy="445948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391886" y="2180489"/>
            <a:ext cx="5486400" cy="368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00" dirty="0"/>
          </a:p>
        </p:txBody>
      </p:sp>
      <p:sp>
        <p:nvSpPr>
          <p:cNvPr id="8" name="Rectangle 7"/>
          <p:cNvSpPr/>
          <p:nvPr/>
        </p:nvSpPr>
        <p:spPr>
          <a:xfrm>
            <a:off x="3217148" y="1406769"/>
            <a:ext cx="2831960" cy="4461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00" dirty="0"/>
          </a:p>
        </p:txBody>
      </p:sp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Postfix Expressions: Method 1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Infix to Postfix Conversion in C [Program and Algorithm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3667" y="1416819"/>
            <a:ext cx="5578434" cy="44594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Postfix Expressions : Method 2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Convert an infix expression into a postfix expression | Techie Deligh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6284" y="1396721"/>
            <a:ext cx="3756798" cy="4456338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391886" y="1718268"/>
            <a:ext cx="3758084" cy="40695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 smtClean="0"/>
              <a:t>A*(B*C+D*E)+F</a:t>
            </a:r>
            <a:endParaRPr lang="en-US" sz="3300" dirty="0"/>
          </a:p>
        </p:txBody>
      </p:sp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Postfix Expressions : Method 2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Convert an infix expression into a postfix expression | Techie Deligh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6284" y="1396721"/>
            <a:ext cx="3756798" cy="4456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Postfix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D1A8D59-4F24-8CD1-414B-EA007474F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b="1" smtClean="0"/>
              <a:t>The following postfix expression with single digit operands in evaluated using a stack</a:t>
            </a:r>
            <a:endParaRPr smtClean="0"/>
          </a:p>
          <a:p>
            <a:r>
              <a:rPr smtClean="0"/>
              <a:t>8 2 3 ^ / 2 3* + 5 1*-</a:t>
            </a:r>
          </a:p>
          <a:p>
            <a:r>
              <a:rPr smtClean="0"/>
              <a:t>Note that ^ is the exponentiation operator. The top two elements of the stack after the first * is evaluated are</a:t>
            </a:r>
          </a:p>
          <a:p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Postfix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D1A8D59-4F24-8CD1-414B-EA007474F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b="1" smtClean="0"/>
              <a:t>The following postfix expression with single digit operands in evaluated using a stack</a:t>
            </a:r>
            <a:endParaRPr smtClean="0"/>
          </a:p>
          <a:p>
            <a:r>
              <a:rPr smtClean="0"/>
              <a:t>8 2 3 ^ / 2 3* + 5 1*-</a:t>
            </a:r>
          </a:p>
          <a:p>
            <a:r>
              <a:rPr smtClean="0"/>
              <a:t>Note that ^ is the exponentiation operator. The top two elements of the stack after the first * is evaluated are</a:t>
            </a:r>
          </a:p>
          <a:p>
            <a:endParaRPr smtClean="0"/>
          </a:p>
          <a:p>
            <a:r>
              <a:rPr b="1" smtClean="0">
                <a:solidFill>
                  <a:srgbClr val="FF0000"/>
                </a:solidFill>
              </a:rPr>
              <a:t>Answer: 6, 1</a:t>
            </a:r>
          </a:p>
          <a:p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Postfix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D1A8D59-4F24-8CD1-414B-EA007474F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b="1" smtClean="0"/>
              <a:t>The following postfix expression with single digit operands in evaluated using a stack</a:t>
            </a:r>
            <a:endParaRPr smtClean="0"/>
          </a:p>
          <a:p>
            <a:r>
              <a:rPr smtClean="0"/>
              <a:t>9 + 3 </a:t>
            </a:r>
            <a:r>
              <a:rPr lang="en-US" dirty="0" smtClean="0"/>
              <a:t>–</a:t>
            </a:r>
            <a:r>
              <a:rPr smtClean="0"/>
              <a:t> 2 * 2 % 3 + 1</a:t>
            </a:r>
          </a:p>
          <a:p>
            <a:r>
              <a:rPr smtClean="0"/>
              <a:t>Note that ^ is the exponentiation operator. The top two elements of the stack after the first * is evaluated are</a:t>
            </a:r>
          </a:p>
          <a:p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Stack: Conversion of Infix to Postfix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D1A8D59-4F24-8CD1-414B-EA007474F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b="1" smtClean="0"/>
              <a:t>The following postfix expression with single digit operands in evaluated using a stack</a:t>
            </a:r>
            <a:endParaRPr smtClean="0"/>
          </a:p>
          <a:p>
            <a:r>
              <a:rPr smtClean="0"/>
              <a:t>9 + 3 </a:t>
            </a:r>
            <a:r>
              <a:rPr lang="en-US" dirty="0" smtClean="0"/>
              <a:t>–</a:t>
            </a:r>
            <a:r>
              <a:rPr smtClean="0"/>
              <a:t> 2 * 2 % 3 + 1</a:t>
            </a:r>
          </a:p>
          <a:p>
            <a:r>
              <a:rPr smtClean="0"/>
              <a:t>Note that ^ is the exponentiation operator. The top two elements of the stack after the first * is evaluated are</a:t>
            </a:r>
          </a:p>
          <a:p>
            <a:endParaRPr smtClean="0"/>
          </a:p>
          <a:p>
            <a:r>
              <a:rPr b="1" smtClean="0">
                <a:solidFill>
                  <a:srgbClr val="FF0000"/>
                </a:solidFill>
              </a:rPr>
              <a:t>Answer: 12</a:t>
            </a:r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Thanking you !!!!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Any question !!!!!</a:t>
            </a:r>
          </a:p>
          <a:p>
            <a:endParaRPr smtClean="0"/>
          </a:p>
          <a:p>
            <a:r>
              <a:rPr smtClean="0"/>
              <a:t>Download PPT : </a:t>
            </a:r>
            <a:r>
              <a:rPr smtClean="0">
                <a:hlinkClick r:id="rId2"/>
              </a:rPr>
              <a:t>https://github.com/sachin365123/Applies-Data-Structure-and-Application-GLA-Online-Sessions-Jan---</a:t>
            </a:r>
            <a:r>
              <a:rPr smtClean="0">
                <a:hlinkClick r:id="rId2"/>
              </a:rPr>
              <a:t>Jun-2026</a:t>
            </a:r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92004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9196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598</Words>
  <Application>Microsoft Office PowerPoint</Application>
  <PresentationFormat>Custom</PresentationFormat>
  <Paragraphs>64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 </vt:lpstr>
      <vt:lpstr>Content</vt:lpstr>
      <vt:lpstr>Stack: Parentheses Match</vt:lpstr>
      <vt:lpstr>Stack</vt:lpstr>
      <vt:lpstr>Stack</vt:lpstr>
      <vt:lpstr>Alternatives for Coding Practice and Interview Prep</vt:lpstr>
      <vt:lpstr>Application of Stack: Conversion of Infix to Prefix Expressions</vt:lpstr>
      <vt:lpstr>Application of Stack: Conversion of Infix to Prefix Expressions</vt:lpstr>
      <vt:lpstr>Application of Stack: Conversion of Infix to Prefix Expressions</vt:lpstr>
      <vt:lpstr>Application of Stack: Conversion of Infix to Postfix Expressions</vt:lpstr>
      <vt:lpstr>Application of Stack: Conversion of Infix to Postfix Expressions</vt:lpstr>
      <vt:lpstr>Application of Stack: Conversion of Infix to Postfix Expressions</vt:lpstr>
      <vt:lpstr>Application of Stack: Conversion of Infix to Postfix Expressions: Method 1</vt:lpstr>
      <vt:lpstr>Application of Stack: Conversion of Infix to Postfix Expressions: Method 1</vt:lpstr>
      <vt:lpstr>Application of Stack: Conversion of Infix to Postfix Expressions : Method 2</vt:lpstr>
      <vt:lpstr>Application of Stack: Conversion of Infix to Postfix Expressions : Method 2</vt:lpstr>
      <vt:lpstr>Application of Stack: Conversion of Infix to Postfix Expressions</vt:lpstr>
      <vt:lpstr>Application of Stack: Conversion of Infix to Postfix Expressions</vt:lpstr>
      <vt:lpstr>Application of Stack: Conversion of Infix to Postfix Expressions</vt:lpstr>
      <vt:lpstr>Application of Stack: Conversion of Infix to Postfix Expressions</vt:lpstr>
      <vt:lpstr>Thanking you !!!!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69</cp:revision>
  <dcterms:created xsi:type="dcterms:W3CDTF">2024-10-06T15:26:34Z</dcterms:created>
  <dcterms:modified xsi:type="dcterms:W3CDTF">2026-03-14T16:42:33Z</dcterms:modified>
</cp:coreProperties>
</file>