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5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99" r:id="rId5"/>
    <p:sldId id="300" r:id="rId6"/>
    <p:sldId id="301" r:id="rId7"/>
    <p:sldId id="302" r:id="rId8"/>
    <p:sldId id="260" r:id="rId9"/>
    <p:sldId id="284" r:id="rId10"/>
    <p:sldId id="308" r:id="rId11"/>
    <p:sldId id="265" r:id="rId12"/>
    <p:sldId id="289" r:id="rId13"/>
    <p:sldId id="303" r:id="rId14"/>
    <p:sldId id="309" r:id="rId15"/>
    <p:sldId id="290" r:id="rId16"/>
    <p:sldId id="305" r:id="rId17"/>
    <p:sldId id="291" r:id="rId18"/>
    <p:sldId id="304" r:id="rId19"/>
    <p:sldId id="292" r:id="rId20"/>
    <p:sldId id="293" r:id="rId21"/>
    <p:sldId id="306" r:id="rId22"/>
    <p:sldId id="307" r:id="rId23"/>
    <p:sldId id="310" r:id="rId24"/>
    <p:sldId id="283" r:id="rId25"/>
    <p:sldId id="257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clrMru>
    <a:srgbClr val="00B050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891" autoAdjust="0"/>
    <p:restoredTop sz="94660"/>
  </p:normalViewPr>
  <p:slideViewPr>
    <p:cSldViewPr snapToGrid="0">
      <p:cViewPr varScale="1">
        <p:scale>
          <a:sx n="76" d="100"/>
          <a:sy n="76" d="100"/>
        </p:scale>
        <p:origin x="-480" y="-7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960860F-C340-F964-8711-B70D18F2D6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0316" y="2997171"/>
            <a:ext cx="5911368" cy="863658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44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b="1" dirty="0">
                <a:solidFill>
                  <a:srgbClr val="00B050"/>
                </a:solidFill>
              </a:rPr>
              <a:t>Video Title</a:t>
            </a:r>
            <a:endParaRPr lang="en-IN" dirty="0"/>
          </a:p>
        </p:txBody>
      </p:sp>
      <p:sp>
        <p:nvSpPr>
          <p:cNvPr id="4" name="Picture Placeholder 22">
            <a:extLst>
              <a:ext uri="{FF2B5EF4-FFF2-40B4-BE49-F238E27FC236}">
                <a16:creationId xmlns:a16="http://schemas.microsoft.com/office/drawing/2014/main" xmlns="" id="{F41921D5-B2A7-423B-B9D7-CEB7266C8AC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51EEF7B5-2005-487C-A335-E2554B8F2C0F}"/>
              </a:ext>
            </a:extLst>
          </p:cNvPr>
          <p:cNvSpPr/>
          <p:nvPr userDrawn="1"/>
        </p:nvSpPr>
        <p:spPr>
          <a:xfrm>
            <a:off x="0" y="6697746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26103884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xmlns="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8775" y="1500188"/>
            <a:ext cx="9137444" cy="41751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10942096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3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xmlns="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8775" y="1500188"/>
            <a:ext cx="9137444" cy="4175125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917112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xmlns="" id="{9E4CB4B1-306A-4384-AC34-AB499A6C72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121" y="1718085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20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xmlns="" id="{47040CAB-B54D-4828-9A04-3A7C3AC3ED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121" y="2107653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lang="en-US" sz="1800" b="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4161086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BC7AB3E3-1439-42FC-80BD-2A21307FA1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2925419" y="1308691"/>
            <a:ext cx="6341163" cy="48568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For Quotations Only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xmlns="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35896" y="2438947"/>
            <a:ext cx="4432852" cy="1993905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4044912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BC7AB3E3-1439-42FC-80BD-2A21307FA1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5200272" y="1757411"/>
            <a:ext cx="4642371" cy="35556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For Quotations Only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xmlns="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57735" y="2353091"/>
            <a:ext cx="2927443" cy="2322098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 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xmlns="" id="{6B93A7B1-FE5F-4D38-90BD-226BB1FA14D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88997" y="1579545"/>
            <a:ext cx="3713165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xmlns="" id="{953D03DA-6A09-453B-8E92-DDE6238E616E}"/>
              </a:ext>
            </a:extLst>
          </p:cNvPr>
          <p:cNvGrpSpPr/>
          <p:nvPr userDrawn="1"/>
        </p:nvGrpSpPr>
        <p:grpSpPr>
          <a:xfrm rot="10800000">
            <a:off x="831850" y="4257656"/>
            <a:ext cx="1289304" cy="1289304"/>
            <a:chOff x="9611350" y="1273785"/>
            <a:chExt cx="1289304" cy="128930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xmlns="" id="{787947E2-03B1-49D1-8F29-87DF3EFE5CE2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xmlns="" id="{538E91B5-064A-42BF-8C2B-298B665E358A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xmlns="" id="{B255699C-CFB9-49D1-9C35-50A5F279595C}"/>
              </a:ext>
            </a:extLst>
          </p:cNvPr>
          <p:cNvGrpSpPr/>
          <p:nvPr userDrawn="1"/>
        </p:nvGrpSpPr>
        <p:grpSpPr>
          <a:xfrm>
            <a:off x="3372568" y="1527159"/>
            <a:ext cx="1289304" cy="1289304"/>
            <a:chOff x="9611350" y="1273785"/>
            <a:chExt cx="1289304" cy="12893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xmlns="" id="{C9B84DFC-6D56-44C0-897B-40A729BF74DC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E49F67E5-6A93-438F-84F1-2E440D2ECFBF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xmlns="" val="21931473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agraph with V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xmlns="" id="{AE22F721-DD17-46CD-B07A-480AE5C6FBF5}"/>
              </a:ext>
            </a:extLst>
          </p:cNvPr>
          <p:cNvCxnSpPr/>
          <p:nvPr userDrawn="1"/>
        </p:nvCxnSpPr>
        <p:spPr>
          <a:xfrm>
            <a:off x="8636718" y="1614243"/>
            <a:ext cx="1289304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7" y="1640436"/>
            <a:ext cx="3715711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D6056BB0-9A3C-4DD1-9BAE-C7F27161A882}"/>
              </a:ext>
            </a:extLst>
          </p:cNvPr>
          <p:cNvGrpSpPr/>
          <p:nvPr userDrawn="1"/>
        </p:nvGrpSpPr>
        <p:grpSpPr>
          <a:xfrm>
            <a:off x="6096000" y="431854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xmlns="" id="{79819D75-3C3B-47C6-AF1A-F45AC9C64A90}"/>
              </a:ext>
            </a:extLst>
          </p:cNvPr>
          <p:cNvCxnSpPr>
            <a:cxnSpLocks/>
          </p:cNvCxnSpPr>
          <p:nvPr userDrawn="1"/>
        </p:nvCxnSpPr>
        <p:spPr>
          <a:xfrm>
            <a:off x="9897448" y="1588050"/>
            <a:ext cx="0" cy="1289304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353632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6475374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ragraph with V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xmlns="" id="{AE22F721-DD17-46CD-B07A-480AE5C6FBF5}"/>
              </a:ext>
            </a:extLst>
          </p:cNvPr>
          <p:cNvCxnSpPr/>
          <p:nvPr userDrawn="1"/>
        </p:nvCxnSpPr>
        <p:spPr>
          <a:xfrm>
            <a:off x="8636718" y="1614243"/>
            <a:ext cx="1289304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7" y="1640436"/>
            <a:ext cx="3715711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D6056BB0-9A3C-4DD1-9BAE-C7F27161A882}"/>
              </a:ext>
            </a:extLst>
          </p:cNvPr>
          <p:cNvGrpSpPr/>
          <p:nvPr userDrawn="1"/>
        </p:nvGrpSpPr>
        <p:grpSpPr>
          <a:xfrm>
            <a:off x="6096000" y="431854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xmlns="" id="{79819D75-3C3B-47C6-AF1A-F45AC9C64A90}"/>
              </a:ext>
            </a:extLst>
          </p:cNvPr>
          <p:cNvCxnSpPr>
            <a:cxnSpLocks/>
          </p:cNvCxnSpPr>
          <p:nvPr userDrawn="1"/>
        </p:nvCxnSpPr>
        <p:spPr>
          <a:xfrm>
            <a:off x="9897448" y="1588050"/>
            <a:ext cx="0" cy="1289304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353632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20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xmlns="" id="{13B55745-1481-41BE-9233-B21F4F00BA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121" y="2743200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lang="en-US" sz="1800" b="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730820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with V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153147" y="1640436"/>
            <a:ext cx="3713165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32442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2DD83F17-A635-4F57-9358-97F743C3216F}"/>
              </a:ext>
            </a:extLst>
          </p:cNvPr>
          <p:cNvGrpSpPr/>
          <p:nvPr userDrawn="1"/>
        </p:nvGrpSpPr>
        <p:grpSpPr>
          <a:xfrm rot="10800000">
            <a:off x="6096000" y="4318547"/>
            <a:ext cx="1289304" cy="1289304"/>
            <a:chOff x="9611350" y="1273785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xmlns="" id="{E4E50DDF-0C10-4989-911A-32DB07DC9F52}"/>
              </a:ext>
            </a:extLst>
          </p:cNvPr>
          <p:cNvGrpSpPr/>
          <p:nvPr userDrawn="1"/>
        </p:nvGrpSpPr>
        <p:grpSpPr>
          <a:xfrm>
            <a:off x="8636718" y="1588050"/>
            <a:ext cx="1289304" cy="1289304"/>
            <a:chOff x="9611350" y="1273785"/>
            <a:chExt cx="1289304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xmlns="" id="{AE22F721-DD17-46CD-B07A-480AE5C6FBF5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xmlns="" id="{79819D75-3C3B-47C6-AF1A-F45AC9C64A90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353632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</p:txBody>
      </p: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19494352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agraph with H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8" y="1883836"/>
            <a:ext cx="4322692" cy="280591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D6056BB0-9A3C-4DD1-9BAE-C7F27161A882}"/>
              </a:ext>
            </a:extLst>
          </p:cNvPr>
          <p:cNvGrpSpPr/>
          <p:nvPr userDrawn="1"/>
        </p:nvGrpSpPr>
        <p:grpSpPr>
          <a:xfrm>
            <a:off x="6096000" y="346129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FD5A3C11-7D7D-4F56-AD42-B05E22605450}"/>
              </a:ext>
            </a:extLst>
          </p:cNvPr>
          <p:cNvGrpSpPr/>
          <p:nvPr userDrawn="1"/>
        </p:nvGrpSpPr>
        <p:grpSpPr>
          <a:xfrm>
            <a:off x="9186536" y="1826589"/>
            <a:ext cx="1317195" cy="1289304"/>
            <a:chOff x="9186536" y="1826589"/>
            <a:chExt cx="1317195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xmlns="" id="{AE22F721-DD17-46CD-B07A-480AE5C6FBF5}"/>
                </a:ext>
              </a:extLst>
            </p:cNvPr>
            <p:cNvCxnSpPr/>
            <p:nvPr userDrawn="1"/>
          </p:nvCxnSpPr>
          <p:spPr>
            <a:xfrm>
              <a:off x="9186536" y="1852994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xmlns="" id="{79819D75-3C3B-47C6-AF1A-F45AC9C64A9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503731" y="1826589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035843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3649648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ragraph with H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8" y="1883836"/>
            <a:ext cx="4322692" cy="280591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D6056BB0-9A3C-4DD1-9BAE-C7F27161A882}"/>
              </a:ext>
            </a:extLst>
          </p:cNvPr>
          <p:cNvGrpSpPr/>
          <p:nvPr userDrawn="1"/>
        </p:nvGrpSpPr>
        <p:grpSpPr>
          <a:xfrm>
            <a:off x="6096000" y="346129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FD5A3C11-7D7D-4F56-AD42-B05E22605450}"/>
              </a:ext>
            </a:extLst>
          </p:cNvPr>
          <p:cNvGrpSpPr/>
          <p:nvPr userDrawn="1"/>
        </p:nvGrpSpPr>
        <p:grpSpPr>
          <a:xfrm>
            <a:off x="9186536" y="1826589"/>
            <a:ext cx="1317195" cy="1289304"/>
            <a:chOff x="9186536" y="1826589"/>
            <a:chExt cx="1317195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xmlns="" id="{AE22F721-DD17-46CD-B07A-480AE5C6FBF5}"/>
                </a:ext>
              </a:extLst>
            </p:cNvPr>
            <p:cNvCxnSpPr/>
            <p:nvPr userDrawn="1"/>
          </p:nvCxnSpPr>
          <p:spPr>
            <a:xfrm>
              <a:off x="9186536" y="1852994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xmlns="" id="{79819D75-3C3B-47C6-AF1A-F45AC9C64A9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503731" y="1826589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xmlns="" id="{6DCD2EC6-4AE2-4605-9670-EE79E1A4BD8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121" y="2353632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20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xmlns="" id="{54CB8A54-9CBD-40B9-88A7-3B0B2FB6BA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121" y="2743200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lang="en-US" sz="1800" b="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182242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with H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xmlns="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8" y="1883836"/>
            <a:ext cx="4322692" cy="280591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xmlns="" id="{D6056BB0-9A3C-4DD1-9BAE-C7F27161A882}"/>
              </a:ext>
            </a:extLst>
          </p:cNvPr>
          <p:cNvGrpSpPr/>
          <p:nvPr userDrawn="1"/>
        </p:nvGrpSpPr>
        <p:grpSpPr>
          <a:xfrm>
            <a:off x="6096000" y="346129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xmlns="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xmlns="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FD5A3C11-7D7D-4F56-AD42-B05E22605450}"/>
              </a:ext>
            </a:extLst>
          </p:cNvPr>
          <p:cNvGrpSpPr/>
          <p:nvPr userDrawn="1"/>
        </p:nvGrpSpPr>
        <p:grpSpPr>
          <a:xfrm>
            <a:off x="9186536" y="1826589"/>
            <a:ext cx="1317195" cy="1289304"/>
            <a:chOff x="9186536" y="1826589"/>
            <a:chExt cx="1317195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xmlns="" id="{AE22F721-DD17-46CD-B07A-480AE5C6FBF5}"/>
                </a:ext>
              </a:extLst>
            </p:cNvPr>
            <p:cNvCxnSpPr/>
            <p:nvPr userDrawn="1"/>
          </p:nvCxnSpPr>
          <p:spPr>
            <a:xfrm>
              <a:off x="9186536" y="1852994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xmlns="" id="{79819D75-3C3B-47C6-AF1A-F45AC9C64A9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503731" y="1826589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035843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xmlns="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22079442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32442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xmlns="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8775" y="1593955"/>
            <a:ext cx="9137444" cy="4190687"/>
          </a:xfrm>
          <a:prstGeom prst="rect">
            <a:avLst/>
          </a:prstGeom>
        </p:spPr>
        <p:txBody>
          <a:bodyPr>
            <a:normAutofit/>
          </a:bodyPr>
          <a:lstStyle>
            <a:lvl1pPr marL="285750" marR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B050"/>
              </a:buClr>
              <a:buSzTx/>
              <a:buFont typeface="Wingdings" panose="05000000000000000000" pitchFamily="2" charset="2"/>
              <a:buChar char="§"/>
              <a:tabLst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endParaRPr lang="en-US" dirty="0"/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B05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endParaRPr lang="en-US" dirty="0"/>
          </a:p>
          <a:p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xmlns="" id="{0519280C-517B-4F4A-AD31-E885447E1D7D}"/>
              </a:ext>
            </a:extLst>
          </p:cNvPr>
          <p:cNvSpPr/>
          <p:nvPr userDrawn="1"/>
        </p:nvSpPr>
        <p:spPr>
          <a:xfrm>
            <a:off x="358917" y="416162"/>
            <a:ext cx="2183611" cy="5909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en-US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rPr>
              <a:t>Summary</a:t>
            </a:r>
            <a:endParaRPr lang="en-IN" sz="3600" b="1" kern="1200" dirty="0">
              <a:solidFill>
                <a:srgbClr val="00B050"/>
              </a:solidFill>
              <a:latin typeface="Roboto" panose="02000000000000000000" pitchFamily="2" charset="0"/>
              <a:ea typeface="Roboto" panose="02000000000000000000" pitchFamily="2" charset="0"/>
              <a:cs typeface="+mj-cs"/>
            </a:endParaRP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xmlns="" id="{4C789902-3498-444F-888A-CD8E960A75D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187704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build="p">
        <p:tmplLst>
          <p:tmpl lvl="1">
            <p:tnLst>
              <p:par>
                <p:cTn presetID="10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9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0" grpId="0"/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A Logo start and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4D008F4-334F-453F-AFA1-C8D15F2524EA}"/>
              </a:ext>
            </a:extLst>
          </p:cNvPr>
          <p:cNvSpPr/>
          <p:nvPr userDrawn="1"/>
        </p:nvSpPr>
        <p:spPr>
          <a:xfrm>
            <a:off x="0" y="6697746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77B14931-B1C9-481D-A12E-67817E6ECD19}"/>
              </a:ext>
            </a:extLst>
          </p:cNvPr>
          <p:cNvSpPr/>
          <p:nvPr userDrawn="1"/>
        </p:nvSpPr>
        <p:spPr>
          <a:xfrm>
            <a:off x="0" y="0"/>
            <a:ext cx="12192000" cy="66977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B8C40B09-EF0A-40AA-B833-35019707AD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4190996" y="3017519"/>
            <a:ext cx="3810008" cy="822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42264780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BC1B16E8-8992-B39B-527E-7E2267D245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B94E762-59DB-4A56-B671-6707C2ACF63B}" type="datetimeFigureOut">
              <a:rPr lang="en-IN" smtClean="0"/>
              <a:pPr/>
              <a:t>14-03-2026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624BA001-1173-3B81-16E7-A1CABA0F4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E1E256B-6739-E4D3-25B2-A3D4670D3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30CE178-C5E0-487A-BEDA-02254E864867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E5C22FAF-F747-40D1-9697-6B119C1E0E5B}"/>
              </a:ext>
            </a:extLst>
          </p:cNvPr>
          <p:cNvSpPr/>
          <p:nvPr userDrawn="1"/>
        </p:nvSpPr>
        <p:spPr>
          <a:xfrm>
            <a:off x="-99391" y="-45719"/>
            <a:ext cx="12423913" cy="6903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562ADEEB-5BA3-4C4B-BD02-E7EDE90FF541}"/>
              </a:ext>
            </a:extLst>
          </p:cNvPr>
          <p:cNvSpPr/>
          <p:nvPr userDrawn="1"/>
        </p:nvSpPr>
        <p:spPr>
          <a:xfrm>
            <a:off x="0" y="6697746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16746F02-3F1E-4264-B2CD-33C59ED11B12}"/>
              </a:ext>
            </a:extLst>
          </p:cNvPr>
          <p:cNvSpPr/>
          <p:nvPr userDrawn="1"/>
        </p:nvSpPr>
        <p:spPr>
          <a:xfrm>
            <a:off x="1557130" y="1059022"/>
            <a:ext cx="6096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Video Title: Roboto, Bold, 44</a:t>
            </a:r>
          </a:p>
          <a:p>
            <a:r>
              <a:rPr lang="en-US" dirty="0"/>
              <a:t>Top Heading 1: Roboto, Bold, 36</a:t>
            </a:r>
          </a:p>
          <a:p>
            <a:r>
              <a:rPr lang="en-US" dirty="0"/>
              <a:t>Sub- Heading 2: Roboto, Bold, 20</a:t>
            </a:r>
          </a:p>
          <a:p>
            <a:r>
              <a:rPr lang="en-US" dirty="0"/>
              <a:t>Body Text: Roboto, 18</a:t>
            </a:r>
          </a:p>
        </p:txBody>
      </p:sp>
    </p:spTree>
    <p:extLst>
      <p:ext uri="{BB962C8B-B14F-4D97-AF65-F5344CB8AC3E}">
        <p14:creationId xmlns:p14="http://schemas.microsoft.com/office/powerpoint/2010/main" xmlns="" val="6247619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D89EBD0A-0020-4F1B-8C0B-2A6D21CB67FA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9780094" y="430902"/>
            <a:ext cx="2282687" cy="493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523562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63" r:id="rId2"/>
    <p:sldLayoutId id="2147483672" r:id="rId3"/>
    <p:sldLayoutId id="2147483680" r:id="rId4"/>
    <p:sldLayoutId id="2147483676" r:id="rId5"/>
    <p:sldLayoutId id="2147483677" r:id="rId6"/>
    <p:sldLayoutId id="2147483661" r:id="rId7"/>
    <p:sldLayoutId id="2147483678" r:id="rId8"/>
    <p:sldLayoutId id="2147483673" r:id="rId9"/>
    <p:sldLayoutId id="2147483674" r:id="rId10"/>
    <p:sldLayoutId id="2147483679" r:id="rId11"/>
    <p:sldLayoutId id="2147483675" r:id="rId12"/>
    <p:sldLayoutId id="2147483664" r:id="rId13"/>
    <p:sldLayoutId id="2147483671" r:id="rId14"/>
    <p:sldLayoutId id="2147483655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ckerrank.com/auth/login" TargetMode="External"/><Relationship Id="rId2" Type="http://schemas.openxmlformats.org/officeDocument/2006/relationships/hyperlink" Target="https://leetcode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datacamp.com/" TargetMode="External"/><Relationship Id="rId4" Type="http://schemas.openxmlformats.org/officeDocument/2006/relationships/hyperlink" Target="https://algocademy.com/blog/top-leetcode-alternatives-for-coding-practice/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chin365123/Applies-Data-Structure-and-Application-GLA-Online-Sessions-Jan---Jun-2026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52265" y="492257"/>
            <a:ext cx="808747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 smtClean="0">
                <a:latin typeface="Roboto"/>
              </a:rPr>
              <a:t>Applies Data Structure and Application</a:t>
            </a:r>
          </a:p>
          <a:p>
            <a:pPr algn="ctr"/>
            <a:endParaRPr lang="en-US" sz="3600" dirty="0" smtClean="0">
              <a:latin typeface="Roboto"/>
            </a:endParaRPr>
          </a:p>
          <a:p>
            <a:pPr algn="ctr"/>
            <a:r>
              <a:rPr lang="en-US" b="1" dirty="0" smtClean="0">
                <a:solidFill>
                  <a:srgbClr val="00B050"/>
                </a:solidFill>
              </a:rPr>
              <a:t>Dr </a:t>
            </a:r>
            <a:r>
              <a:rPr lang="en-US" b="1" dirty="0" err="1" smtClean="0">
                <a:solidFill>
                  <a:srgbClr val="00B050"/>
                </a:solidFill>
              </a:rPr>
              <a:t>Sachin</a:t>
            </a:r>
            <a:r>
              <a:rPr lang="en-US" b="1" dirty="0" smtClean="0">
                <a:solidFill>
                  <a:srgbClr val="00B050"/>
                </a:solidFill>
              </a:rPr>
              <a:t> K </a:t>
            </a:r>
            <a:r>
              <a:rPr lang="en-US" b="1" dirty="0" err="1" smtClean="0">
                <a:solidFill>
                  <a:srgbClr val="00B050"/>
                </a:solidFill>
              </a:rPr>
              <a:t>Saxena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err="1" smtClean="0"/>
              <a:t>Sr</a:t>
            </a:r>
            <a:r>
              <a:rPr lang="en-US" dirty="0" smtClean="0"/>
              <a:t> Data Analyst, Portugal, MNC</a:t>
            </a:r>
          </a:p>
          <a:p>
            <a:pPr algn="ctr"/>
            <a:r>
              <a:rPr lang="en-US" dirty="0" smtClean="0"/>
              <a:t>Ex-</a:t>
            </a:r>
            <a:r>
              <a:rPr lang="en-US" dirty="0" err="1" smtClean="0"/>
              <a:t>Sr</a:t>
            </a:r>
            <a:r>
              <a:rPr lang="en-US" dirty="0" smtClean="0"/>
              <a:t> Software Engineer - Data Scientist</a:t>
            </a:r>
          </a:p>
          <a:p>
            <a:pPr algn="ctr"/>
            <a:endParaRPr lang="en-US" sz="3600" dirty="0"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2808090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0316" y="2817845"/>
            <a:ext cx="5911368" cy="1042984"/>
          </a:xfrm>
        </p:spPr>
        <p:txBody>
          <a:bodyPr>
            <a:normAutofit fontScale="90000"/>
          </a:bodyPr>
          <a:lstStyle/>
          <a:p>
            <a:r>
              <a:rPr lang="en-US" dirty="0"/>
              <a:t/>
            </a:r>
            <a:br>
              <a:rPr lang="en-US" dirty="0"/>
            </a:br>
            <a:endParaRPr lang="en-IN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437757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8986177A-9A0A-F174-FF1B-DBD9E85D24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b="1" smtClean="0"/>
              <a:t>Application of Stack: </a:t>
            </a:r>
            <a:r>
              <a:rPr smtClean="0"/>
              <a:t>Conversion of Infix to Prefix Expressions</a:t>
            </a:r>
          </a:p>
          <a:p>
            <a:r>
              <a:rPr b="1" smtClean="0"/>
              <a:t>Application of Stack: </a:t>
            </a:r>
            <a:r>
              <a:rPr smtClean="0"/>
              <a:t>Conversion of Infix to Postfix Expressions</a:t>
            </a:r>
          </a:p>
          <a:p>
            <a:r>
              <a:rPr smtClean="0"/>
              <a:t>Evaluation of Postfix Expression using Stack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973648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Stack: Parentheses Match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95305" y="1421964"/>
            <a:ext cx="9507538" cy="3695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29736485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59166" y="1483981"/>
            <a:ext cx="9802812" cy="3209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2973648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8986177A-9A0A-F174-FF1B-DBD9E85D24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mtClean="0"/>
              <a:t>● A Stack is a linear data structure that only allows inserting, deleting and querying elements at one of its ends, which we call the top. </a:t>
            </a:r>
          </a:p>
          <a:p>
            <a:r>
              <a:rPr smtClean="0"/>
              <a:t>● LIFO type structure (Last In, First Out), in which the last element that enters is the first element that leaves.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02640" y="2783394"/>
            <a:ext cx="6941554" cy="28418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29736485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Alternatives for Coding Practice and Interview Prep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8986177A-9A0A-F174-FF1B-DBD9E85D24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mtClean="0"/>
              <a:t>● Leetcode: </a:t>
            </a:r>
            <a:r>
              <a:rPr smtClean="0">
                <a:hlinkClick r:id="rId2"/>
              </a:rPr>
              <a:t>LeetCode - The World's Leading Online Programming Learning Platform</a:t>
            </a:r>
            <a:endParaRPr smtClean="0"/>
          </a:p>
          <a:p>
            <a:r>
              <a:rPr smtClean="0"/>
              <a:t>● Hackerrank: </a:t>
            </a:r>
            <a:r>
              <a:rPr smtClean="0">
                <a:hlinkClick r:id="rId3"/>
              </a:rPr>
              <a:t>HackerRank</a:t>
            </a:r>
            <a:endParaRPr smtClean="0"/>
          </a:p>
          <a:p>
            <a:r>
              <a:rPr smtClean="0"/>
              <a:t>● Agoacademy: </a:t>
            </a:r>
            <a:r>
              <a:rPr smtClean="0">
                <a:hlinkClick r:id="rId4"/>
              </a:rPr>
              <a:t>https://algocademy.com/blog/top-leetcode-alternatives-for-coding-practice/</a:t>
            </a:r>
            <a:endParaRPr smtClean="0"/>
          </a:p>
          <a:p>
            <a:r>
              <a:rPr smtClean="0"/>
              <a:t>● Datacamp: </a:t>
            </a:r>
            <a:r>
              <a:rPr smtClean="0">
                <a:hlinkClick r:id="rId5"/>
              </a:rPr>
              <a:t>Learn Data Science and AI Online | DataCamp</a:t>
            </a:r>
            <a:endParaRPr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973648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Prefix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E3109802-316C-721A-8025-47A0C1B111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lang="nn-NO" dirty="0" smtClean="0"/>
              <a:t>Infix: Operand Operator Operand  eg: a+b</a:t>
            </a:r>
          </a:p>
          <a:p>
            <a:pPr marL="342900" indent="-342900">
              <a:buFont typeface="Wingdings" panose="05000000000000000000" pitchFamily="2" charset="2"/>
              <a:buAutoNum type="arabicPeriod"/>
            </a:pPr>
            <a:r>
              <a:rPr lang="nn-NO" dirty="0" smtClean="0"/>
              <a:t>Infix: Operator  Operand Operand  eg: +ab</a:t>
            </a:r>
          </a:p>
          <a:p>
            <a:pPr marL="342900" indent="-342900">
              <a:buFont typeface="Wingdings" panose="05000000000000000000" pitchFamily="2" charset="2"/>
              <a:buAutoNum type="arabicPeriod"/>
            </a:pPr>
            <a:r>
              <a:rPr lang="nn-NO" dirty="0" smtClean="0"/>
              <a:t>Infix: Operand Operand Operator  eg: ab+</a:t>
            </a:r>
          </a:p>
          <a:p>
            <a:pPr marL="342900" indent="-342900">
              <a:buAutoNum type="arabicPeriod"/>
            </a:pPr>
            <a:endParaRPr lang="nn-NO" dirty="0"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6188705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Prefix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482" name="Picture 2" descr="Infix to Prefix Conversion - Helpmestudybro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22857" y="1361523"/>
            <a:ext cx="4133960" cy="4546910"/>
          </a:xfrm>
          <a:prstGeom prst="rect">
            <a:avLst/>
          </a:prstGeom>
          <a:noFill/>
        </p:spPr>
      </p:pic>
      <p:sp>
        <p:nvSpPr>
          <p:cNvPr id="7" name="Rectangle 6"/>
          <p:cNvSpPr/>
          <p:nvPr/>
        </p:nvSpPr>
        <p:spPr>
          <a:xfrm>
            <a:off x="512466" y="2411605"/>
            <a:ext cx="4139921" cy="34566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300" dirty="0"/>
          </a:p>
        </p:txBody>
      </p:sp>
    </p:spTree>
    <p:extLst>
      <p:ext uri="{BB962C8B-B14F-4D97-AF65-F5344CB8AC3E}">
        <p14:creationId xmlns:p14="http://schemas.microsoft.com/office/powerpoint/2010/main" xmlns="" val="26188705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Prefix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482" name="Picture 2" descr="Infix to Prefix Conversion - Helpmestudybro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22857" y="1361523"/>
            <a:ext cx="4133960" cy="454691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26188705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smtClean="0"/>
              <a:t>Infix: Operand Operator Operand  eg: a+b</a:t>
            </a:r>
          </a:p>
          <a:p>
            <a:pPr marL="342900" indent="-342900">
              <a:buFont typeface="Wingdings" panose="05000000000000000000" pitchFamily="2" charset="2"/>
              <a:buAutoNum type="arabicPeriod"/>
            </a:pPr>
            <a:r>
              <a:rPr smtClean="0"/>
              <a:t>Infix: Operator  Operand Operand  eg: +ab</a:t>
            </a:r>
          </a:p>
          <a:p>
            <a:pPr marL="342900" indent="-342900">
              <a:buFont typeface="Wingdings" panose="05000000000000000000" pitchFamily="2" charset="2"/>
              <a:buAutoNum type="arabicPeriod"/>
            </a:pPr>
            <a:r>
              <a:rPr smtClean="0"/>
              <a:t>Infix: Operand Operand Operator  eg: ab+</a:t>
            </a:r>
          </a:p>
          <a:p>
            <a:pPr marL="342900" indent="-342900">
              <a:buAutoNum type="arabicPeriod"/>
            </a:pP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mtClean="0"/>
              <a:t>Let's solve : 8 + 3 * (9 - 6) / 2 pow 2</a:t>
            </a:r>
            <a:r>
              <a:rPr sz="900" smtClean="0"/>
              <a:t> </a:t>
            </a:r>
            <a:r>
              <a:rPr smtClean="0"/>
              <a:t>+ 6 / 2</a:t>
            </a:r>
          </a:p>
          <a:p>
            <a:r>
              <a:rPr smtClean="0"/>
              <a:t>Answer: 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mtClean="0"/>
              <a:t>Let's solve : 8 + 3 * (9 - 6) / 2 pow 2</a:t>
            </a:r>
            <a:r>
              <a:rPr sz="900" smtClean="0"/>
              <a:t> </a:t>
            </a:r>
            <a:r>
              <a:rPr smtClean="0"/>
              <a:t>+ 6 / 2</a:t>
            </a:r>
          </a:p>
          <a:p>
            <a:r>
              <a:rPr smtClean="0"/>
              <a:t>Answer: 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 descr="https://i.ytimg.com/vi/i2i8YkFyLVs/sddefault.jpg"/>
          <p:cNvPicPr>
            <a:picLocks noChangeAspect="1" noChangeArrowheads="1"/>
          </p:cNvPicPr>
          <p:nvPr/>
        </p:nvPicPr>
        <p:blipFill>
          <a:blip r:embed="rId2"/>
          <a:srcRect t="12599" b="24963"/>
          <a:stretch>
            <a:fillRect/>
          </a:stretch>
        </p:blipFill>
        <p:spPr bwMode="auto">
          <a:xfrm>
            <a:off x="4819512" y="2532185"/>
            <a:ext cx="5128356" cy="240155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mtClean="0"/>
              <a:t>Let's solve : </a:t>
            </a:r>
            <a:r>
              <a:rPr smtClean="0"/>
              <a:t>2 ^ 3 ^ 2</a:t>
            </a:r>
            <a:endParaRPr smtClean="0"/>
          </a:p>
          <a:p>
            <a:r>
              <a:rPr smtClean="0"/>
              <a:t>Answer: </a:t>
            </a:r>
            <a:r>
              <a:rPr smtClean="0"/>
              <a:t> 64 or 512</a:t>
            </a:r>
          </a:p>
          <a:p>
            <a:r>
              <a:rPr smtClean="0"/>
              <a:t>(correct answer : 512)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2" descr="https://i.ytimg.com/vi/i2i8YkFyLVs/sddefault.jpg"/>
          <p:cNvPicPr>
            <a:picLocks noChangeAspect="1" noChangeArrowheads="1"/>
          </p:cNvPicPr>
          <p:nvPr/>
        </p:nvPicPr>
        <p:blipFill>
          <a:blip r:embed="rId2"/>
          <a:srcRect t="12599" b="24963"/>
          <a:stretch>
            <a:fillRect/>
          </a:stretch>
        </p:blipFill>
        <p:spPr bwMode="auto">
          <a:xfrm>
            <a:off x="4819512" y="2532185"/>
            <a:ext cx="5128356" cy="240155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Expressions: Method 1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4338" name="Picture 2" descr="Infix to Postfix Conversion in C [Program and Algorithm]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83667" y="1416819"/>
            <a:ext cx="5578434" cy="4459480"/>
          </a:xfrm>
          <a:prstGeom prst="rect">
            <a:avLst/>
          </a:prstGeom>
          <a:noFill/>
        </p:spPr>
      </p:pic>
      <p:sp>
        <p:nvSpPr>
          <p:cNvPr id="7" name="Rectangle 6"/>
          <p:cNvSpPr/>
          <p:nvPr/>
        </p:nvSpPr>
        <p:spPr>
          <a:xfrm>
            <a:off x="391886" y="2180489"/>
            <a:ext cx="5486400" cy="36877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300" dirty="0"/>
          </a:p>
        </p:txBody>
      </p:sp>
      <p:sp>
        <p:nvSpPr>
          <p:cNvPr id="8" name="Rectangle 7"/>
          <p:cNvSpPr/>
          <p:nvPr/>
        </p:nvSpPr>
        <p:spPr>
          <a:xfrm>
            <a:off x="3217148" y="1406769"/>
            <a:ext cx="2831960" cy="44614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300" dirty="0"/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Expressions: Method 1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4338" name="Picture 2" descr="Infix to Postfix Conversion in C [Program and Algorithm]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83667" y="1416819"/>
            <a:ext cx="5578434" cy="445948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 : Method 2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3314" name="Picture 2" descr="Convert an infix expression into a postfix expression | Techie Delight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86284" y="1396721"/>
            <a:ext cx="3756798" cy="4456338"/>
          </a:xfrm>
          <a:prstGeom prst="rect">
            <a:avLst/>
          </a:prstGeom>
          <a:noFill/>
        </p:spPr>
      </p:pic>
      <p:sp>
        <p:nvSpPr>
          <p:cNvPr id="7" name="Rectangle 6"/>
          <p:cNvSpPr/>
          <p:nvPr/>
        </p:nvSpPr>
        <p:spPr>
          <a:xfrm>
            <a:off x="391886" y="1718268"/>
            <a:ext cx="3758084" cy="40695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300" dirty="0">
              <a:solidFill>
                <a:srgbClr val="FF0000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05754" y="1709888"/>
            <a:ext cx="3758084" cy="40695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300" dirty="0" smtClean="0">
                <a:solidFill>
                  <a:srgbClr val="FF0000"/>
                </a:solidFill>
              </a:rPr>
              <a:t>A*(B*C+D*E)+F</a:t>
            </a:r>
            <a:endParaRPr lang="en-US" sz="33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 : Method 2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3314" name="Picture 2" descr="Convert an infix expression into a postfix expression | Techie Delight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86284" y="1396721"/>
            <a:ext cx="3756798" cy="4456338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5005754" y="1709888"/>
            <a:ext cx="3758084" cy="40695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300" dirty="0" smtClean="0">
                <a:solidFill>
                  <a:srgbClr val="FF0000"/>
                </a:solidFill>
              </a:rPr>
              <a:t>A*(B*C+D*E)+F</a:t>
            </a:r>
            <a:endParaRPr lang="en-US" sz="33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b="1" smtClean="0"/>
              <a:t>The following postfix expression with single digit operands in evaluated using a stack</a:t>
            </a:r>
            <a:endParaRPr smtClean="0"/>
          </a:p>
          <a:p>
            <a:r>
              <a:rPr smtClean="0"/>
              <a:t>8 2 3 ^ / 2 3* + 5 1*-</a:t>
            </a:r>
          </a:p>
          <a:p>
            <a:r>
              <a:rPr smtClean="0"/>
              <a:t>Note that ^ is the exponentiation operator. The top two elements of the stack after the first * is evaluated are</a:t>
            </a:r>
          </a:p>
          <a:p>
            <a:endParaRPr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b="1" smtClean="0"/>
              <a:t>The following postfix expression with single digit operands in evaluated using a stack</a:t>
            </a:r>
            <a:endParaRPr smtClean="0"/>
          </a:p>
          <a:p>
            <a:r>
              <a:rPr smtClean="0"/>
              <a:t>9 + 3 </a:t>
            </a:r>
            <a:r>
              <a:rPr lang="en-US" dirty="0" smtClean="0"/>
              <a:t>–</a:t>
            </a:r>
            <a:r>
              <a:rPr smtClean="0"/>
              <a:t> 2 * 2 % 3 + 1</a:t>
            </a:r>
          </a:p>
          <a:p>
            <a:r>
              <a:rPr smtClean="0"/>
              <a:t>Note that ^ is the exponentiation operator. The top two elements of the stack after the first * is evaluated are</a:t>
            </a:r>
          </a:p>
          <a:p>
            <a:endParaRPr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b="1" smtClean="0"/>
              <a:t>The following postfix expression with single digit operands in evaluated using a stack</a:t>
            </a:r>
            <a:endParaRPr smtClean="0"/>
          </a:p>
          <a:p>
            <a:r>
              <a:rPr smtClean="0"/>
              <a:t>8 2 3 ^ / 2 3* + 5 1*-</a:t>
            </a:r>
          </a:p>
          <a:p>
            <a:r>
              <a:rPr smtClean="0"/>
              <a:t>Note that ^ is the exponentiation operator. The top two elements of the stack after the first * is evaluated are</a:t>
            </a:r>
          </a:p>
          <a:p>
            <a:endParaRPr smtClean="0"/>
          </a:p>
          <a:p>
            <a:r>
              <a:rPr b="1" smtClean="0">
                <a:solidFill>
                  <a:srgbClr val="FF0000"/>
                </a:solidFill>
              </a:rPr>
              <a:t>Answer: 6, 1</a:t>
            </a:r>
          </a:p>
          <a:p>
            <a:endParaRPr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b="1" smtClean="0"/>
              <a:t>The following postfix expression with single digit operands in evaluated using a stack</a:t>
            </a:r>
            <a:endParaRPr smtClean="0"/>
          </a:p>
          <a:p>
            <a:r>
              <a:rPr smtClean="0"/>
              <a:t>9 + 3 </a:t>
            </a:r>
            <a:r>
              <a:rPr lang="en-US" dirty="0" smtClean="0"/>
              <a:t>–</a:t>
            </a:r>
            <a:r>
              <a:rPr smtClean="0"/>
              <a:t> 2 * 2 % 3 + 1</a:t>
            </a:r>
          </a:p>
          <a:p>
            <a:r>
              <a:rPr smtClean="0"/>
              <a:t>Note that ^ is the exponentiation operator. The top two elements of the stack after the first * is evaluated are</a:t>
            </a:r>
          </a:p>
          <a:p>
            <a:endParaRPr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 of Stack: Conversion of Infix to Postfix Expressions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D1A8D59-4F24-8CD1-414B-EA007474F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b="1" smtClean="0"/>
              <a:t>The following postfix expression with single digit operands in evaluated using a stack</a:t>
            </a:r>
            <a:endParaRPr smtClean="0"/>
          </a:p>
          <a:p>
            <a:r>
              <a:rPr smtClean="0"/>
              <a:t>9 + 3 </a:t>
            </a:r>
            <a:r>
              <a:rPr lang="en-US" dirty="0" smtClean="0"/>
              <a:t>–</a:t>
            </a:r>
            <a:r>
              <a:rPr smtClean="0"/>
              <a:t> 2 * 2 % 3 + 1</a:t>
            </a:r>
          </a:p>
          <a:p>
            <a:r>
              <a:rPr smtClean="0"/>
              <a:t>Note that ^ is the exponentiation operator. The top two elements of the stack after the first * is evaluated are</a:t>
            </a:r>
          </a:p>
          <a:p>
            <a:endParaRPr smtClean="0"/>
          </a:p>
          <a:p>
            <a:r>
              <a:rPr b="1" smtClean="0">
                <a:solidFill>
                  <a:srgbClr val="FF0000"/>
                </a:solidFill>
              </a:rPr>
              <a:t>Answer: 12</a:t>
            </a:r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5573906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Thanking you !!!!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197C0724-35FE-DFD8-FDEA-773DEA7A68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mtClean="0"/>
              <a:t>Any question !!!!!</a:t>
            </a:r>
          </a:p>
          <a:p>
            <a:endParaRPr smtClean="0"/>
          </a:p>
          <a:p>
            <a:r>
              <a:rPr smtClean="0"/>
              <a:t>Download PPT : </a:t>
            </a:r>
            <a:r>
              <a:rPr smtClean="0">
                <a:hlinkClick r:id="rId2"/>
              </a:rPr>
              <a:t>https://github.com/sachin365123/Applies-Data-Structure-and-Application-GLA-Online-Sessions-Jan---Jun-2026</a:t>
            </a:r>
            <a:endParaRPr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xmlns="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4920042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2919612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788</TotalTime>
  <Words>688</Words>
  <Application>Microsoft Office PowerPoint</Application>
  <PresentationFormat>Custom</PresentationFormat>
  <Paragraphs>73</Paragraphs>
  <Slides>25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6" baseType="lpstr">
      <vt:lpstr>Office Theme</vt:lpstr>
      <vt:lpstr>Slide 1</vt:lpstr>
      <vt:lpstr> </vt:lpstr>
      <vt:lpstr>Content</vt:lpstr>
      <vt:lpstr>Stack: Parentheses Match</vt:lpstr>
      <vt:lpstr>Stack</vt:lpstr>
      <vt:lpstr>Stack</vt:lpstr>
      <vt:lpstr>Alternatives for Coding Practice and Interview Prep</vt:lpstr>
      <vt:lpstr>Application of Stack: Conversion of Infix to Prefix Expressions</vt:lpstr>
      <vt:lpstr>Application of Stack: Conversion of Infix to Prefix Expressions</vt:lpstr>
      <vt:lpstr>Application of Stack: Conversion of Infix to Prefix Expressions</vt:lpstr>
      <vt:lpstr>Application of Stack: Conversion of Infix to Postfix Expressions</vt:lpstr>
      <vt:lpstr>Application of Stack: Conversion of Infix to Postfix Expressions</vt:lpstr>
      <vt:lpstr>Application of Stack: Conversion of Infix to Postfix Expressions</vt:lpstr>
      <vt:lpstr>Application of Stack: Conversion of Infix to Postfix Expressions</vt:lpstr>
      <vt:lpstr>Application of Stack: Conversion of Infix to Postfix Expressions: Method 1</vt:lpstr>
      <vt:lpstr>Application of Stack: Conversion of Infix to Postfix Expressions: Method 1</vt:lpstr>
      <vt:lpstr>Application of Stack: Conversion of Infix to Postfix Expressions : Method 2</vt:lpstr>
      <vt:lpstr>Application of Stack: Conversion of Infix to Postfix Expressions : Method 2</vt:lpstr>
      <vt:lpstr>Application of Stack: Conversion of Infix to Postfix Expressions</vt:lpstr>
      <vt:lpstr>Application of Stack: Conversion of Infix to Postfix Expressions</vt:lpstr>
      <vt:lpstr>Application of Stack: Conversion of Infix to Postfix Expressions</vt:lpstr>
      <vt:lpstr>Application of Stack: Conversion of Infix to Postfix Expressions</vt:lpstr>
      <vt:lpstr>Application of Stack: Conversion of Infix to Postfix Expressions</vt:lpstr>
      <vt:lpstr>Thanking you !!!!</vt:lpstr>
      <vt:lpstr>Slide 25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hp</cp:lastModifiedBy>
  <cp:revision>74</cp:revision>
  <dcterms:created xsi:type="dcterms:W3CDTF">2024-10-06T15:26:34Z</dcterms:created>
  <dcterms:modified xsi:type="dcterms:W3CDTF">2026-03-14T17:02:07Z</dcterms:modified>
</cp:coreProperties>
</file>