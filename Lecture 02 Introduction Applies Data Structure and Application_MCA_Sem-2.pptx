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5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92" r:id="rId7"/>
    <p:sldId id="293" r:id="rId8"/>
    <p:sldId id="263" r:id="rId9"/>
    <p:sldId id="291" r:id="rId10"/>
    <p:sldId id="265" r:id="rId11"/>
    <p:sldId id="296" r:id="rId12"/>
    <p:sldId id="264" r:id="rId13"/>
    <p:sldId id="298" r:id="rId14"/>
    <p:sldId id="299" r:id="rId15"/>
    <p:sldId id="276" r:id="rId16"/>
    <p:sldId id="278" r:id="rId17"/>
    <p:sldId id="280" r:id="rId18"/>
    <p:sldId id="281" r:id="rId19"/>
    <p:sldId id="294" r:id="rId20"/>
    <p:sldId id="290" r:id="rId21"/>
    <p:sldId id="295" r:id="rId22"/>
    <p:sldId id="282" r:id="rId23"/>
    <p:sldId id="284" r:id="rId24"/>
    <p:sldId id="283" r:id="rId25"/>
    <p:sldId id="285" r:id="rId26"/>
    <p:sldId id="286" r:id="rId27"/>
    <p:sldId id="287" r:id="rId28"/>
    <p:sldId id="288" r:id="rId29"/>
    <p:sldId id="289" r:id="rId30"/>
    <p:sldId id="300" r:id="rId31"/>
    <p:sldId id="257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00B05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891" autoAdjust="0"/>
    <p:restoredTop sz="94660"/>
  </p:normalViewPr>
  <p:slideViewPr>
    <p:cSldViewPr snapToGrid="0">
      <p:cViewPr>
        <p:scale>
          <a:sx n="75" d="100"/>
          <a:sy n="75" d="100"/>
        </p:scale>
        <p:origin x="-509" y="-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60860F-C340-F964-8711-B70D18F2D6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0316" y="2997171"/>
            <a:ext cx="5911368" cy="863658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44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b="1" dirty="0">
                <a:solidFill>
                  <a:srgbClr val="00B050"/>
                </a:solidFill>
              </a:rPr>
              <a:t>Video Title</a:t>
            </a:r>
            <a:endParaRPr lang="en-IN" dirty="0"/>
          </a:p>
        </p:txBody>
      </p:sp>
      <p:sp>
        <p:nvSpPr>
          <p:cNvPr id="4" name="Picture Placeholder 22">
            <a:extLst>
              <a:ext uri="{FF2B5EF4-FFF2-40B4-BE49-F238E27FC236}">
                <a16:creationId xmlns:a16="http://schemas.microsoft.com/office/drawing/2014/main" xmlns="" id="{F41921D5-B2A7-423B-B9D7-CEB7266C8AC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1EEF7B5-2005-487C-A335-E2554B8F2C0F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2610388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094209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3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917112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xmlns="" id="{9E4CB4B1-306A-4384-AC34-AB499A6C72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1718085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xmlns="" id="{47040CAB-B54D-4828-9A04-3A7C3AC3ED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107653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16108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2925419" y="1308691"/>
            <a:ext cx="6341163" cy="48568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35896" y="2438947"/>
            <a:ext cx="4432852" cy="1993905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4044912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5200272" y="1757411"/>
            <a:ext cx="4642371" cy="35556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57735" y="2353091"/>
            <a:ext cx="2927443" cy="2322098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xmlns="" id="{6B93A7B1-FE5F-4D38-90BD-226BB1FA14D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88997" y="1579545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xmlns="" id="{953D03DA-6A09-453B-8E92-DDE6238E616E}"/>
              </a:ext>
            </a:extLst>
          </p:cNvPr>
          <p:cNvGrpSpPr/>
          <p:nvPr userDrawn="1"/>
        </p:nvGrpSpPr>
        <p:grpSpPr>
          <a:xfrm rot="10800000">
            <a:off x="831850" y="4257656"/>
            <a:ext cx="1289304" cy="1289304"/>
            <a:chOff x="9611350" y="1273785"/>
            <a:chExt cx="1289304" cy="128930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xmlns="" id="{787947E2-03B1-49D1-8F29-87DF3EFE5CE2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xmlns="" id="{538E91B5-064A-42BF-8C2B-298B665E358A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xmlns="" id="{B255699C-CFB9-49D1-9C35-50A5F279595C}"/>
              </a:ext>
            </a:extLst>
          </p:cNvPr>
          <p:cNvGrpSpPr/>
          <p:nvPr userDrawn="1"/>
        </p:nvGrpSpPr>
        <p:grpSpPr>
          <a:xfrm>
            <a:off x="3372568" y="1527159"/>
            <a:ext cx="1289304" cy="1289304"/>
            <a:chOff x="9611350" y="1273785"/>
            <a:chExt cx="1289304" cy="12893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xmlns="" id="{C9B84DFC-6D56-44C0-897B-40A729BF74DC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E49F67E5-6A93-438F-84F1-2E440D2ECFBF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xmlns="" val="2193147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xmlns="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647537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xmlns="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xmlns="" id="{13B55745-1481-41BE-9233-B21F4F00BA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730820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153147" y="1640436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2DD83F17-A635-4F57-9358-97F743C3216F}"/>
              </a:ext>
            </a:extLst>
          </p:cNvPr>
          <p:cNvGrpSpPr/>
          <p:nvPr userDrawn="1"/>
        </p:nvGrpSpPr>
        <p:grpSpPr>
          <a:xfrm rot="10800000">
            <a:off x="6096000" y="4318547"/>
            <a:ext cx="1289304" cy="1289304"/>
            <a:chOff x="9611350" y="1273785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xmlns="" id="{E4E50DDF-0C10-4989-911A-32DB07DC9F52}"/>
              </a:ext>
            </a:extLst>
          </p:cNvPr>
          <p:cNvGrpSpPr/>
          <p:nvPr userDrawn="1"/>
        </p:nvGrpSpPr>
        <p:grpSpPr>
          <a:xfrm>
            <a:off x="8636718" y="1588050"/>
            <a:ext cx="1289304" cy="1289304"/>
            <a:chOff x="9611350" y="1273785"/>
            <a:chExt cx="1289304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949435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3649648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xmlns="" id="{6DCD2EC6-4AE2-4605-9670-EE79E1A4BD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xmlns="" id="{54CB8A54-9CBD-40B9-88A7-3B0B2FB6BA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182242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22079442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93955"/>
            <a:ext cx="9137444" cy="4190687"/>
          </a:xfrm>
          <a:prstGeom prst="rect">
            <a:avLst/>
          </a:prstGeom>
        </p:spPr>
        <p:txBody>
          <a:bodyPr>
            <a:normAutofit/>
          </a:bodyPr>
          <a:lstStyle>
            <a:lvl1pPr marL="285750" marR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xmlns="" id="{0519280C-517B-4F4A-AD31-E885447E1D7D}"/>
              </a:ext>
            </a:extLst>
          </p:cNvPr>
          <p:cNvSpPr/>
          <p:nvPr userDrawn="1"/>
        </p:nvSpPr>
        <p:spPr>
          <a:xfrm>
            <a:off x="358917" y="416162"/>
            <a:ext cx="2183611" cy="5909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en-US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Summary</a:t>
            </a:r>
            <a:endParaRPr lang="en-IN" sz="3600" b="1" kern="1200" dirty="0">
              <a:solidFill>
                <a:srgbClr val="00B050"/>
              </a:solidFill>
              <a:latin typeface="Roboto" panose="02000000000000000000" pitchFamily="2" charset="0"/>
              <a:ea typeface="Roboto" panose="02000000000000000000" pitchFamily="2" charset="0"/>
              <a:cs typeface="+mj-cs"/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4C789902-3498-444F-888A-CD8E960A75D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87704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>
        <p:tmplLst>
          <p:tmpl lvl="1"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0" grpId="0"/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A Logo start and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77B14931-B1C9-481D-A12E-67817E6ECD19}"/>
              </a:ext>
            </a:extLst>
          </p:cNvPr>
          <p:cNvSpPr/>
          <p:nvPr userDrawn="1"/>
        </p:nvSpPr>
        <p:spPr>
          <a:xfrm>
            <a:off x="0" y="0"/>
            <a:ext cx="12192000" cy="6697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B8C40B09-EF0A-40AA-B833-35019707AD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4190996" y="3017519"/>
            <a:ext cx="3810008" cy="822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422647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BC1B16E8-8992-B39B-527E-7E2267D245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94E762-59DB-4A56-B671-6707C2ACF63B}" type="datetimeFigureOut">
              <a:rPr lang="en-IN" smtClean="0"/>
              <a:pPr/>
              <a:t>14-03-2026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624BA001-1173-3B81-16E7-A1CABA0F4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E1E256B-6739-E4D3-25B2-A3D4670D3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30CE178-C5E0-487A-BEDA-02254E864867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E5C22FAF-F747-40D1-9697-6B119C1E0E5B}"/>
              </a:ext>
            </a:extLst>
          </p:cNvPr>
          <p:cNvSpPr/>
          <p:nvPr userDrawn="1"/>
        </p:nvSpPr>
        <p:spPr>
          <a:xfrm>
            <a:off x="-99391" y="-45719"/>
            <a:ext cx="12423913" cy="6903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62ADEEB-5BA3-4C4B-BD02-E7EDE90FF541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16746F02-3F1E-4264-B2CD-33C59ED11B12}"/>
              </a:ext>
            </a:extLst>
          </p:cNvPr>
          <p:cNvSpPr/>
          <p:nvPr userDrawn="1"/>
        </p:nvSpPr>
        <p:spPr>
          <a:xfrm>
            <a:off x="1557130" y="1059022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Video Title: Roboto, Bold, 44</a:t>
            </a:r>
          </a:p>
          <a:p>
            <a:r>
              <a:rPr lang="en-US" dirty="0"/>
              <a:t>Top Heading 1: Roboto, Bold, 36</a:t>
            </a:r>
          </a:p>
          <a:p>
            <a:r>
              <a:rPr lang="en-US" dirty="0"/>
              <a:t>Sub- Heading 2: Roboto, Bold, 20</a:t>
            </a:r>
          </a:p>
          <a:p>
            <a:r>
              <a:rPr lang="en-US" dirty="0"/>
              <a:t>Body Text: Roboto, 18</a:t>
            </a:r>
          </a:p>
        </p:txBody>
      </p:sp>
    </p:spTree>
    <p:extLst>
      <p:ext uri="{BB962C8B-B14F-4D97-AF65-F5344CB8AC3E}">
        <p14:creationId xmlns:p14="http://schemas.microsoft.com/office/powerpoint/2010/main" xmlns="" val="624761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D89EBD0A-0020-4F1B-8C0B-2A6D21CB67FA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9780094" y="430902"/>
            <a:ext cx="2282687" cy="493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52356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3" r:id="rId2"/>
    <p:sldLayoutId id="2147483672" r:id="rId3"/>
    <p:sldLayoutId id="2147483680" r:id="rId4"/>
    <p:sldLayoutId id="2147483676" r:id="rId5"/>
    <p:sldLayoutId id="2147483677" r:id="rId6"/>
    <p:sldLayoutId id="2147483661" r:id="rId7"/>
    <p:sldLayoutId id="2147483678" r:id="rId8"/>
    <p:sldLayoutId id="2147483673" r:id="rId9"/>
    <p:sldLayoutId id="2147483674" r:id="rId10"/>
    <p:sldLayoutId id="2147483679" r:id="rId11"/>
    <p:sldLayoutId id="2147483675" r:id="rId12"/>
    <p:sldLayoutId id="2147483664" r:id="rId13"/>
    <p:sldLayoutId id="2147483671" r:id="rId14"/>
    <p:sldLayoutId id="2147483655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chin365123/Applies-Data-Structure-and-Application-GLA-Online-Sessions-Jan---Jun-2026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52265" y="492257"/>
            <a:ext cx="808747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 smtClean="0">
                <a:latin typeface="Roboto"/>
              </a:rPr>
              <a:t>Applies Data Structure and Application</a:t>
            </a:r>
          </a:p>
          <a:p>
            <a:pPr algn="ctr"/>
            <a:endParaRPr lang="en-US" sz="3600" dirty="0" smtClean="0">
              <a:latin typeface="Roboto"/>
            </a:endParaRPr>
          </a:p>
          <a:p>
            <a:pPr algn="ctr"/>
            <a:r>
              <a:rPr lang="en-US" b="1" dirty="0" smtClean="0">
                <a:solidFill>
                  <a:srgbClr val="00B050"/>
                </a:solidFill>
              </a:rPr>
              <a:t>Dr </a:t>
            </a:r>
            <a:r>
              <a:rPr lang="en-US" b="1" dirty="0" err="1" smtClean="0">
                <a:solidFill>
                  <a:srgbClr val="00B050"/>
                </a:solidFill>
              </a:rPr>
              <a:t>Sachin</a:t>
            </a:r>
            <a:r>
              <a:rPr lang="en-US" b="1" dirty="0" smtClean="0">
                <a:solidFill>
                  <a:srgbClr val="00B050"/>
                </a:solidFill>
              </a:rPr>
              <a:t> K </a:t>
            </a:r>
            <a:r>
              <a:rPr lang="en-US" b="1" dirty="0" err="1" smtClean="0">
                <a:solidFill>
                  <a:srgbClr val="00B050"/>
                </a:solidFill>
              </a:rPr>
              <a:t>Saxena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err="1" smtClean="0"/>
              <a:t>Sr</a:t>
            </a:r>
            <a:r>
              <a:rPr lang="en-US" dirty="0" smtClean="0"/>
              <a:t> Data Analyst, Portugal, MNC</a:t>
            </a:r>
          </a:p>
          <a:p>
            <a:pPr algn="ctr"/>
            <a:r>
              <a:rPr lang="en-US" dirty="0" smtClean="0"/>
              <a:t>Ex-</a:t>
            </a:r>
            <a:r>
              <a:rPr lang="en-US" dirty="0" err="1" smtClean="0"/>
              <a:t>Sr</a:t>
            </a:r>
            <a:r>
              <a:rPr lang="en-US" dirty="0" smtClean="0"/>
              <a:t> Software Engineer - Data Scientist</a:t>
            </a:r>
          </a:p>
          <a:p>
            <a:pPr algn="ctr"/>
            <a:endParaRPr lang="en-US" sz="3600" dirty="0"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280809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0316" y="2817845"/>
            <a:ext cx="5911368" cy="1042984"/>
          </a:xfrm>
        </p:spPr>
        <p:txBody>
          <a:bodyPr>
            <a:normAutofit fontScale="90000"/>
          </a:bodyPr>
          <a:lstStyle/>
          <a:p>
            <a:r>
              <a:rPr lang="en-US" dirty="0"/>
              <a:t/>
            </a:r>
            <a:br>
              <a:rPr lang="en-US" dirty="0"/>
            </a:br>
            <a:endParaRPr lang="en-IN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37757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Font typeface="Arial" pitchFamily="34" charset="0"/>
              <a:buChar char="•"/>
            </a:pPr>
            <a:r>
              <a:rPr b="1" smtClean="0"/>
              <a:t> Array: </a:t>
            </a:r>
            <a:r>
              <a:rPr smtClean="0"/>
              <a:t>Representation of Single and Multidimensional Arrays</a:t>
            </a:r>
          </a:p>
          <a:p>
            <a:pPr>
              <a:buFont typeface="Arial" pitchFamily="34" charset="0"/>
              <a:buChar char="•"/>
            </a:pPr>
            <a:r>
              <a:rPr smtClean="0"/>
              <a:t> Address Calculation</a:t>
            </a:r>
          </a:p>
          <a:p>
            <a:pPr>
              <a:buFont typeface="Arial" pitchFamily="34" charset="0"/>
              <a:buChar char="•"/>
            </a:pPr>
            <a:r>
              <a:rPr smtClean="0"/>
              <a:t> Operations on Arrays</a:t>
            </a:r>
          </a:p>
          <a:p>
            <a:pPr>
              <a:buFont typeface="Arial" pitchFamily="34" charset="0"/>
              <a:buChar char="•"/>
            </a:pPr>
            <a:r>
              <a:rPr smtClean="0"/>
              <a:t> Application of Arrays: Matrix Multiplication</a:t>
            </a:r>
          </a:p>
          <a:p>
            <a:pPr>
              <a:buFont typeface="Arial" pitchFamily="34" charset="0"/>
              <a:buChar char="•"/>
            </a:pPr>
            <a:r>
              <a:rPr smtClean="0"/>
              <a:t> Application of Arrays: Character String Operation</a:t>
            </a:r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E3109802-316C-721A-8025-47A0C1B111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Font typeface="Arial" pitchFamily="34" charset="0"/>
              <a:buChar char="•"/>
            </a:pPr>
            <a:r>
              <a:rPr smtClean="0"/>
              <a:t> Array is a collection of similar data types grouped under one name</a:t>
            </a:r>
          </a:p>
          <a:p>
            <a:pPr>
              <a:buFont typeface="Arial" pitchFamily="34" charset="0"/>
              <a:buChar char="•"/>
            </a:pPr>
            <a:endParaRPr smtClean="0"/>
          </a:p>
          <a:p>
            <a:pPr>
              <a:buFont typeface="Arial" pitchFamily="34" charset="0"/>
              <a:buChar char="•"/>
            </a:pPr>
            <a:r>
              <a:rPr smtClean="0"/>
              <a:t> Its also called vector value</a:t>
            </a:r>
          </a:p>
          <a:p>
            <a:pPr>
              <a:buFont typeface="Arial" pitchFamily="34" charset="0"/>
              <a:buChar char="•"/>
            </a:pPr>
            <a:endParaRPr smtClean="0"/>
          </a:p>
          <a:p>
            <a:pPr>
              <a:buFont typeface="Arial" pitchFamily="34" charset="0"/>
              <a:buChar char="•"/>
            </a:pPr>
            <a:r>
              <a:rPr smtClean="0"/>
              <a:t> We can Access or differentiate all the elements in an array using index values</a:t>
            </a:r>
          </a:p>
          <a:p>
            <a:pPr>
              <a:buFont typeface="Arial" pitchFamily="34" charset="0"/>
              <a:buChar char="•"/>
            </a:pPr>
            <a:endParaRPr smtClean="0"/>
          </a:p>
          <a:p>
            <a:pPr>
              <a:buFont typeface="Arial" pitchFamily="34" charset="0"/>
              <a:buChar char="•"/>
            </a:pPr>
            <a:r>
              <a:rPr smtClean="0"/>
              <a:t> This concepts is supported by many programming languages</a:t>
            </a:r>
          </a:p>
          <a:p>
            <a:endParaRPr smtClean="0"/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4"/>
          <p:cNvSpPr txBox="1"/>
          <p:nvPr/>
        </p:nvSpPr>
        <p:spPr>
          <a:xfrm>
            <a:off x="1235945" y="1849339"/>
            <a:ext cx="2431701" cy="579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dirty="0" smtClean="0"/>
              <a:t>Example :  </a:t>
            </a:r>
          </a:p>
          <a:p>
            <a:pPr marL="12700">
              <a:spcBef>
                <a:spcPts val="100"/>
              </a:spcBef>
            </a:pPr>
            <a:r>
              <a:rPr sz="1800" smtClean="0">
                <a:latin typeface="Arial MT"/>
                <a:cs typeface="Arial MT"/>
              </a:rPr>
              <a:t>Int</a:t>
            </a:r>
            <a:r>
              <a:rPr sz="1800" spc="-15" smtClean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[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5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];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7" name="object 5"/>
          <p:cNvSpPr txBox="1"/>
          <p:nvPr/>
        </p:nvSpPr>
        <p:spPr>
          <a:xfrm>
            <a:off x="2557483" y="2150792"/>
            <a:ext cx="25317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95" dirty="0">
                <a:latin typeface="Arial MT"/>
                <a:cs typeface="Arial MT"/>
              </a:rPr>
              <a:t>//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Initialise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10" dirty="0">
                <a:latin typeface="Arial MT"/>
                <a:cs typeface="Arial MT"/>
              </a:rPr>
              <a:t> declaration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8" name="object 6"/>
          <p:cNvSpPr txBox="1"/>
          <p:nvPr/>
        </p:nvSpPr>
        <p:spPr>
          <a:xfrm>
            <a:off x="1270008" y="2709592"/>
            <a:ext cx="11283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A[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2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]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=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15;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9" name="object 7"/>
          <p:cNvSpPr txBox="1"/>
          <p:nvPr/>
        </p:nvSpPr>
        <p:spPr>
          <a:xfrm>
            <a:off x="2563426" y="2709592"/>
            <a:ext cx="9867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95" dirty="0">
                <a:latin typeface="Arial MT"/>
                <a:cs typeface="Arial MT"/>
              </a:rPr>
              <a:t>//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Access</a:t>
            </a:r>
            <a:endParaRPr sz="1800">
              <a:latin typeface="Arial MT"/>
              <a:cs typeface="Arial MT"/>
            </a:endParaRPr>
          </a:p>
        </p:txBody>
      </p:sp>
      <p:pic>
        <p:nvPicPr>
          <p:cNvPr id="10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62952" y="3354326"/>
            <a:ext cx="4208302" cy="1093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42611" y="1808941"/>
            <a:ext cx="8601389" cy="2957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99390" marR="5080" indent="-187325">
              <a:lnSpc>
                <a:spcPct val="101899"/>
              </a:lnSpc>
              <a:spcBef>
                <a:spcPts val="55"/>
              </a:spcBef>
              <a:buChar char="•"/>
              <a:tabLst>
                <a:tab pos="199390" algn="l"/>
              </a:tabLst>
            </a:pPr>
            <a:r>
              <a:rPr lang="en-US" spc="-125" dirty="0" smtClean="0">
                <a:latin typeface="Arial MT"/>
                <a:cs typeface="Arial MT"/>
              </a:rPr>
              <a:t>To</a:t>
            </a:r>
            <a:r>
              <a:rPr lang="en-US" dirty="0" smtClean="0">
                <a:latin typeface="Arial MT"/>
                <a:cs typeface="Arial MT"/>
              </a:rPr>
              <a:t> access</a:t>
            </a:r>
            <a:r>
              <a:rPr lang="en-US" spc="-10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all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elements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in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an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array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,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we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can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spc="-10" dirty="0" smtClean="0">
                <a:latin typeface="Arial MT"/>
                <a:cs typeface="Arial MT"/>
              </a:rPr>
              <a:t>traverse </a:t>
            </a:r>
            <a:r>
              <a:rPr lang="en-US" dirty="0" smtClean="0">
                <a:latin typeface="Arial MT"/>
                <a:cs typeface="Arial MT"/>
              </a:rPr>
              <a:t>through</a:t>
            </a:r>
            <a:r>
              <a:rPr lang="en-US" spc="60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it</a:t>
            </a:r>
            <a:r>
              <a:rPr lang="en-US" spc="6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for</a:t>
            </a:r>
            <a:r>
              <a:rPr lang="en-US" spc="65" dirty="0" smtClean="0">
                <a:latin typeface="Arial MT"/>
                <a:cs typeface="Arial MT"/>
              </a:rPr>
              <a:t> </a:t>
            </a:r>
            <a:r>
              <a:rPr lang="en-US" spc="-10" dirty="0" smtClean="0">
                <a:latin typeface="Arial MT"/>
                <a:cs typeface="Arial MT"/>
              </a:rPr>
              <a:t>example</a:t>
            </a:r>
            <a:endParaRPr lang="en-US" dirty="0" smtClean="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lang="en-US" dirty="0" smtClean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dirty="0" err="1" smtClean="0">
                <a:latin typeface="Arial MT"/>
                <a:cs typeface="Arial MT"/>
              </a:rPr>
              <a:t>int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A[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5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]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=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spc="-10" dirty="0" smtClean="0">
                <a:latin typeface="Arial MT"/>
                <a:cs typeface="Arial MT"/>
              </a:rPr>
              <a:t>{2,4,6,8};</a:t>
            </a:r>
            <a:endParaRPr lang="en-US" dirty="0" smtClean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65"/>
              </a:spcBef>
            </a:pPr>
            <a:endParaRPr lang="en-US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dirty="0" smtClean="0">
                <a:latin typeface="Arial MT"/>
                <a:cs typeface="Arial MT"/>
              </a:rPr>
              <a:t>for </a:t>
            </a:r>
            <a:r>
              <a:rPr lang="en-US" spc="-20" dirty="0" smtClean="0">
                <a:latin typeface="Arial MT"/>
                <a:cs typeface="Arial MT"/>
              </a:rPr>
              <a:t>(</a:t>
            </a:r>
            <a:r>
              <a:rPr lang="en-US" spc="-20" dirty="0" err="1" smtClean="0">
                <a:latin typeface="Arial MT"/>
                <a:cs typeface="Arial MT"/>
              </a:rPr>
              <a:t>i</a:t>
            </a:r>
            <a:r>
              <a:rPr lang="en-US" dirty="0" smtClean="0">
                <a:latin typeface="Arial MT"/>
                <a:cs typeface="Arial MT"/>
              </a:rPr>
              <a:t> = 0; </a:t>
            </a:r>
            <a:r>
              <a:rPr lang="en-US" dirty="0" err="1" smtClean="0">
                <a:latin typeface="Arial MT"/>
                <a:cs typeface="Arial MT"/>
              </a:rPr>
              <a:t>i</a:t>
            </a:r>
            <a:r>
              <a:rPr lang="en-US" dirty="0" smtClean="0">
                <a:latin typeface="Arial MT"/>
                <a:cs typeface="Arial MT"/>
              </a:rPr>
              <a:t> &lt; 5 ; </a:t>
            </a:r>
            <a:r>
              <a:rPr lang="en-US" spc="-20" dirty="0" err="1" smtClean="0">
                <a:latin typeface="Arial MT"/>
                <a:cs typeface="Arial MT"/>
              </a:rPr>
              <a:t>i</a:t>
            </a:r>
            <a:r>
              <a:rPr lang="en-US" spc="-20" dirty="0" smtClean="0">
                <a:latin typeface="Arial MT"/>
                <a:cs typeface="Arial MT"/>
              </a:rPr>
              <a:t>++)</a:t>
            </a:r>
            <a:endParaRPr lang="en-US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lang="en-US" spc="-50" dirty="0" smtClean="0">
                <a:latin typeface="Arial MT"/>
                <a:cs typeface="Arial MT"/>
              </a:rPr>
              <a:t>{</a:t>
            </a:r>
            <a:endParaRPr lang="en-US" dirty="0" smtClean="0">
              <a:latin typeface="Arial MT"/>
              <a:cs typeface="Arial MT"/>
            </a:endParaRPr>
          </a:p>
          <a:p>
            <a:pPr marL="469900">
              <a:lnSpc>
                <a:spcPct val="100000"/>
              </a:lnSpc>
              <a:spcBef>
                <a:spcPts val="40"/>
              </a:spcBef>
            </a:pPr>
            <a:r>
              <a:rPr lang="en-US" dirty="0" err="1" smtClean="0">
                <a:latin typeface="Arial MT"/>
                <a:cs typeface="Arial MT"/>
              </a:rPr>
              <a:t>printf</a:t>
            </a:r>
            <a:r>
              <a:rPr lang="en-US" dirty="0" smtClean="0">
                <a:latin typeface="Arial MT"/>
                <a:cs typeface="Arial MT"/>
              </a:rPr>
              <a:t>(</a:t>
            </a:r>
            <a:r>
              <a:rPr lang="en-US" spc="-20" dirty="0" smtClean="0">
                <a:latin typeface="Arial MT"/>
                <a:cs typeface="Arial MT"/>
              </a:rPr>
              <a:t> </a:t>
            </a:r>
            <a:r>
              <a:rPr lang="en-US" spc="110" dirty="0" smtClean="0">
                <a:latin typeface="Arial MT"/>
                <a:cs typeface="Arial MT"/>
              </a:rPr>
              <a:t>“%d”,</a:t>
            </a:r>
            <a:r>
              <a:rPr lang="en-US" spc="-20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A[</a:t>
            </a:r>
            <a:r>
              <a:rPr lang="en-US" spc="-20" dirty="0" smtClean="0">
                <a:latin typeface="Arial MT"/>
                <a:cs typeface="Arial MT"/>
              </a:rPr>
              <a:t> </a:t>
            </a:r>
            <a:r>
              <a:rPr lang="en-US" dirty="0" err="1" smtClean="0">
                <a:latin typeface="Arial MT"/>
                <a:cs typeface="Arial MT"/>
              </a:rPr>
              <a:t>i</a:t>
            </a:r>
            <a:r>
              <a:rPr lang="en-US" spc="-20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]</a:t>
            </a:r>
            <a:r>
              <a:rPr lang="en-US" spc="-20" dirty="0" smtClean="0">
                <a:latin typeface="Arial MT"/>
                <a:cs typeface="Arial MT"/>
              </a:rPr>
              <a:t> </a:t>
            </a:r>
            <a:r>
              <a:rPr lang="en-US" spc="-25" dirty="0" smtClean="0">
                <a:latin typeface="Arial MT"/>
                <a:cs typeface="Arial MT"/>
              </a:rPr>
              <a:t>);</a:t>
            </a:r>
            <a:endParaRPr lang="en-US" dirty="0" smtClean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65"/>
              </a:spcBef>
            </a:pPr>
            <a:endParaRPr lang="en-US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pc="-50" dirty="0" smtClean="0">
                <a:latin typeface="Arial MT"/>
                <a:cs typeface="Arial MT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2"/>
          <p:cNvSpPr txBox="1"/>
          <p:nvPr/>
        </p:nvSpPr>
        <p:spPr>
          <a:xfrm>
            <a:off x="576671" y="1573308"/>
            <a:ext cx="9954002" cy="289566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99390" marR="5080" indent="-187325">
              <a:lnSpc>
                <a:spcPct val="101899"/>
              </a:lnSpc>
              <a:spcBef>
                <a:spcPts val="55"/>
              </a:spcBef>
              <a:buChar char="•"/>
              <a:tabLst>
                <a:tab pos="199390" algn="l"/>
              </a:tabLst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elements inside the array can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 access through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subset</a:t>
            </a:r>
            <a:r>
              <a:rPr sz="1800" spc="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through</a:t>
            </a:r>
            <a:r>
              <a:rPr sz="1800" spc="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4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pointer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7" name="object 3"/>
          <p:cNvSpPr txBox="1"/>
          <p:nvPr/>
        </p:nvSpPr>
        <p:spPr>
          <a:xfrm>
            <a:off x="677155" y="2166440"/>
            <a:ext cx="2515870" cy="2255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int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A[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5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]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=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{2,4,6,8};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18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Arial MT"/>
                <a:cs typeface="Arial MT"/>
              </a:rPr>
              <a:t>for </a:t>
            </a:r>
            <a:r>
              <a:rPr sz="1800" spc="-20" dirty="0">
                <a:latin typeface="Arial MT"/>
                <a:cs typeface="Arial MT"/>
              </a:rPr>
              <a:t>(i</a:t>
            </a:r>
            <a:r>
              <a:rPr sz="1800" dirty="0">
                <a:latin typeface="Arial MT"/>
                <a:cs typeface="Arial MT"/>
              </a:rPr>
              <a:t> = 0; i &lt; 5 ; </a:t>
            </a:r>
            <a:r>
              <a:rPr sz="1800" spc="-20" dirty="0">
                <a:latin typeface="Arial MT"/>
                <a:cs typeface="Arial MT"/>
              </a:rPr>
              <a:t>i++)</a:t>
            </a:r>
            <a:endParaRPr sz="18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800" spc="-50" dirty="0">
                <a:latin typeface="Arial MT"/>
                <a:cs typeface="Arial MT"/>
              </a:rPr>
              <a:t>{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1800">
              <a:latin typeface="Arial MT"/>
              <a:cs typeface="Arial MT"/>
            </a:endParaRPr>
          </a:p>
          <a:p>
            <a:pPr marL="469900">
              <a:lnSpc>
                <a:spcPct val="100000"/>
              </a:lnSpc>
            </a:pPr>
            <a:r>
              <a:rPr sz="1800" dirty="0">
                <a:latin typeface="Arial MT"/>
                <a:cs typeface="Arial MT"/>
              </a:rPr>
              <a:t>printf(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110" dirty="0">
                <a:latin typeface="Arial MT"/>
                <a:cs typeface="Arial MT"/>
              </a:rPr>
              <a:t>“%d”,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A[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]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);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1800">
              <a:latin typeface="Arial MT"/>
              <a:cs typeface="Arial MT"/>
            </a:endParaRPr>
          </a:p>
          <a:p>
            <a:pPr marL="457200">
              <a:lnSpc>
                <a:spcPct val="100000"/>
              </a:lnSpc>
            </a:pPr>
            <a:r>
              <a:rPr sz="1800" dirty="0">
                <a:latin typeface="Arial MT"/>
                <a:cs typeface="Arial MT"/>
              </a:rPr>
              <a:t>printf(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110" dirty="0">
                <a:latin typeface="Arial MT"/>
                <a:cs typeface="Arial MT"/>
              </a:rPr>
              <a:t>“%d”,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A[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2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]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);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8" name="object 4"/>
          <p:cNvSpPr txBox="1"/>
          <p:nvPr/>
        </p:nvSpPr>
        <p:spPr>
          <a:xfrm>
            <a:off x="727397" y="4660936"/>
            <a:ext cx="2796540" cy="141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572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printf(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110" dirty="0">
                <a:latin typeface="Arial MT"/>
                <a:cs typeface="Arial MT"/>
              </a:rPr>
              <a:t>“%d”,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2[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]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);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1800">
              <a:latin typeface="Arial MT"/>
              <a:cs typeface="Arial MT"/>
            </a:endParaRPr>
          </a:p>
          <a:p>
            <a:pPr marL="457200">
              <a:lnSpc>
                <a:spcPct val="100000"/>
              </a:lnSpc>
            </a:pPr>
            <a:r>
              <a:rPr sz="1800" dirty="0">
                <a:latin typeface="Arial MT"/>
                <a:cs typeface="Arial MT"/>
              </a:rPr>
              <a:t>printf(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110" dirty="0">
                <a:latin typeface="Arial MT"/>
                <a:cs typeface="Arial MT"/>
              </a:rPr>
              <a:t>“%d”,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65" dirty="0">
                <a:latin typeface="Arial MT"/>
                <a:cs typeface="Arial MT"/>
              </a:rPr>
              <a:t>*(A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+ 2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40" dirty="0">
                <a:latin typeface="Arial MT"/>
                <a:cs typeface="Arial MT"/>
              </a:rPr>
              <a:t>)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);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18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800" spc="-50" dirty="0">
                <a:latin typeface="Arial MT"/>
                <a:cs typeface="Arial MT"/>
              </a:rPr>
              <a:t>}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9" name="object 5"/>
          <p:cNvSpPr txBox="1"/>
          <p:nvPr/>
        </p:nvSpPr>
        <p:spPr>
          <a:xfrm>
            <a:off x="4628387" y="4928132"/>
            <a:ext cx="4023243" cy="184666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 marR="5080">
              <a:lnSpc>
                <a:spcPts val="1200"/>
              </a:lnSpc>
              <a:spcBef>
                <a:spcPts val="240"/>
              </a:spcBef>
            </a:pPr>
            <a:r>
              <a:rPr sz="1100" spc="65" dirty="0">
                <a:latin typeface="Arial MT"/>
                <a:cs typeface="Arial MT"/>
              </a:rPr>
              <a:t>//</a:t>
            </a:r>
            <a:r>
              <a:rPr sz="1100" spc="-5" dirty="0">
                <a:latin typeface="Arial MT"/>
                <a:cs typeface="Arial MT"/>
              </a:rPr>
              <a:t> </a:t>
            </a:r>
            <a:r>
              <a:rPr sz="1100" dirty="0">
                <a:latin typeface="Arial MT"/>
                <a:cs typeface="Arial MT"/>
              </a:rPr>
              <a:t>Example of </a:t>
            </a:r>
            <a:r>
              <a:rPr sz="1100" spc="-10" dirty="0">
                <a:latin typeface="Arial MT"/>
                <a:cs typeface="Arial MT"/>
              </a:rPr>
              <a:t>accessing </a:t>
            </a:r>
            <a:r>
              <a:rPr sz="1100" dirty="0">
                <a:latin typeface="Arial MT"/>
                <a:cs typeface="Arial MT"/>
              </a:rPr>
              <a:t>elements</a:t>
            </a:r>
            <a:r>
              <a:rPr sz="1100" spc="-10" dirty="0">
                <a:latin typeface="Arial MT"/>
                <a:cs typeface="Arial MT"/>
              </a:rPr>
              <a:t> </a:t>
            </a:r>
            <a:r>
              <a:rPr sz="1100" dirty="0">
                <a:latin typeface="Arial MT"/>
                <a:cs typeface="Arial MT"/>
              </a:rPr>
              <a:t>inside</a:t>
            </a:r>
            <a:r>
              <a:rPr sz="1100" spc="-10" dirty="0">
                <a:latin typeface="Arial MT"/>
                <a:cs typeface="Arial MT"/>
              </a:rPr>
              <a:t> </a:t>
            </a:r>
            <a:r>
              <a:rPr sz="1100" dirty="0">
                <a:latin typeface="Arial MT"/>
                <a:cs typeface="Arial MT"/>
              </a:rPr>
              <a:t>an</a:t>
            </a:r>
            <a:r>
              <a:rPr sz="1100" spc="-5" dirty="0">
                <a:latin typeface="Arial MT"/>
                <a:cs typeface="Arial MT"/>
              </a:rPr>
              <a:t> </a:t>
            </a:r>
            <a:r>
              <a:rPr sz="1100" spc="-20" dirty="0">
                <a:latin typeface="Arial MT"/>
                <a:cs typeface="Arial MT"/>
              </a:rPr>
              <a:t>array</a:t>
            </a:r>
            <a:endParaRPr sz="110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Array in Compilers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3"/>
          <p:cNvSpPr txBox="1"/>
          <p:nvPr/>
        </p:nvSpPr>
        <p:spPr>
          <a:xfrm>
            <a:off x="596768" y="2035922"/>
            <a:ext cx="5888355" cy="14029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9390" marR="5080" indent="-187325">
              <a:lnSpc>
                <a:spcPts val="1800"/>
              </a:lnSpc>
              <a:spcBef>
                <a:spcPts val="1955"/>
              </a:spcBef>
              <a:buChar char="•"/>
              <a:tabLst>
                <a:tab pos="199390" algn="l"/>
              </a:tabLst>
            </a:pPr>
            <a:r>
              <a:rPr sz="1600" smtClean="0">
                <a:latin typeface="Arial MT"/>
                <a:cs typeface="Arial MT"/>
              </a:rPr>
              <a:t>Any</a:t>
            </a:r>
            <a:r>
              <a:rPr sz="1600" spc="25" smtClean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location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array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can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be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accessed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with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help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base </a:t>
            </a:r>
            <a:r>
              <a:rPr sz="1600" spc="-10" dirty="0">
                <a:latin typeface="Arial MT"/>
                <a:cs typeface="Arial MT"/>
              </a:rPr>
              <a:t>address</a:t>
            </a:r>
            <a:endParaRPr sz="16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735"/>
              </a:spcBef>
            </a:pPr>
            <a:r>
              <a:rPr sz="1600" b="1" dirty="0">
                <a:solidFill>
                  <a:srgbClr val="0076BA"/>
                </a:solidFill>
                <a:latin typeface="Arial"/>
                <a:cs typeface="Arial"/>
              </a:rPr>
              <a:t>Example</a:t>
            </a:r>
            <a:r>
              <a:rPr sz="1600" b="1" spc="-70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600" b="1" spc="-50" dirty="0">
                <a:solidFill>
                  <a:srgbClr val="0076BA"/>
                </a:solidFill>
                <a:latin typeface="Arial"/>
                <a:cs typeface="Arial"/>
              </a:rPr>
              <a:t>: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685"/>
              </a:spcBef>
            </a:pPr>
            <a:r>
              <a:rPr sz="1600" dirty="0">
                <a:solidFill>
                  <a:srgbClr val="EE220C"/>
                </a:solidFill>
                <a:latin typeface="Arial MT"/>
                <a:cs typeface="Arial MT"/>
              </a:rPr>
              <a:t>int</a:t>
            </a:r>
            <a:r>
              <a:rPr sz="1600" spc="-20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EE220C"/>
                </a:solidFill>
                <a:latin typeface="Arial MT"/>
                <a:cs typeface="Arial MT"/>
              </a:rPr>
              <a:t>A[</a:t>
            </a:r>
            <a:r>
              <a:rPr sz="1600" spc="-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EE220C"/>
                </a:solidFill>
                <a:latin typeface="Arial MT"/>
                <a:cs typeface="Arial MT"/>
              </a:rPr>
              <a:t>5</a:t>
            </a:r>
            <a:r>
              <a:rPr sz="1600" spc="-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EE220C"/>
                </a:solidFill>
                <a:latin typeface="Arial MT"/>
                <a:cs typeface="Arial MT"/>
              </a:rPr>
              <a:t>]</a:t>
            </a:r>
            <a:r>
              <a:rPr sz="1600" spc="-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EE220C"/>
                </a:solidFill>
                <a:latin typeface="Arial MT"/>
                <a:cs typeface="Arial MT"/>
              </a:rPr>
              <a:t>=</a:t>
            </a:r>
            <a:r>
              <a:rPr sz="1600" spc="-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EE220C"/>
                </a:solidFill>
                <a:latin typeface="Arial MT"/>
                <a:cs typeface="Arial MT"/>
              </a:rPr>
              <a:t>{</a:t>
            </a:r>
            <a:r>
              <a:rPr sz="1600" spc="-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EE220C"/>
                </a:solidFill>
                <a:latin typeface="Arial MT"/>
                <a:cs typeface="Arial MT"/>
              </a:rPr>
              <a:t>3,5,8,4,2</a:t>
            </a:r>
            <a:r>
              <a:rPr sz="1600" spc="-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600" spc="-50" dirty="0">
                <a:solidFill>
                  <a:srgbClr val="EE220C"/>
                </a:solidFill>
                <a:latin typeface="Arial MT"/>
                <a:cs typeface="Arial MT"/>
              </a:rPr>
              <a:t>}</a:t>
            </a:r>
            <a:endParaRPr sz="1600">
              <a:latin typeface="Arial MT"/>
              <a:cs typeface="Arial MT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29247" y="4673108"/>
            <a:ext cx="2747546" cy="829524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2730610" y="4377748"/>
            <a:ext cx="10350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50" dirty="0">
                <a:latin typeface="Arial MT"/>
                <a:cs typeface="Arial MT"/>
              </a:rPr>
              <a:t>0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118976" y="4377748"/>
            <a:ext cx="45275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61950" algn="l"/>
              </a:tabLst>
            </a:pPr>
            <a:r>
              <a:rPr sz="1100" spc="-50" dirty="0">
                <a:latin typeface="Arial MT"/>
                <a:cs typeface="Arial MT"/>
              </a:rPr>
              <a:t>1</a:t>
            </a:r>
            <a:r>
              <a:rPr sz="1100" dirty="0">
                <a:latin typeface="Arial MT"/>
                <a:cs typeface="Arial MT"/>
              </a:rPr>
              <a:t>	</a:t>
            </a:r>
            <a:r>
              <a:rPr sz="1100" spc="-50" dirty="0">
                <a:latin typeface="Arial MT"/>
                <a:cs typeface="Arial MT"/>
              </a:rPr>
              <a:t>2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934545" y="4377748"/>
            <a:ext cx="10350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50" dirty="0">
                <a:latin typeface="Arial MT"/>
                <a:cs typeface="Arial MT"/>
              </a:rPr>
              <a:t>3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61747" y="4377748"/>
            <a:ext cx="10350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50" dirty="0">
                <a:latin typeface="Arial MT"/>
                <a:cs typeface="Arial MT"/>
              </a:rPr>
              <a:t>4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12" name="object 4"/>
          <p:cNvSpPr txBox="1"/>
          <p:nvPr/>
        </p:nvSpPr>
        <p:spPr>
          <a:xfrm>
            <a:off x="6223845" y="2557746"/>
            <a:ext cx="4618355" cy="1450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340" indent="-167640">
              <a:lnSpc>
                <a:spcPct val="100000"/>
              </a:lnSpc>
              <a:spcBef>
                <a:spcPts val="100"/>
              </a:spcBef>
              <a:buChar char="•"/>
              <a:tabLst>
                <a:tab pos="180340" algn="l"/>
              </a:tabLst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formula</a:t>
            </a:r>
            <a:r>
              <a:rPr sz="1600" spc="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used</a:t>
            </a:r>
            <a:r>
              <a:rPr sz="1600" spc="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by</a:t>
            </a:r>
            <a:r>
              <a:rPr sz="1600" spc="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any</a:t>
            </a:r>
            <a:r>
              <a:rPr sz="1600" spc="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compiler</a:t>
            </a:r>
            <a:r>
              <a:rPr sz="1600" spc="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convert</a:t>
            </a:r>
            <a:r>
              <a:rPr sz="1600" spc="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it</a:t>
            </a:r>
            <a:r>
              <a:rPr sz="1600" spc="35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is</a:t>
            </a:r>
            <a:endParaRPr sz="1600">
              <a:latin typeface="Arial MT"/>
              <a:cs typeface="Arial MT"/>
            </a:endParaRPr>
          </a:p>
          <a:p>
            <a:pPr marL="1938655">
              <a:lnSpc>
                <a:spcPct val="100000"/>
              </a:lnSpc>
              <a:spcBef>
                <a:spcPts val="1770"/>
              </a:spcBef>
            </a:pPr>
            <a:r>
              <a:rPr sz="1600" b="1" spc="-10" dirty="0">
                <a:solidFill>
                  <a:srgbClr val="EE220C"/>
                </a:solidFill>
                <a:latin typeface="Arial"/>
                <a:cs typeface="Arial"/>
              </a:rPr>
              <a:t>Addr(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A[</a:t>
            </a:r>
            <a:r>
              <a:rPr sz="1600" b="1" spc="-2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]</a:t>
            </a:r>
            <a:r>
              <a:rPr sz="1600" b="1" spc="-2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)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=</a:t>
            </a:r>
            <a:r>
              <a:rPr sz="1600" b="1" spc="-2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Lo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+</a:t>
            </a:r>
            <a:r>
              <a:rPr sz="1600" b="1" spc="-2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*</a:t>
            </a:r>
            <a:r>
              <a:rPr sz="1600" b="1" spc="-2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w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latin typeface="Arial MT"/>
                <a:cs typeface="Arial MT"/>
              </a:rPr>
              <a:t>Where</a:t>
            </a:r>
            <a:r>
              <a:rPr sz="1600" spc="-95" dirty="0">
                <a:latin typeface="Arial MT"/>
                <a:cs typeface="Arial MT"/>
              </a:rPr>
              <a:t> </a:t>
            </a:r>
            <a:r>
              <a:rPr sz="1600" spc="-50" dirty="0">
                <a:latin typeface="Arial MT"/>
                <a:cs typeface="Arial MT"/>
              </a:rPr>
              <a:t>;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3" name="object 5"/>
          <p:cNvSpPr txBox="1"/>
          <p:nvPr/>
        </p:nvSpPr>
        <p:spPr>
          <a:xfrm>
            <a:off x="6280334" y="4196046"/>
            <a:ext cx="458470" cy="7264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68580" marR="5080" indent="-56515">
              <a:lnSpc>
                <a:spcPts val="1800"/>
              </a:lnSpc>
              <a:spcBef>
                <a:spcPts val="259"/>
              </a:spcBef>
            </a:pPr>
            <a:r>
              <a:rPr sz="1600" dirty="0">
                <a:latin typeface="Arial MT"/>
                <a:cs typeface="Arial MT"/>
              </a:rPr>
              <a:t>Lo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is </a:t>
            </a:r>
            <a:r>
              <a:rPr sz="1600" spc="-50" dirty="0">
                <a:latin typeface="Arial MT"/>
                <a:cs typeface="Arial MT"/>
              </a:rPr>
              <a:t>i</a:t>
            </a:r>
            <a:endParaRPr sz="1600">
              <a:latin typeface="Arial MT"/>
              <a:cs typeface="Arial MT"/>
            </a:endParaRPr>
          </a:p>
          <a:p>
            <a:pPr marL="12700">
              <a:lnSpc>
                <a:spcPts val="1760"/>
              </a:lnSpc>
            </a:pPr>
            <a:r>
              <a:rPr sz="1600" spc="5" dirty="0">
                <a:latin typeface="Arial MT"/>
                <a:cs typeface="Arial MT"/>
              </a:rPr>
              <a:t>w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4" name="object 6"/>
          <p:cNvSpPr txBox="1"/>
          <p:nvPr/>
        </p:nvSpPr>
        <p:spPr>
          <a:xfrm>
            <a:off x="7420693" y="4196046"/>
            <a:ext cx="1741805" cy="726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5260" indent="-135890">
              <a:lnSpc>
                <a:spcPts val="1860"/>
              </a:lnSpc>
              <a:spcBef>
                <a:spcPts val="100"/>
              </a:spcBef>
              <a:buChar char="-"/>
              <a:tabLst>
                <a:tab pos="175260" algn="l"/>
              </a:tabLst>
            </a:pPr>
            <a:r>
              <a:rPr sz="1600" dirty="0">
                <a:latin typeface="Arial MT"/>
                <a:cs typeface="Arial MT"/>
              </a:rPr>
              <a:t>base </a:t>
            </a:r>
            <a:r>
              <a:rPr sz="1600" spc="-10" dirty="0">
                <a:latin typeface="Arial MT"/>
                <a:cs typeface="Arial MT"/>
              </a:rPr>
              <a:t>address</a:t>
            </a:r>
            <a:endParaRPr sz="1600">
              <a:latin typeface="Arial MT"/>
              <a:cs typeface="Arial MT"/>
            </a:endParaRPr>
          </a:p>
          <a:p>
            <a:pPr marL="148590" indent="-135890">
              <a:lnSpc>
                <a:spcPts val="1800"/>
              </a:lnSpc>
              <a:buChar char="-"/>
              <a:tabLst>
                <a:tab pos="148590" algn="l"/>
              </a:tabLst>
            </a:pPr>
            <a:r>
              <a:rPr sz="1600" spc="-10" dirty="0">
                <a:latin typeface="Arial MT"/>
                <a:cs typeface="Arial MT"/>
              </a:rPr>
              <a:t>Index</a:t>
            </a:r>
            <a:endParaRPr sz="1600">
              <a:latin typeface="Arial MT"/>
              <a:cs typeface="Arial MT"/>
            </a:endParaRPr>
          </a:p>
          <a:p>
            <a:pPr marL="148590" indent="-135890">
              <a:lnSpc>
                <a:spcPts val="1860"/>
              </a:lnSpc>
              <a:buChar char="-"/>
              <a:tabLst>
                <a:tab pos="148590" algn="l"/>
              </a:tabLst>
            </a:pPr>
            <a:r>
              <a:rPr sz="1600" dirty="0">
                <a:latin typeface="Arial MT"/>
                <a:cs typeface="Arial MT"/>
              </a:rPr>
              <a:t>Size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Data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45" dirty="0">
                <a:latin typeface="Arial MT"/>
                <a:cs typeface="Arial MT"/>
              </a:rPr>
              <a:t>Type</a:t>
            </a:r>
            <a:endParaRPr sz="160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Array in Compilers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object 2"/>
          <p:cNvSpPr txBox="1"/>
          <p:nvPr/>
        </p:nvSpPr>
        <p:spPr>
          <a:xfrm>
            <a:off x="697251" y="1929724"/>
            <a:ext cx="10637290" cy="1192634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78435" marR="230504" indent="-166370">
              <a:lnSpc>
                <a:spcPts val="1800"/>
              </a:lnSpc>
              <a:spcBef>
                <a:spcPts val="260"/>
              </a:spcBef>
              <a:buChar char="•"/>
              <a:tabLst>
                <a:tab pos="178435" algn="l"/>
                <a:tab pos="179705" algn="l"/>
              </a:tabLst>
            </a:pPr>
            <a:r>
              <a:rPr sz="1600" dirty="0">
                <a:latin typeface="Arial MT"/>
                <a:cs typeface="Arial MT"/>
              </a:rPr>
              <a:t>	Base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address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array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will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updated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when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program </a:t>
            </a:r>
            <a:r>
              <a:rPr sz="1600" dirty="0">
                <a:latin typeface="Arial MT"/>
                <a:cs typeface="Arial MT"/>
              </a:rPr>
              <a:t>starts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running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once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allocated</a:t>
            </a:r>
            <a:endParaRPr sz="1600">
              <a:latin typeface="Arial MT"/>
              <a:cs typeface="Arial MT"/>
            </a:endParaRPr>
          </a:p>
          <a:p>
            <a:pPr marL="180340" indent="-167640">
              <a:lnSpc>
                <a:spcPct val="100000"/>
              </a:lnSpc>
              <a:spcBef>
                <a:spcPts val="1640"/>
              </a:spcBef>
              <a:buChar char="•"/>
              <a:tabLst>
                <a:tab pos="180340" algn="l"/>
              </a:tabLst>
            </a:pPr>
            <a:r>
              <a:rPr sz="1600" dirty="0">
                <a:latin typeface="Arial MT"/>
                <a:cs typeface="Arial MT"/>
              </a:rPr>
              <a:t>So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address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this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known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during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run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time</a:t>
            </a:r>
            <a:endParaRPr sz="16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buFont typeface="Arial MT"/>
              <a:buChar char="•"/>
            </a:pPr>
            <a:endParaRPr sz="1600">
              <a:latin typeface="Arial MT"/>
              <a:cs typeface="Arial MT"/>
            </a:endParaRPr>
          </a:p>
          <a:p>
            <a:pPr marL="178435" marR="5080" indent="-166370">
              <a:lnSpc>
                <a:spcPts val="1800"/>
              </a:lnSpc>
              <a:buChar char="•"/>
              <a:tabLst>
                <a:tab pos="178435" algn="l"/>
                <a:tab pos="179705" algn="l"/>
              </a:tabLst>
            </a:pPr>
            <a:r>
              <a:rPr sz="1600" dirty="0">
                <a:latin typeface="Arial MT"/>
                <a:cs typeface="Arial MT"/>
              </a:rPr>
              <a:t>	As the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base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address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relative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formula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it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also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relative formula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6" name="object 3"/>
          <p:cNvSpPr txBox="1"/>
          <p:nvPr/>
        </p:nvSpPr>
        <p:spPr>
          <a:xfrm>
            <a:off x="697251" y="4215724"/>
            <a:ext cx="10536805" cy="974626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78435" marR="5080" indent="-166370">
              <a:lnSpc>
                <a:spcPts val="1800"/>
              </a:lnSpc>
              <a:spcBef>
                <a:spcPts val="260"/>
              </a:spcBef>
              <a:buChar char="•"/>
              <a:tabLst>
                <a:tab pos="178435" algn="l"/>
                <a:tab pos="179705" algn="l"/>
              </a:tabLst>
            </a:pPr>
            <a:r>
              <a:rPr sz="1600" dirty="0">
                <a:latin typeface="Arial MT"/>
                <a:cs typeface="Arial MT"/>
              </a:rPr>
              <a:t>	Suppose a in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 different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language if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 index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value starts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from </a:t>
            </a:r>
            <a:r>
              <a:rPr sz="1600" spc="-50" dirty="0">
                <a:latin typeface="Arial MT"/>
                <a:cs typeface="Arial MT"/>
              </a:rPr>
              <a:t>1 </a:t>
            </a:r>
            <a:r>
              <a:rPr sz="1600" dirty="0">
                <a:latin typeface="Arial MT"/>
                <a:cs typeface="Arial MT"/>
              </a:rPr>
              <a:t>then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formula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compiler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as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follows</a:t>
            </a:r>
            <a:endParaRPr sz="16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689"/>
              </a:spcBef>
            </a:pPr>
            <a:endParaRPr sz="1600">
              <a:latin typeface="Arial MT"/>
              <a:cs typeface="Arial MT"/>
            </a:endParaRPr>
          </a:p>
          <a:p>
            <a:pPr marL="114935" algn="ctr">
              <a:lnSpc>
                <a:spcPct val="100000"/>
              </a:lnSpc>
            </a:pPr>
            <a:r>
              <a:rPr sz="1600" b="1" spc="-10" dirty="0">
                <a:solidFill>
                  <a:srgbClr val="EE220C"/>
                </a:solidFill>
                <a:latin typeface="Arial"/>
                <a:cs typeface="Arial"/>
              </a:rPr>
              <a:t>Addr(</a:t>
            </a:r>
            <a:r>
              <a:rPr sz="1600" b="1" spc="-3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A[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]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)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=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Lo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+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(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-</a:t>
            </a:r>
            <a:r>
              <a:rPr sz="1600" b="1" spc="70" dirty="0">
                <a:solidFill>
                  <a:srgbClr val="EE220C"/>
                </a:solidFill>
                <a:latin typeface="Arial"/>
                <a:cs typeface="Arial"/>
              </a:rPr>
              <a:t>1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)*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w</a:t>
            </a:r>
            <a:endParaRPr sz="16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Operations on Arrays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2770" name="Picture 2" descr="Array in C: Why Programmers Need to Master It in 2025!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27086" y="1432559"/>
            <a:ext cx="4506913" cy="450691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Operations on Arrays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8370" name="Picture 2" descr="What is an Array? Everything You Should Know"/>
          <p:cNvPicPr>
            <a:picLocks noChangeAspect="1" noChangeArrowheads="1"/>
          </p:cNvPicPr>
          <p:nvPr/>
        </p:nvPicPr>
        <p:blipFill>
          <a:blip r:embed="rId2"/>
          <a:srcRect t="8889"/>
          <a:stretch>
            <a:fillRect/>
          </a:stretch>
        </p:blipFill>
        <p:spPr bwMode="auto">
          <a:xfrm>
            <a:off x="521335" y="1889760"/>
            <a:ext cx="8096250" cy="3905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Application of Arrays: Matrix Multiplication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3794" name="Picture 2" descr="Multiply Two Matrices in C++ - GeeksforGeek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0720" y="1785641"/>
            <a:ext cx="9525000" cy="30765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Arrays: Character String Operation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0418" name="AutoShape 2" descr="What is an Array of Strings in C? - Scaler Topic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0420" name="AutoShape 4" descr="Array of Strings 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0422" name="AutoShape 6" descr="Array of Strings 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0423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84835" y="1357630"/>
            <a:ext cx="8602663" cy="4610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Arrays: Character String Operation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0418" name="AutoShape 2" descr="What is an Array of Strings in C? - Scaler Topic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0420" name="AutoShape 4" descr="Array of Strings 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0422" name="AutoShape 6" descr="Array of Strings 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xmlns="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5" y="1500188"/>
            <a:ext cx="9137444" cy="4175125"/>
          </a:xfrm>
        </p:spPr>
        <p:txBody>
          <a:bodyPr>
            <a:normAutofit fontScale="62500" lnSpcReduction="20000"/>
          </a:bodyPr>
          <a:lstStyle/>
          <a:p>
            <a:r>
              <a:rPr smtClean="0"/>
              <a:t>#include &lt;stdio.h&gt;</a:t>
            </a:r>
          </a:p>
          <a:p>
            <a:r>
              <a:rPr smtClean="0"/>
              <a:t>#include &lt;string.h&gt;</a:t>
            </a:r>
          </a:p>
          <a:p>
            <a:endParaRPr smtClean="0"/>
          </a:p>
          <a:p>
            <a:r>
              <a:rPr smtClean="0"/>
              <a:t>int main()</a:t>
            </a:r>
          </a:p>
          <a:p>
            <a:r>
              <a:rPr smtClean="0"/>
              <a:t>{</a:t>
            </a:r>
          </a:p>
          <a:p>
            <a:r>
              <a:rPr smtClean="0"/>
              <a:t>    char car[5][20] = {"Mahindra", "Audi", "Lambhorgini", "Hyundai", "Tata Motors"};</a:t>
            </a:r>
          </a:p>
          <a:p>
            <a:r>
              <a:rPr smtClean="0"/>
              <a:t>    </a:t>
            </a:r>
          </a:p>
          <a:p>
            <a:r>
              <a:rPr smtClean="0"/>
              <a:t>    for(int itemNumber = 0 ; itemNumber &lt; 5 ; itemNumber++)</a:t>
            </a:r>
          </a:p>
          <a:p>
            <a:r>
              <a:rPr smtClean="0"/>
              <a:t>    {   //Iterate over selected string</a:t>
            </a:r>
          </a:p>
          <a:p>
            <a:r>
              <a:rPr smtClean="0"/>
              <a:t>        for(int characterPosition = 0 ; characterPosition &lt; strlen(car[itemNumber]) ; characterPosition++)</a:t>
            </a:r>
          </a:p>
          <a:p>
            <a:r>
              <a:rPr smtClean="0"/>
              <a:t>            printf("%c", car[itemNumber][characterPosition]);</a:t>
            </a:r>
          </a:p>
          <a:p>
            <a:r>
              <a:rPr smtClean="0"/>
              <a:t>            </a:t>
            </a:r>
          </a:p>
          <a:p>
            <a:r>
              <a:rPr smtClean="0"/>
              <a:t>        printf("\n");</a:t>
            </a:r>
          </a:p>
          <a:p>
            <a:r>
              <a:rPr smtClean="0"/>
              <a:t>    }</a:t>
            </a:r>
          </a:p>
          <a:p>
            <a:endParaRPr smtClean="0"/>
          </a:p>
          <a:p>
            <a:r>
              <a:rPr smtClean="0"/>
              <a:t>    return 0;</a:t>
            </a:r>
          </a:p>
          <a:p>
            <a:r>
              <a:rPr smtClean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Row Major Order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2"/>
          <p:cNvSpPr txBox="1"/>
          <p:nvPr/>
        </p:nvSpPr>
        <p:spPr>
          <a:xfrm>
            <a:off x="707300" y="1299450"/>
            <a:ext cx="3395345" cy="1063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5760" indent="-353060">
              <a:lnSpc>
                <a:spcPct val="100000"/>
              </a:lnSpc>
              <a:spcBef>
                <a:spcPts val="100"/>
              </a:spcBef>
              <a:tabLst>
                <a:tab pos="365760" algn="l"/>
              </a:tabLst>
            </a:pPr>
            <a:r>
              <a:rPr sz="1400" dirty="0">
                <a:solidFill>
                  <a:srgbClr val="EE220C"/>
                </a:solidFill>
                <a:latin typeface="Arial MT"/>
                <a:cs typeface="Arial MT"/>
              </a:rPr>
              <a:t>Row</a:t>
            </a:r>
            <a:r>
              <a:rPr sz="1400" spc="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EE220C"/>
                </a:solidFill>
                <a:latin typeface="Arial MT"/>
                <a:cs typeface="Arial MT"/>
              </a:rPr>
              <a:t>major</a:t>
            </a:r>
            <a:r>
              <a:rPr sz="1400" spc="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EE220C"/>
                </a:solidFill>
                <a:latin typeface="Arial MT"/>
                <a:cs typeface="Arial MT"/>
              </a:rPr>
              <a:t>mapping</a:t>
            </a:r>
            <a:endParaRPr sz="1400">
              <a:latin typeface="Arial MT"/>
              <a:cs typeface="Arial MT"/>
            </a:endParaRPr>
          </a:p>
          <a:p>
            <a:pPr marL="157480" lvl="1" indent="-144780">
              <a:lnSpc>
                <a:spcPct val="100000"/>
              </a:lnSpc>
              <a:spcBef>
                <a:spcPts val="1520"/>
              </a:spcBef>
              <a:buChar char="•"/>
              <a:tabLst>
                <a:tab pos="157480" algn="l"/>
              </a:tabLst>
            </a:pPr>
            <a:r>
              <a:rPr sz="1400" dirty="0">
                <a:latin typeface="Arial MT"/>
                <a:cs typeface="Arial MT"/>
              </a:rPr>
              <a:t>Here the</a:t>
            </a:r>
            <a:r>
              <a:rPr sz="1400" spc="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elements are</a:t>
            </a:r>
            <a:r>
              <a:rPr sz="1400" spc="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stored</a:t>
            </a:r>
            <a:r>
              <a:rPr sz="1400" spc="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row by</a:t>
            </a:r>
            <a:r>
              <a:rPr sz="1400" spc="5" dirty="0">
                <a:latin typeface="Arial MT"/>
                <a:cs typeface="Arial MT"/>
              </a:rPr>
              <a:t> </a:t>
            </a:r>
            <a:r>
              <a:rPr sz="1400" spc="-25" dirty="0">
                <a:latin typeface="Arial MT"/>
                <a:cs typeface="Arial MT"/>
              </a:rPr>
              <a:t>row</a:t>
            </a:r>
            <a:endParaRPr sz="140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1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400" b="1" dirty="0">
                <a:solidFill>
                  <a:srgbClr val="0076BA"/>
                </a:solidFill>
                <a:latin typeface="Arial"/>
                <a:cs typeface="Arial"/>
              </a:rPr>
              <a:t>Example </a:t>
            </a:r>
            <a:r>
              <a:rPr sz="1400" b="1" spc="-50" dirty="0">
                <a:solidFill>
                  <a:srgbClr val="0076BA"/>
                </a:solidFill>
                <a:latin typeface="Arial"/>
                <a:cs typeface="Arial"/>
              </a:rPr>
              <a:t>:</a:t>
            </a:r>
            <a:endParaRPr sz="1400">
              <a:latin typeface="Arial"/>
              <a:cs typeface="Arial"/>
            </a:endParaRPr>
          </a:p>
        </p:txBody>
      </p:sp>
      <p:sp>
        <p:nvSpPr>
          <p:cNvPr id="7" name="object 3"/>
          <p:cNvSpPr txBox="1"/>
          <p:nvPr/>
        </p:nvSpPr>
        <p:spPr>
          <a:xfrm>
            <a:off x="5360580" y="3861789"/>
            <a:ext cx="4659630" cy="913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7005" indent="-154305">
              <a:lnSpc>
                <a:spcPct val="100000"/>
              </a:lnSpc>
              <a:spcBef>
                <a:spcPts val="100"/>
              </a:spcBef>
              <a:buChar char="•"/>
              <a:tabLst>
                <a:tab pos="167005" algn="l"/>
              </a:tabLst>
            </a:pPr>
            <a:r>
              <a:rPr sz="1500" spc="-10" dirty="0">
                <a:latin typeface="Arial MT"/>
                <a:cs typeface="Arial MT"/>
              </a:rPr>
              <a:t>The</a:t>
            </a:r>
            <a:r>
              <a:rPr sz="1500" spc="-1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formula</a:t>
            </a:r>
            <a:r>
              <a:rPr sz="1500" spc="-1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for</a:t>
            </a:r>
            <a:r>
              <a:rPr sz="1500" spc="-1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accessing</a:t>
            </a:r>
            <a:r>
              <a:rPr sz="1500" spc="-1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this</a:t>
            </a:r>
            <a:r>
              <a:rPr sz="1500" spc="-1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2D</a:t>
            </a:r>
            <a:r>
              <a:rPr sz="1500" spc="-1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array</a:t>
            </a:r>
            <a:r>
              <a:rPr sz="1500" spc="-15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is</a:t>
            </a:r>
            <a:endParaRPr sz="15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664"/>
              </a:spcBef>
            </a:pPr>
            <a:endParaRPr sz="1500">
              <a:latin typeface="Arial MT"/>
              <a:cs typeface="Arial MT"/>
            </a:endParaRPr>
          </a:p>
          <a:p>
            <a:pPr marL="1498600">
              <a:lnSpc>
                <a:spcPct val="100000"/>
              </a:lnSpc>
            </a:pPr>
            <a:r>
              <a:rPr sz="1500" b="1" spc="-20" dirty="0">
                <a:solidFill>
                  <a:srgbClr val="EE220C"/>
                </a:solidFill>
                <a:latin typeface="Arial"/>
                <a:cs typeface="Arial"/>
              </a:rPr>
              <a:t>Add(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A[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]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[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j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])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=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L</a:t>
            </a:r>
            <a:r>
              <a:rPr sz="1000" b="1" dirty="0">
                <a:solidFill>
                  <a:srgbClr val="EE220C"/>
                </a:solidFill>
                <a:latin typeface="Arial"/>
                <a:cs typeface="Arial"/>
              </a:rPr>
              <a:t>0</a:t>
            </a:r>
            <a:r>
              <a:rPr sz="1000" b="1" spc="12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+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[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*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n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+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j</a:t>
            </a:r>
            <a:r>
              <a:rPr sz="1500" b="1" spc="39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]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*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spc="5" dirty="0">
                <a:solidFill>
                  <a:srgbClr val="EE220C"/>
                </a:solidFill>
                <a:latin typeface="Arial"/>
                <a:cs typeface="Arial"/>
              </a:rPr>
              <a:t>w</a:t>
            </a:r>
            <a:endParaRPr sz="1500">
              <a:latin typeface="Arial"/>
              <a:cs typeface="Arial"/>
            </a:endParaRPr>
          </a:p>
        </p:txBody>
      </p:sp>
      <p:pic>
        <p:nvPicPr>
          <p:cNvPr id="8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0457" y="3379137"/>
            <a:ext cx="4045284" cy="2377126"/>
          </a:xfrm>
          <a:prstGeom prst="rect">
            <a:avLst/>
          </a:prstGeom>
        </p:spPr>
      </p:pic>
      <p:pic>
        <p:nvPicPr>
          <p:cNvPr id="9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90552" y="2291193"/>
            <a:ext cx="5363326" cy="624302"/>
          </a:xfrm>
          <a:prstGeom prst="rect">
            <a:avLst/>
          </a:prstGeom>
        </p:spPr>
      </p:pic>
      <p:sp>
        <p:nvSpPr>
          <p:cNvPr id="10" name="object 6"/>
          <p:cNvSpPr txBox="1"/>
          <p:nvPr/>
        </p:nvSpPr>
        <p:spPr>
          <a:xfrm>
            <a:off x="5987787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0076BA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0076BA"/>
                </a:solidFill>
                <a:latin typeface="Arial"/>
                <a:cs typeface="Arial"/>
              </a:rPr>
              <a:t>00</a:t>
            </a:r>
            <a:endParaRPr sz="600">
              <a:latin typeface="Arial"/>
              <a:cs typeface="Arial"/>
            </a:endParaRPr>
          </a:p>
        </p:txBody>
      </p:sp>
      <p:sp>
        <p:nvSpPr>
          <p:cNvPr id="11" name="object 7"/>
          <p:cNvSpPr txBox="1"/>
          <p:nvPr/>
        </p:nvSpPr>
        <p:spPr>
          <a:xfrm>
            <a:off x="6396321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0076BA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0076BA"/>
                </a:solidFill>
                <a:latin typeface="Arial"/>
                <a:cs typeface="Arial"/>
              </a:rPr>
              <a:t>01</a:t>
            </a:r>
            <a:endParaRPr sz="600">
              <a:latin typeface="Arial"/>
              <a:cs typeface="Arial"/>
            </a:endParaRPr>
          </a:p>
        </p:txBody>
      </p:sp>
      <p:sp>
        <p:nvSpPr>
          <p:cNvPr id="12" name="object 8"/>
          <p:cNvSpPr txBox="1"/>
          <p:nvPr/>
        </p:nvSpPr>
        <p:spPr>
          <a:xfrm>
            <a:off x="6847221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0076BA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0076BA"/>
                </a:solidFill>
                <a:latin typeface="Arial"/>
                <a:cs typeface="Arial"/>
              </a:rPr>
              <a:t>02</a:t>
            </a:r>
            <a:endParaRPr sz="600">
              <a:latin typeface="Arial"/>
              <a:cs typeface="Arial"/>
            </a:endParaRPr>
          </a:p>
        </p:txBody>
      </p:sp>
      <p:sp>
        <p:nvSpPr>
          <p:cNvPr id="13" name="object 9"/>
          <p:cNvSpPr txBox="1"/>
          <p:nvPr/>
        </p:nvSpPr>
        <p:spPr>
          <a:xfrm>
            <a:off x="7255755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0076BA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0076BA"/>
                </a:solidFill>
                <a:latin typeface="Arial"/>
                <a:cs typeface="Arial"/>
              </a:rPr>
              <a:t>03</a:t>
            </a:r>
            <a:endParaRPr sz="600">
              <a:latin typeface="Arial"/>
              <a:cs typeface="Arial"/>
            </a:endParaRPr>
          </a:p>
        </p:txBody>
      </p:sp>
      <p:sp>
        <p:nvSpPr>
          <p:cNvPr id="14" name="object 10"/>
          <p:cNvSpPr txBox="1"/>
          <p:nvPr/>
        </p:nvSpPr>
        <p:spPr>
          <a:xfrm>
            <a:off x="7685472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FF42A1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FF42A1"/>
                </a:solidFill>
                <a:latin typeface="Arial"/>
                <a:cs typeface="Arial"/>
              </a:rPr>
              <a:t>10</a:t>
            </a:r>
            <a:endParaRPr sz="600">
              <a:latin typeface="Arial"/>
              <a:cs typeface="Arial"/>
            </a:endParaRPr>
          </a:p>
        </p:txBody>
      </p:sp>
      <p:sp>
        <p:nvSpPr>
          <p:cNvPr id="15" name="object 11"/>
          <p:cNvSpPr txBox="1"/>
          <p:nvPr/>
        </p:nvSpPr>
        <p:spPr>
          <a:xfrm>
            <a:off x="8115190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FF42A1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FF42A1"/>
                </a:solidFill>
                <a:latin typeface="Arial"/>
                <a:cs typeface="Arial"/>
              </a:rPr>
              <a:t>11</a:t>
            </a:r>
            <a:endParaRPr sz="600">
              <a:latin typeface="Arial"/>
              <a:cs typeface="Arial"/>
            </a:endParaRPr>
          </a:p>
        </p:txBody>
      </p:sp>
      <p:sp>
        <p:nvSpPr>
          <p:cNvPr id="16" name="object 12"/>
          <p:cNvSpPr txBox="1"/>
          <p:nvPr/>
        </p:nvSpPr>
        <p:spPr>
          <a:xfrm>
            <a:off x="8566090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FF42A1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FF42A1"/>
                </a:solidFill>
                <a:latin typeface="Arial"/>
                <a:cs typeface="Arial"/>
              </a:rPr>
              <a:t>12</a:t>
            </a:r>
            <a:endParaRPr sz="600">
              <a:latin typeface="Arial"/>
              <a:cs typeface="Arial"/>
            </a:endParaRPr>
          </a:p>
        </p:txBody>
      </p:sp>
      <p:sp>
        <p:nvSpPr>
          <p:cNvPr id="17" name="object 13"/>
          <p:cNvSpPr txBox="1"/>
          <p:nvPr/>
        </p:nvSpPr>
        <p:spPr>
          <a:xfrm>
            <a:off x="9038175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FF42A1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FF42A1"/>
                </a:solidFill>
                <a:latin typeface="Arial"/>
                <a:cs typeface="Arial"/>
              </a:rPr>
              <a:t>13</a:t>
            </a:r>
            <a:endParaRPr sz="600">
              <a:latin typeface="Arial"/>
              <a:cs typeface="Arial"/>
            </a:endParaRPr>
          </a:p>
        </p:txBody>
      </p:sp>
      <p:sp>
        <p:nvSpPr>
          <p:cNvPr id="18" name="object 14"/>
          <p:cNvSpPr txBox="1"/>
          <p:nvPr/>
        </p:nvSpPr>
        <p:spPr>
          <a:xfrm>
            <a:off x="9467892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1DB100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1DB100"/>
                </a:solidFill>
                <a:latin typeface="Arial"/>
                <a:cs typeface="Arial"/>
              </a:rPr>
              <a:t>20</a:t>
            </a:r>
            <a:endParaRPr sz="600">
              <a:latin typeface="Arial"/>
              <a:cs typeface="Arial"/>
            </a:endParaRPr>
          </a:p>
        </p:txBody>
      </p:sp>
      <p:sp>
        <p:nvSpPr>
          <p:cNvPr id="19" name="object 15"/>
          <p:cNvSpPr txBox="1"/>
          <p:nvPr/>
        </p:nvSpPr>
        <p:spPr>
          <a:xfrm>
            <a:off x="9897609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1DB100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1DB100"/>
                </a:solidFill>
                <a:latin typeface="Arial"/>
                <a:cs typeface="Arial"/>
              </a:rPr>
              <a:t>21</a:t>
            </a:r>
            <a:endParaRPr sz="600">
              <a:latin typeface="Arial"/>
              <a:cs typeface="Arial"/>
            </a:endParaRPr>
          </a:p>
        </p:txBody>
      </p:sp>
      <p:sp>
        <p:nvSpPr>
          <p:cNvPr id="20" name="object 16"/>
          <p:cNvSpPr txBox="1"/>
          <p:nvPr/>
        </p:nvSpPr>
        <p:spPr>
          <a:xfrm>
            <a:off x="10284959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1DB100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1DB100"/>
                </a:solidFill>
                <a:latin typeface="Arial"/>
                <a:cs typeface="Arial"/>
              </a:rPr>
              <a:t>22</a:t>
            </a:r>
            <a:endParaRPr sz="600">
              <a:latin typeface="Arial"/>
              <a:cs typeface="Arial"/>
            </a:endParaRPr>
          </a:p>
        </p:txBody>
      </p:sp>
      <p:sp>
        <p:nvSpPr>
          <p:cNvPr id="21" name="object 17"/>
          <p:cNvSpPr txBox="1"/>
          <p:nvPr/>
        </p:nvSpPr>
        <p:spPr>
          <a:xfrm>
            <a:off x="10714676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1DB100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1DB100"/>
                </a:solidFill>
                <a:latin typeface="Arial"/>
                <a:cs typeface="Arial"/>
              </a:rPr>
              <a:t>23</a:t>
            </a:r>
            <a:endParaRPr sz="6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Column Major Order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object 3"/>
          <p:cNvSpPr txBox="1"/>
          <p:nvPr/>
        </p:nvSpPr>
        <p:spPr>
          <a:xfrm>
            <a:off x="647010" y="1381577"/>
            <a:ext cx="51847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1700">
              <a:latin typeface="Arial"/>
              <a:cs typeface="Arial"/>
            </a:endParaRPr>
          </a:p>
          <a:p>
            <a:pPr marL="187960" indent="-175260">
              <a:lnSpc>
                <a:spcPct val="100000"/>
              </a:lnSpc>
              <a:buChar char="•"/>
              <a:tabLst>
                <a:tab pos="187960" algn="l"/>
              </a:tabLst>
            </a:pPr>
            <a:r>
              <a:rPr sz="1500" spc="-10" dirty="0">
                <a:latin typeface="Arial MT"/>
                <a:cs typeface="Arial MT"/>
              </a:rPr>
              <a:t>Here</a:t>
            </a:r>
            <a:r>
              <a:rPr sz="1500" spc="-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 elements of array </a:t>
            </a:r>
            <a:r>
              <a:rPr sz="1500" spc="-10" dirty="0">
                <a:latin typeface="Arial MT"/>
                <a:cs typeface="Arial MT"/>
              </a:rPr>
              <a:t>are</a:t>
            </a:r>
            <a:r>
              <a:rPr sz="1500" spc="-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stored in column by </a:t>
            </a:r>
            <a:r>
              <a:rPr sz="1500" spc="-10" dirty="0">
                <a:latin typeface="Arial MT"/>
                <a:cs typeface="Arial MT"/>
              </a:rPr>
              <a:t>column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8" name="object 4"/>
          <p:cNvSpPr txBox="1"/>
          <p:nvPr/>
        </p:nvSpPr>
        <p:spPr>
          <a:xfrm>
            <a:off x="6856890" y="3402347"/>
            <a:ext cx="4688840" cy="6819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7640" indent="-154940">
              <a:lnSpc>
                <a:spcPct val="100000"/>
              </a:lnSpc>
              <a:spcBef>
                <a:spcPts val="100"/>
              </a:spcBef>
              <a:buChar char="•"/>
              <a:tabLst>
                <a:tab pos="167640" algn="l"/>
              </a:tabLst>
            </a:pPr>
            <a:r>
              <a:rPr sz="1400" dirty="0">
                <a:latin typeface="Arial MT"/>
                <a:cs typeface="Arial MT"/>
              </a:rPr>
              <a:t>The</a:t>
            </a:r>
            <a:r>
              <a:rPr sz="1400" spc="2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formula</a:t>
            </a:r>
            <a:r>
              <a:rPr sz="1400" spc="2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for</a:t>
            </a:r>
            <a:r>
              <a:rPr sz="1400" spc="2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obtaining</a:t>
            </a:r>
            <a:r>
              <a:rPr sz="1400" spc="2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address</a:t>
            </a:r>
            <a:r>
              <a:rPr sz="1400" spc="2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for</a:t>
            </a:r>
            <a:r>
              <a:rPr sz="1400" spc="2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each</a:t>
            </a:r>
            <a:r>
              <a:rPr sz="1400" spc="2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element</a:t>
            </a:r>
            <a:r>
              <a:rPr sz="1400" spc="25" dirty="0">
                <a:latin typeface="Arial MT"/>
                <a:cs typeface="Arial MT"/>
              </a:rPr>
              <a:t> </a:t>
            </a:r>
            <a:r>
              <a:rPr sz="1400" spc="-25" dirty="0">
                <a:latin typeface="Arial MT"/>
                <a:cs typeface="Arial MT"/>
              </a:rPr>
              <a:t>is</a:t>
            </a:r>
            <a:endParaRPr sz="14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5"/>
              </a:spcBef>
            </a:pPr>
            <a:endParaRPr sz="1400">
              <a:latin typeface="Arial MT"/>
              <a:cs typeface="Arial MT"/>
            </a:endParaRPr>
          </a:p>
          <a:p>
            <a:pPr marL="1468755">
              <a:lnSpc>
                <a:spcPct val="100000"/>
              </a:lnSpc>
            </a:pP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Add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(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A[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][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j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]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)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=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L</a:t>
            </a:r>
            <a:r>
              <a:rPr sz="1000" b="1" dirty="0">
                <a:solidFill>
                  <a:srgbClr val="EE220C"/>
                </a:solidFill>
                <a:latin typeface="Arial"/>
                <a:cs typeface="Arial"/>
              </a:rPr>
              <a:t>0</a:t>
            </a:r>
            <a:r>
              <a:rPr sz="1000" b="1" spc="12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+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[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*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m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+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j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]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*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spc="5" dirty="0">
                <a:solidFill>
                  <a:srgbClr val="EE220C"/>
                </a:solidFill>
                <a:latin typeface="Arial"/>
                <a:cs typeface="Arial"/>
              </a:rPr>
              <a:t>w</a:t>
            </a:r>
            <a:endParaRPr sz="1500">
              <a:latin typeface="Arial"/>
              <a:cs typeface="Arial"/>
            </a:endParaRPr>
          </a:p>
        </p:txBody>
      </p:sp>
      <p:pic>
        <p:nvPicPr>
          <p:cNvPr id="9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9336" y="2059152"/>
            <a:ext cx="5913365" cy="3276800"/>
          </a:xfrm>
          <a:prstGeom prst="rect">
            <a:avLst/>
          </a:prstGeom>
        </p:spPr>
      </p:pic>
      <p:pic>
        <p:nvPicPr>
          <p:cNvPr id="10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31815" y="4932820"/>
            <a:ext cx="5762457" cy="1083014"/>
          </a:xfrm>
          <a:prstGeom prst="rect">
            <a:avLst/>
          </a:prstGeom>
        </p:spPr>
      </p:pic>
      <p:sp>
        <p:nvSpPr>
          <p:cNvPr id="11" name="object 7"/>
          <p:cNvSpPr txBox="1"/>
          <p:nvPr/>
        </p:nvSpPr>
        <p:spPr>
          <a:xfrm>
            <a:off x="2856941" y="2911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00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2" name="object 8"/>
          <p:cNvSpPr txBox="1"/>
          <p:nvPr/>
        </p:nvSpPr>
        <p:spPr>
          <a:xfrm>
            <a:off x="3590035" y="2911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01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3" name="object 9"/>
          <p:cNvSpPr txBox="1"/>
          <p:nvPr/>
        </p:nvSpPr>
        <p:spPr>
          <a:xfrm>
            <a:off x="4174845" y="2911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02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4" name="object 10"/>
          <p:cNvSpPr txBox="1"/>
          <p:nvPr/>
        </p:nvSpPr>
        <p:spPr>
          <a:xfrm>
            <a:off x="4759655" y="2911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03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5" name="object 11"/>
          <p:cNvSpPr txBox="1"/>
          <p:nvPr/>
        </p:nvSpPr>
        <p:spPr>
          <a:xfrm>
            <a:off x="2853410" y="3673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10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6" name="object 12"/>
          <p:cNvSpPr txBox="1"/>
          <p:nvPr/>
        </p:nvSpPr>
        <p:spPr>
          <a:xfrm>
            <a:off x="3561791" y="3673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11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7" name="object 13"/>
          <p:cNvSpPr txBox="1"/>
          <p:nvPr/>
        </p:nvSpPr>
        <p:spPr>
          <a:xfrm>
            <a:off x="4171315" y="3673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12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8" name="object 14"/>
          <p:cNvSpPr txBox="1"/>
          <p:nvPr/>
        </p:nvSpPr>
        <p:spPr>
          <a:xfrm>
            <a:off x="4805553" y="3673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13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9" name="object 15"/>
          <p:cNvSpPr txBox="1"/>
          <p:nvPr/>
        </p:nvSpPr>
        <p:spPr>
          <a:xfrm>
            <a:off x="2878124" y="4435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20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20" name="object 16"/>
          <p:cNvSpPr txBox="1"/>
          <p:nvPr/>
        </p:nvSpPr>
        <p:spPr>
          <a:xfrm>
            <a:off x="3586505" y="4435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21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21" name="object 17"/>
          <p:cNvSpPr txBox="1"/>
          <p:nvPr/>
        </p:nvSpPr>
        <p:spPr>
          <a:xfrm>
            <a:off x="4171315" y="4435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22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22" name="object 18"/>
          <p:cNvSpPr txBox="1"/>
          <p:nvPr/>
        </p:nvSpPr>
        <p:spPr>
          <a:xfrm>
            <a:off x="4830267" y="4435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23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32" name="object 19"/>
          <p:cNvSpPr txBox="1"/>
          <p:nvPr/>
        </p:nvSpPr>
        <p:spPr>
          <a:xfrm>
            <a:off x="1360616" y="5505286"/>
            <a:ext cx="20256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25" dirty="0">
                <a:solidFill>
                  <a:srgbClr val="0076BA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0076BA"/>
                </a:solidFill>
                <a:latin typeface="Arial"/>
                <a:cs typeface="Arial"/>
              </a:rPr>
              <a:t>00</a:t>
            </a:r>
            <a:endParaRPr sz="700">
              <a:latin typeface="Arial"/>
              <a:cs typeface="Arial"/>
            </a:endParaRPr>
          </a:p>
        </p:txBody>
      </p:sp>
      <p:sp>
        <p:nvSpPr>
          <p:cNvPr id="33" name="object 20"/>
          <p:cNvSpPr txBox="1"/>
          <p:nvPr/>
        </p:nvSpPr>
        <p:spPr>
          <a:xfrm>
            <a:off x="1809625" y="5505286"/>
            <a:ext cx="20256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25" dirty="0">
                <a:solidFill>
                  <a:srgbClr val="0076BA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0076BA"/>
                </a:solidFill>
                <a:latin typeface="Arial"/>
                <a:cs typeface="Arial"/>
              </a:rPr>
              <a:t>10</a:t>
            </a:r>
            <a:endParaRPr sz="700">
              <a:latin typeface="Arial"/>
              <a:cs typeface="Arial"/>
            </a:endParaRPr>
          </a:p>
        </p:txBody>
      </p:sp>
      <p:sp>
        <p:nvSpPr>
          <p:cNvPr id="34" name="object 21"/>
          <p:cNvSpPr txBox="1"/>
          <p:nvPr/>
        </p:nvSpPr>
        <p:spPr>
          <a:xfrm>
            <a:off x="2258633" y="5505286"/>
            <a:ext cx="57785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87350" algn="l"/>
              </a:tabLst>
            </a:pPr>
            <a:r>
              <a:rPr sz="900" b="1" spc="-25" dirty="0">
                <a:solidFill>
                  <a:srgbClr val="0076BA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0076BA"/>
                </a:solidFill>
                <a:latin typeface="Arial"/>
                <a:cs typeface="Arial"/>
              </a:rPr>
              <a:t>20</a:t>
            </a:r>
            <a:r>
              <a:rPr sz="700" b="1" dirty="0">
                <a:solidFill>
                  <a:srgbClr val="0076BA"/>
                </a:solidFill>
                <a:latin typeface="Arial"/>
                <a:cs typeface="Arial"/>
              </a:rPr>
              <a:t>	</a:t>
            </a:r>
            <a:r>
              <a:rPr sz="900" b="1" spc="-25" dirty="0">
                <a:solidFill>
                  <a:srgbClr val="D31876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D31876"/>
                </a:solidFill>
                <a:latin typeface="Arial"/>
                <a:cs typeface="Arial"/>
              </a:rPr>
              <a:t>01</a:t>
            </a:r>
            <a:endParaRPr sz="700">
              <a:latin typeface="Arial"/>
              <a:cs typeface="Arial"/>
            </a:endParaRPr>
          </a:p>
        </p:txBody>
      </p:sp>
      <p:sp>
        <p:nvSpPr>
          <p:cNvPr id="35" name="object 22"/>
          <p:cNvSpPr txBox="1"/>
          <p:nvPr/>
        </p:nvSpPr>
        <p:spPr>
          <a:xfrm>
            <a:off x="3082508" y="5505286"/>
            <a:ext cx="20256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25" dirty="0">
                <a:solidFill>
                  <a:srgbClr val="D31876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D31876"/>
                </a:solidFill>
                <a:latin typeface="Arial"/>
                <a:cs typeface="Arial"/>
              </a:rPr>
              <a:t>11</a:t>
            </a:r>
            <a:endParaRPr sz="700">
              <a:latin typeface="Arial"/>
              <a:cs typeface="Arial"/>
            </a:endParaRPr>
          </a:p>
        </p:txBody>
      </p:sp>
      <p:sp>
        <p:nvSpPr>
          <p:cNvPr id="36" name="object 23"/>
          <p:cNvSpPr txBox="1"/>
          <p:nvPr/>
        </p:nvSpPr>
        <p:spPr>
          <a:xfrm>
            <a:off x="3531517" y="5505286"/>
            <a:ext cx="57785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87350" algn="l"/>
              </a:tabLst>
            </a:pPr>
            <a:r>
              <a:rPr sz="900" b="1" spc="-25" dirty="0">
                <a:solidFill>
                  <a:srgbClr val="D31876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D31876"/>
                </a:solidFill>
                <a:latin typeface="Arial"/>
                <a:cs typeface="Arial"/>
              </a:rPr>
              <a:t>21</a:t>
            </a:r>
            <a:r>
              <a:rPr sz="700" b="1" dirty="0">
                <a:solidFill>
                  <a:srgbClr val="D31876"/>
                </a:solidFill>
                <a:latin typeface="Arial"/>
                <a:cs typeface="Arial"/>
              </a:rPr>
              <a:t>	</a:t>
            </a:r>
            <a:r>
              <a:rPr sz="900" b="1" spc="-25" dirty="0">
                <a:solidFill>
                  <a:srgbClr val="1DB100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1DB100"/>
                </a:solidFill>
                <a:latin typeface="Arial"/>
                <a:cs typeface="Arial"/>
              </a:rPr>
              <a:t>02</a:t>
            </a:r>
            <a:endParaRPr sz="700">
              <a:latin typeface="Arial"/>
              <a:cs typeface="Arial"/>
            </a:endParaRPr>
          </a:p>
        </p:txBody>
      </p:sp>
      <p:sp>
        <p:nvSpPr>
          <p:cNvPr id="37" name="object 24"/>
          <p:cNvSpPr txBox="1"/>
          <p:nvPr/>
        </p:nvSpPr>
        <p:spPr>
          <a:xfrm>
            <a:off x="4355391" y="5505286"/>
            <a:ext cx="20256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25" dirty="0">
                <a:solidFill>
                  <a:srgbClr val="1DB100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1DB100"/>
                </a:solidFill>
                <a:latin typeface="Arial"/>
                <a:cs typeface="Arial"/>
              </a:rPr>
              <a:t>12</a:t>
            </a:r>
            <a:endParaRPr sz="700">
              <a:latin typeface="Arial"/>
              <a:cs typeface="Arial"/>
            </a:endParaRPr>
          </a:p>
        </p:txBody>
      </p:sp>
      <p:sp>
        <p:nvSpPr>
          <p:cNvPr id="38" name="object 25"/>
          <p:cNvSpPr txBox="1"/>
          <p:nvPr/>
        </p:nvSpPr>
        <p:spPr>
          <a:xfrm>
            <a:off x="4804399" y="5505286"/>
            <a:ext cx="20256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25" dirty="0">
                <a:solidFill>
                  <a:srgbClr val="1DB100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1DB100"/>
                </a:solidFill>
                <a:latin typeface="Arial"/>
                <a:cs typeface="Arial"/>
              </a:rPr>
              <a:t>22</a:t>
            </a:r>
            <a:endParaRPr sz="700">
              <a:latin typeface="Arial"/>
              <a:cs typeface="Arial"/>
            </a:endParaRPr>
          </a:p>
        </p:txBody>
      </p:sp>
      <p:sp>
        <p:nvSpPr>
          <p:cNvPr id="39" name="object 26"/>
          <p:cNvSpPr txBox="1"/>
          <p:nvPr/>
        </p:nvSpPr>
        <p:spPr>
          <a:xfrm>
            <a:off x="5253408" y="5505286"/>
            <a:ext cx="60261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12115" algn="l"/>
              </a:tabLst>
            </a:pPr>
            <a:r>
              <a:rPr sz="900" b="1" spc="-25" dirty="0">
                <a:solidFill>
                  <a:srgbClr val="F27200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F27200"/>
                </a:solidFill>
                <a:latin typeface="Arial"/>
                <a:cs typeface="Arial"/>
              </a:rPr>
              <a:t>03</a:t>
            </a:r>
            <a:r>
              <a:rPr sz="700" b="1" dirty="0">
                <a:solidFill>
                  <a:srgbClr val="F27200"/>
                </a:solidFill>
                <a:latin typeface="Arial"/>
                <a:cs typeface="Arial"/>
              </a:rPr>
              <a:t>	</a:t>
            </a:r>
            <a:r>
              <a:rPr sz="900" b="1" spc="-25" dirty="0">
                <a:solidFill>
                  <a:srgbClr val="F27200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F27200"/>
                </a:solidFill>
                <a:latin typeface="Arial"/>
                <a:cs typeface="Arial"/>
              </a:rPr>
              <a:t>13</a:t>
            </a:r>
            <a:endParaRPr sz="700">
              <a:latin typeface="Arial"/>
              <a:cs typeface="Arial"/>
            </a:endParaRPr>
          </a:p>
        </p:txBody>
      </p:sp>
      <p:sp>
        <p:nvSpPr>
          <p:cNvPr id="40" name="object 27"/>
          <p:cNvSpPr txBox="1"/>
          <p:nvPr/>
        </p:nvSpPr>
        <p:spPr>
          <a:xfrm>
            <a:off x="6077282" y="5505286"/>
            <a:ext cx="20256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25" dirty="0">
                <a:solidFill>
                  <a:srgbClr val="F27200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F27200"/>
                </a:solidFill>
                <a:latin typeface="Arial"/>
                <a:cs typeface="Arial"/>
              </a:rPr>
              <a:t>23</a:t>
            </a:r>
            <a:endParaRPr sz="7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 based on RMO and CMO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410" name="AutoShape 2" descr="Row and Column Major Ordering in an Array | TechAlmirah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412" name="AutoShape 4" descr="row major order in an Array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414" name="AutoShape 6" descr="row major order in an Array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416" name="AutoShape 8" descr="Column major order in an Array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418" name="AutoShape 10" descr="Addressing Formulas for Sparse Matrices Using Column Major in 1D Arrays.pptx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Static</a:t>
            </a:r>
            <a:r>
              <a:rPr lang="en-US" spc="-85" dirty="0" smtClean="0"/>
              <a:t> </a:t>
            </a:r>
            <a:r>
              <a:rPr lang="en-US" dirty="0" err="1" smtClean="0"/>
              <a:t>vs</a:t>
            </a:r>
            <a:r>
              <a:rPr lang="en-US" spc="-85" dirty="0" smtClean="0"/>
              <a:t> </a:t>
            </a:r>
            <a:r>
              <a:rPr lang="en-US" dirty="0" smtClean="0"/>
              <a:t>Dynamic</a:t>
            </a:r>
            <a:r>
              <a:rPr lang="en-US" spc="-85" dirty="0" smtClean="0"/>
              <a:t> </a:t>
            </a:r>
            <a:r>
              <a:rPr lang="en-US" spc="-10" dirty="0" smtClean="0"/>
              <a:t>Arrays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3"/>
          <p:cNvSpPr txBox="1"/>
          <p:nvPr/>
        </p:nvSpPr>
        <p:spPr>
          <a:xfrm>
            <a:off x="711200" y="1484503"/>
            <a:ext cx="11246338" cy="5709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8120" indent="-185420">
              <a:lnSpc>
                <a:spcPct val="100000"/>
              </a:lnSpc>
              <a:spcBef>
                <a:spcPts val="100"/>
              </a:spcBef>
              <a:buChar char="•"/>
              <a:tabLst>
                <a:tab pos="198120" algn="l"/>
              </a:tabLst>
            </a:pPr>
            <a:r>
              <a:rPr lang="en-US" sz="1500" dirty="0" smtClean="0">
                <a:latin typeface="Arial MT"/>
                <a:cs typeface="Arial MT"/>
              </a:rPr>
              <a:t>Static</a:t>
            </a:r>
            <a:r>
              <a:rPr lang="en-US" sz="1500" spc="-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means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the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size</a:t>
            </a:r>
            <a:r>
              <a:rPr lang="en-US" sz="1500" spc="-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of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an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is</a:t>
            </a:r>
            <a:r>
              <a:rPr lang="en-US" sz="1500" spc="-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static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I.e.;</a:t>
            </a:r>
            <a:r>
              <a:rPr lang="en-US" sz="1500" spc="390" dirty="0" smtClean="0">
                <a:latin typeface="Arial MT"/>
                <a:cs typeface="Arial MT"/>
              </a:rPr>
              <a:t> </a:t>
            </a:r>
            <a:r>
              <a:rPr lang="en-US" sz="1500" spc="-10" dirty="0" smtClean="0">
                <a:latin typeface="Arial MT"/>
                <a:cs typeface="Arial MT"/>
              </a:rPr>
              <a:t>fixed</a:t>
            </a:r>
            <a:endParaRPr lang="en-US" sz="1500" dirty="0" smtClean="0">
              <a:latin typeface="Arial MT"/>
              <a:cs typeface="Arial MT"/>
            </a:endParaRPr>
          </a:p>
          <a:p>
            <a:pPr marL="198120" indent="-185420">
              <a:lnSpc>
                <a:spcPct val="100000"/>
              </a:lnSpc>
              <a:spcBef>
                <a:spcPts val="1600"/>
              </a:spcBef>
              <a:buChar char="•"/>
              <a:tabLst>
                <a:tab pos="198120" algn="l"/>
              </a:tabLst>
            </a:pPr>
            <a:r>
              <a:rPr lang="en-US" sz="1500" dirty="0" smtClean="0">
                <a:latin typeface="Arial MT"/>
                <a:cs typeface="Arial MT"/>
              </a:rPr>
              <a:t>Dynamic</a:t>
            </a:r>
            <a:r>
              <a:rPr lang="en-US" sz="1500" spc="-3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-2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means</a:t>
            </a:r>
            <a:r>
              <a:rPr lang="en-US" sz="1500" spc="-2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the</a:t>
            </a:r>
            <a:r>
              <a:rPr lang="en-US" sz="1500" spc="-2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size</a:t>
            </a:r>
            <a:r>
              <a:rPr lang="en-US" sz="1500" spc="-3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of</a:t>
            </a:r>
            <a:r>
              <a:rPr lang="en-US" sz="1500" spc="-2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an</a:t>
            </a:r>
            <a:r>
              <a:rPr lang="en-US" sz="1500" spc="-2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-2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is</a:t>
            </a:r>
            <a:r>
              <a:rPr lang="en-US" sz="1500" spc="-3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Dynamic</a:t>
            </a:r>
            <a:r>
              <a:rPr lang="en-US" sz="1500" spc="-2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I.e.;</a:t>
            </a:r>
            <a:r>
              <a:rPr lang="en-US" sz="1500" spc="360" dirty="0" smtClean="0">
                <a:latin typeface="Arial MT"/>
                <a:cs typeface="Arial MT"/>
              </a:rPr>
              <a:t> </a:t>
            </a:r>
            <a:r>
              <a:rPr lang="en-US" sz="1500" spc="-10" dirty="0" smtClean="0">
                <a:latin typeface="Arial MT"/>
                <a:cs typeface="Arial MT"/>
              </a:rPr>
              <a:t>flexible</a:t>
            </a:r>
            <a:endParaRPr lang="en-US" sz="1500" dirty="0" smtClean="0">
              <a:latin typeface="Arial MT"/>
              <a:cs typeface="Arial MT"/>
            </a:endParaRPr>
          </a:p>
          <a:p>
            <a:pPr marL="198120" indent="-185420">
              <a:lnSpc>
                <a:spcPct val="100000"/>
              </a:lnSpc>
              <a:spcBef>
                <a:spcPts val="1600"/>
              </a:spcBef>
              <a:buChar char="•"/>
              <a:tabLst>
                <a:tab pos="198120" algn="l"/>
              </a:tabLst>
            </a:pPr>
            <a:r>
              <a:rPr lang="en-US" sz="1500" dirty="0" smtClean="0">
                <a:latin typeface="Arial MT"/>
                <a:cs typeface="Arial MT"/>
              </a:rPr>
              <a:t>When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an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is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created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it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is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created inside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Stacking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the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spc="-10" dirty="0" smtClean="0">
                <a:latin typeface="Arial MT"/>
                <a:cs typeface="Arial MT"/>
              </a:rPr>
              <a:t>memory</a:t>
            </a:r>
            <a:endParaRPr lang="en-US" sz="1500" dirty="0" smtClean="0">
              <a:latin typeface="Arial MT"/>
              <a:cs typeface="Arial MT"/>
            </a:endParaRPr>
          </a:p>
          <a:p>
            <a:pPr marL="198120" indent="-185420">
              <a:lnSpc>
                <a:spcPct val="100000"/>
              </a:lnSpc>
              <a:spcBef>
                <a:spcPts val="1600"/>
              </a:spcBef>
              <a:buChar char="•"/>
              <a:tabLst>
                <a:tab pos="198120" algn="l"/>
              </a:tabLst>
            </a:pPr>
            <a:r>
              <a:rPr lang="en-US" sz="1500" spc="-10" dirty="0" smtClean="0">
                <a:latin typeface="Arial MT"/>
                <a:cs typeface="Arial MT"/>
              </a:rPr>
              <a:t>The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size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of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the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is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decided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during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at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compile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spc="-20" dirty="0" smtClean="0">
                <a:latin typeface="Arial MT"/>
                <a:cs typeface="Arial MT"/>
              </a:rPr>
              <a:t>time</a:t>
            </a:r>
            <a:endParaRPr lang="en-US" sz="1500" dirty="0" smtClean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Font typeface="Arial MT"/>
              <a:buChar char="•"/>
            </a:pPr>
            <a:endParaRPr lang="en-US" sz="1500" dirty="0" smtClean="0">
              <a:latin typeface="Arial MT"/>
              <a:cs typeface="Arial MT"/>
            </a:endParaRPr>
          </a:p>
          <a:p>
            <a:pPr marL="197485" marR="222250" indent="-185420">
              <a:lnSpc>
                <a:spcPts val="1700"/>
              </a:lnSpc>
              <a:buChar char="•"/>
              <a:tabLst>
                <a:tab pos="199390" algn="l"/>
              </a:tabLst>
            </a:pPr>
            <a:r>
              <a:rPr lang="en-US" sz="1500" dirty="0" smtClean="0">
                <a:latin typeface="Arial MT"/>
                <a:cs typeface="Arial MT"/>
              </a:rPr>
              <a:t>When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declaring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an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it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must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be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static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value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only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and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spc="-25" dirty="0" smtClean="0">
                <a:latin typeface="Arial MT"/>
                <a:cs typeface="Arial MT"/>
              </a:rPr>
              <a:t>not 	</a:t>
            </a:r>
            <a:r>
              <a:rPr lang="en-US" sz="1500" spc="-10" dirty="0" smtClean="0">
                <a:latin typeface="Arial MT"/>
                <a:cs typeface="Arial MT"/>
              </a:rPr>
              <a:t>variable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type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in</a:t>
            </a:r>
            <a:r>
              <a:rPr lang="en-US" sz="1500" spc="20" dirty="0" smtClean="0">
                <a:latin typeface="Arial MT"/>
                <a:cs typeface="Arial MT"/>
              </a:rPr>
              <a:t> </a:t>
            </a:r>
            <a:r>
              <a:rPr lang="en-US" sz="1500" spc="50" dirty="0" smtClean="0">
                <a:latin typeface="Arial MT"/>
                <a:cs typeface="Arial MT"/>
              </a:rPr>
              <a:t>c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language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however</a:t>
            </a:r>
            <a:r>
              <a:rPr lang="en-US" sz="1500" spc="2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in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err="1" smtClean="0">
                <a:latin typeface="Arial MT"/>
                <a:cs typeface="Arial MT"/>
              </a:rPr>
              <a:t>c++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dynamic</a:t>
            </a:r>
            <a:r>
              <a:rPr lang="en-US" sz="1500" spc="2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allocation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spc="-25" dirty="0" smtClean="0">
                <a:latin typeface="Arial MT"/>
                <a:cs typeface="Arial MT"/>
              </a:rPr>
              <a:t>is 	</a:t>
            </a:r>
            <a:r>
              <a:rPr lang="en-US" sz="1500" dirty="0" smtClean="0">
                <a:latin typeface="Arial MT"/>
                <a:cs typeface="Arial MT"/>
              </a:rPr>
              <a:t>possible</a:t>
            </a:r>
            <a:r>
              <a:rPr lang="en-US" sz="1500" spc="6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during</a:t>
            </a:r>
            <a:r>
              <a:rPr lang="en-US" sz="1500" spc="6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compile</a:t>
            </a:r>
            <a:r>
              <a:rPr lang="en-US" sz="1500" spc="70" dirty="0" smtClean="0">
                <a:latin typeface="Arial MT"/>
                <a:cs typeface="Arial MT"/>
              </a:rPr>
              <a:t> </a:t>
            </a:r>
            <a:r>
              <a:rPr lang="en-US" sz="1500" spc="-20" dirty="0" smtClean="0">
                <a:latin typeface="Arial MT"/>
                <a:cs typeface="Arial MT"/>
              </a:rPr>
              <a:t>time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lang="en-US" sz="1500" spc="-50" dirty="0" smtClean="0">
                <a:latin typeface="Arial MT"/>
                <a:cs typeface="Arial MT"/>
              </a:rPr>
              <a:t>We</a:t>
            </a:r>
            <a:r>
              <a:rPr lang="en-US" sz="1500" spc="-3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can</a:t>
            </a:r>
            <a:r>
              <a:rPr lang="en-US" sz="1500" spc="-3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create</a:t>
            </a:r>
            <a:r>
              <a:rPr lang="en-US" sz="1500" spc="-3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-3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inside</a:t>
            </a:r>
            <a:r>
              <a:rPr lang="en-US" sz="1500" spc="-30" dirty="0" smtClean="0">
                <a:latin typeface="Arial MT"/>
                <a:cs typeface="Arial MT"/>
              </a:rPr>
              <a:t> </a:t>
            </a:r>
            <a:r>
              <a:rPr lang="en-US" sz="1500" spc="-20" dirty="0" smtClean="0">
                <a:latin typeface="Arial MT"/>
                <a:cs typeface="Arial MT"/>
              </a:rPr>
              <a:t>Heap: </a:t>
            </a:r>
            <a:r>
              <a:rPr lang="en-US" sz="1500" dirty="0" smtClean="0">
                <a:latin typeface="Arial MT"/>
                <a:cs typeface="Arial MT"/>
              </a:rPr>
              <a:t>When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accessing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any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value inside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heap it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must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be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done through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spc="-50" dirty="0" smtClean="0">
                <a:latin typeface="Arial MT"/>
                <a:cs typeface="Arial MT"/>
              </a:rPr>
              <a:t>a </a:t>
            </a:r>
            <a:r>
              <a:rPr lang="en-US" sz="1500" spc="-10" dirty="0" smtClean="0">
                <a:latin typeface="Arial MT"/>
                <a:cs typeface="Arial MT"/>
              </a:rPr>
              <a:t>pointer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b="1" dirty="0" smtClean="0">
                <a:solidFill>
                  <a:srgbClr val="0076BA"/>
                </a:solidFill>
                <a:latin typeface="Arial"/>
                <a:cs typeface="Arial"/>
              </a:rPr>
              <a:t>Example</a:t>
            </a:r>
            <a:r>
              <a:rPr lang="en-US" b="1" spc="-75" dirty="0" smtClean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lang="en-US" b="1" spc="-50" dirty="0" smtClean="0">
                <a:solidFill>
                  <a:srgbClr val="0076BA"/>
                </a:solidFill>
                <a:latin typeface="Arial"/>
                <a:cs typeface="Arial"/>
              </a:rPr>
              <a:t>:</a:t>
            </a:r>
            <a:endParaRPr lang="en-US" dirty="0" smtClean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lang="en-US" dirty="0" smtClean="0">
              <a:latin typeface="Arial"/>
              <a:cs typeface="Arial"/>
            </a:endParaRPr>
          </a:p>
          <a:p>
            <a:pPr marL="12700">
              <a:lnSpc>
                <a:spcPts val="1750"/>
              </a:lnSpc>
            </a:pPr>
            <a:r>
              <a:rPr lang="en-US" sz="1500" spc="-10" dirty="0" smtClean="0">
                <a:latin typeface="Arial MT"/>
                <a:cs typeface="Arial MT"/>
              </a:rPr>
              <a:t>Void</a:t>
            </a:r>
            <a:r>
              <a:rPr lang="en-US" sz="1500" spc="-65" dirty="0" smtClean="0">
                <a:latin typeface="Arial MT"/>
                <a:cs typeface="Arial MT"/>
              </a:rPr>
              <a:t> </a:t>
            </a:r>
            <a:r>
              <a:rPr lang="en-US" sz="1500" spc="-20" dirty="0" smtClean="0">
                <a:latin typeface="Arial MT"/>
                <a:cs typeface="Arial MT"/>
              </a:rPr>
              <a:t>main(</a:t>
            </a:r>
            <a:r>
              <a:rPr lang="en-US" sz="1500" spc="-65" dirty="0" smtClean="0">
                <a:latin typeface="Arial MT"/>
                <a:cs typeface="Arial MT"/>
              </a:rPr>
              <a:t> </a:t>
            </a:r>
            <a:r>
              <a:rPr lang="en-US" sz="1500" spc="-50" dirty="0" smtClean="0">
                <a:latin typeface="Arial MT"/>
                <a:cs typeface="Arial MT"/>
              </a:rPr>
              <a:t>)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ts val="1750"/>
              </a:lnSpc>
            </a:pPr>
            <a:r>
              <a:rPr lang="en-US" sz="1500" spc="-50" dirty="0" smtClean="0">
                <a:latin typeface="Arial MT"/>
                <a:cs typeface="Arial MT"/>
              </a:rPr>
              <a:t>{</a:t>
            </a:r>
            <a:endParaRPr lang="en-US" sz="1500" dirty="0" smtClean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lang="en-US" sz="1500" dirty="0" smtClean="0">
              <a:latin typeface="Arial MT"/>
              <a:cs typeface="Arial MT"/>
            </a:endParaRPr>
          </a:p>
          <a:p>
            <a:pPr marL="469900" marR="4784725">
              <a:lnSpc>
                <a:spcPts val="1700"/>
              </a:lnSpc>
            </a:pPr>
            <a:r>
              <a:rPr lang="en-US" sz="1500" dirty="0" err="1" smtClean="0">
                <a:latin typeface="Arial MT"/>
                <a:cs typeface="Arial MT"/>
              </a:rPr>
              <a:t>int</a:t>
            </a:r>
            <a:r>
              <a:rPr lang="en-US" sz="1500" spc="45" dirty="0" smtClean="0">
                <a:latin typeface="Arial MT"/>
                <a:cs typeface="Arial MT"/>
              </a:rPr>
              <a:t> </a:t>
            </a:r>
            <a:r>
              <a:rPr lang="en-US" sz="1500" spc="-30" dirty="0" smtClean="0">
                <a:latin typeface="Arial MT"/>
                <a:cs typeface="Arial MT"/>
              </a:rPr>
              <a:t>A[5]; </a:t>
            </a:r>
            <a:r>
              <a:rPr lang="en-US" sz="1500" dirty="0" err="1" smtClean="0">
                <a:latin typeface="Arial MT"/>
                <a:cs typeface="Arial MT"/>
              </a:rPr>
              <a:t>int</a:t>
            </a:r>
            <a:r>
              <a:rPr lang="en-US" sz="1500" spc="45" dirty="0" smtClean="0">
                <a:latin typeface="Arial MT"/>
                <a:cs typeface="Arial MT"/>
              </a:rPr>
              <a:t> </a:t>
            </a:r>
            <a:r>
              <a:rPr lang="en-US" sz="1500" spc="-25" dirty="0" smtClean="0">
                <a:latin typeface="Arial MT"/>
                <a:cs typeface="Arial MT"/>
              </a:rPr>
              <a:t>*p;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ts val="1660"/>
              </a:lnSpc>
              <a:tabLst>
                <a:tab pos="502284" algn="l"/>
              </a:tabLst>
            </a:pPr>
            <a:r>
              <a:rPr lang="en-US" sz="1500" spc="-25" dirty="0" smtClean="0">
                <a:solidFill>
                  <a:srgbClr val="EE220C"/>
                </a:solidFill>
                <a:latin typeface="Arial MT"/>
                <a:cs typeface="Arial MT"/>
              </a:rPr>
              <a:t>C++</a:t>
            </a:r>
            <a:r>
              <a:rPr lang="en-US" sz="1500" dirty="0" smtClean="0">
                <a:solidFill>
                  <a:srgbClr val="EE220C"/>
                </a:solidFill>
                <a:latin typeface="Arial MT"/>
                <a:cs typeface="Arial MT"/>
              </a:rPr>
              <a:t>	</a:t>
            </a:r>
            <a:r>
              <a:rPr lang="en-US" sz="1500" spc="50" dirty="0" smtClean="0">
                <a:latin typeface="Arial MT"/>
                <a:cs typeface="Arial MT"/>
              </a:rPr>
              <a:t>p</a:t>
            </a:r>
            <a:r>
              <a:rPr lang="en-US" sz="1500" spc="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=</a:t>
            </a:r>
            <a:r>
              <a:rPr lang="en-US" sz="1500" spc="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new</a:t>
            </a:r>
            <a:r>
              <a:rPr lang="en-US" sz="1500" spc="5" dirty="0" smtClean="0">
                <a:latin typeface="Arial MT"/>
                <a:cs typeface="Arial MT"/>
              </a:rPr>
              <a:t> </a:t>
            </a:r>
            <a:r>
              <a:rPr lang="en-US" sz="1500" spc="-10" dirty="0" err="1" smtClean="0">
                <a:latin typeface="Arial MT"/>
                <a:cs typeface="Arial MT"/>
              </a:rPr>
              <a:t>int</a:t>
            </a:r>
            <a:r>
              <a:rPr lang="en-US" sz="1500" spc="-10" dirty="0" smtClean="0">
                <a:latin typeface="Arial MT"/>
                <a:cs typeface="Arial MT"/>
              </a:rPr>
              <a:t>[5];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600"/>
              </a:spcBef>
            </a:pPr>
            <a:r>
              <a:rPr lang="en-US" sz="1500" dirty="0" smtClean="0">
                <a:solidFill>
                  <a:srgbClr val="EE220C"/>
                </a:solidFill>
                <a:latin typeface="Arial MT"/>
                <a:cs typeface="Arial MT"/>
              </a:rPr>
              <a:t>C</a:t>
            </a:r>
            <a:r>
              <a:rPr lang="en-US" sz="1500" spc="-55" dirty="0" smtClean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lang="en-US" sz="1500" dirty="0" err="1" smtClean="0">
                <a:solidFill>
                  <a:srgbClr val="EE220C"/>
                </a:solidFill>
                <a:latin typeface="Arial MT"/>
                <a:cs typeface="Arial MT"/>
              </a:rPr>
              <a:t>lang</a:t>
            </a:r>
            <a:r>
              <a:rPr lang="en-US" sz="1500" spc="395" dirty="0" smtClean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lang="en-US" sz="1500" spc="50" dirty="0" smtClean="0">
                <a:latin typeface="Arial MT"/>
                <a:cs typeface="Arial MT"/>
              </a:rPr>
              <a:t>p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=(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err="1" smtClean="0">
                <a:latin typeface="Arial MT"/>
                <a:cs typeface="Arial MT"/>
              </a:rPr>
              <a:t>int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*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spc="-120" dirty="0" smtClean="0">
                <a:latin typeface="Arial MT"/>
                <a:cs typeface="Arial MT"/>
              </a:rPr>
              <a:t>)</a:t>
            </a:r>
            <a:r>
              <a:rPr lang="en-US" sz="1500" dirty="0" smtClean="0">
                <a:latin typeface="Arial MT"/>
                <a:cs typeface="Arial MT"/>
              </a:rPr>
              <a:t> </a:t>
            </a:r>
            <a:r>
              <a:rPr lang="en-US" sz="1500" dirty="0" err="1" smtClean="0">
                <a:latin typeface="Arial MT"/>
                <a:cs typeface="Arial MT"/>
              </a:rPr>
              <a:t>malloc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spc="-120" dirty="0" smtClean="0">
                <a:latin typeface="Arial MT"/>
                <a:cs typeface="Arial MT"/>
              </a:rPr>
              <a:t>(</a:t>
            </a:r>
            <a:r>
              <a:rPr lang="en-US" sz="1500" dirty="0" smtClean="0">
                <a:latin typeface="Arial MT"/>
                <a:cs typeface="Arial MT"/>
              </a:rPr>
              <a:t> 5*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err="1" smtClean="0">
                <a:latin typeface="Arial MT"/>
                <a:cs typeface="Arial MT"/>
              </a:rPr>
              <a:t>sizeof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spc="-120" dirty="0" smtClean="0">
                <a:latin typeface="Arial MT"/>
                <a:cs typeface="Arial MT"/>
              </a:rPr>
              <a:t>(</a:t>
            </a:r>
            <a:r>
              <a:rPr lang="en-US" sz="1500" dirty="0" smtClean="0">
                <a:latin typeface="Arial MT"/>
                <a:cs typeface="Arial MT"/>
              </a:rPr>
              <a:t> </a:t>
            </a:r>
            <a:r>
              <a:rPr lang="en-US" sz="1500" dirty="0" err="1" smtClean="0">
                <a:latin typeface="Arial MT"/>
                <a:cs typeface="Arial MT"/>
              </a:rPr>
              <a:t>int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spc="-120" dirty="0" smtClean="0">
                <a:latin typeface="Arial MT"/>
                <a:cs typeface="Arial MT"/>
              </a:rPr>
              <a:t>)</a:t>
            </a:r>
            <a:r>
              <a:rPr lang="en-US" sz="1500" dirty="0" smtClean="0">
                <a:latin typeface="Arial MT"/>
                <a:cs typeface="Arial MT"/>
              </a:rPr>
              <a:t> </a:t>
            </a:r>
            <a:r>
              <a:rPr lang="en-US" sz="1500" spc="-25" dirty="0" smtClean="0">
                <a:latin typeface="Arial MT"/>
                <a:cs typeface="Arial MT"/>
              </a:rPr>
              <a:t>);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ts val="1750"/>
              </a:lnSpc>
              <a:spcBef>
                <a:spcPts val="1600"/>
              </a:spcBef>
            </a:pPr>
            <a:r>
              <a:rPr lang="en-US" sz="1500" spc="-50" dirty="0" smtClean="0">
                <a:latin typeface="Arial MT"/>
                <a:cs typeface="Arial MT"/>
              </a:rPr>
              <a:t>.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ts val="1700"/>
              </a:lnSpc>
            </a:pPr>
            <a:r>
              <a:rPr lang="en-US" sz="1500" spc="-50" dirty="0" smtClean="0">
                <a:latin typeface="Arial MT"/>
                <a:cs typeface="Arial MT"/>
              </a:rPr>
              <a:t>.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ts val="1750"/>
              </a:lnSpc>
            </a:pPr>
            <a:r>
              <a:rPr lang="en-US" sz="1500" spc="-50" dirty="0" smtClean="0">
                <a:latin typeface="Arial MT"/>
                <a:cs typeface="Arial MT"/>
              </a:rPr>
              <a:t>.</a:t>
            </a:r>
            <a:endParaRPr lang="en-US" sz="1500" dirty="0" smtClean="0">
              <a:latin typeface="Arial MT"/>
              <a:cs typeface="Arial MT"/>
            </a:endParaRPr>
          </a:p>
          <a:p>
            <a:pPr marL="12700" marR="1839595">
              <a:lnSpc>
                <a:spcPct val="100000"/>
              </a:lnSpc>
              <a:spcBef>
                <a:spcPts val="100"/>
              </a:spcBef>
            </a:pPr>
            <a:endParaRPr sz="1500"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 1: Static</a:t>
            </a:r>
            <a:r>
              <a:rPr lang="en-US" spc="-85" dirty="0" smtClean="0"/>
              <a:t> </a:t>
            </a:r>
            <a:r>
              <a:rPr lang="en-US" dirty="0" err="1" smtClean="0"/>
              <a:t>vs</a:t>
            </a:r>
            <a:r>
              <a:rPr lang="en-US" spc="-85" dirty="0" smtClean="0"/>
              <a:t> </a:t>
            </a:r>
            <a:r>
              <a:rPr lang="en-US" dirty="0" smtClean="0"/>
              <a:t>Dynamic</a:t>
            </a:r>
            <a:r>
              <a:rPr lang="en-US" spc="-85" dirty="0" smtClean="0"/>
              <a:t> </a:t>
            </a:r>
            <a:r>
              <a:rPr lang="en-US" spc="-10" dirty="0" smtClean="0"/>
              <a:t>Arrays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3"/>
          <p:cNvSpPr txBox="1"/>
          <p:nvPr/>
        </p:nvSpPr>
        <p:spPr>
          <a:xfrm>
            <a:off x="711200" y="1484503"/>
            <a:ext cx="6935596" cy="469359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839595">
              <a:lnSpc>
                <a:spcPct val="100000"/>
              </a:lnSpc>
              <a:spcBef>
                <a:spcPts val="100"/>
              </a:spcBef>
            </a:pPr>
            <a:r>
              <a:rPr sz="1500" dirty="0">
                <a:solidFill>
                  <a:srgbClr val="78492A"/>
                </a:solidFill>
                <a:latin typeface="Courier New"/>
                <a:cs typeface="Courier New"/>
              </a:rPr>
              <a:t>#include </a:t>
            </a:r>
            <a:r>
              <a:rPr sz="1500" spc="-10" dirty="0">
                <a:solidFill>
                  <a:srgbClr val="D12F1B"/>
                </a:solidFill>
                <a:latin typeface="Courier New"/>
                <a:cs typeface="Courier New"/>
              </a:rPr>
              <a:t>&lt;stdio.h&gt; </a:t>
            </a:r>
            <a:r>
              <a:rPr sz="1500" dirty="0">
                <a:solidFill>
                  <a:srgbClr val="78492A"/>
                </a:solidFill>
                <a:latin typeface="Courier New"/>
                <a:cs typeface="Courier New"/>
              </a:rPr>
              <a:t>#include </a:t>
            </a:r>
            <a:r>
              <a:rPr sz="1500" spc="-10" dirty="0">
                <a:solidFill>
                  <a:srgbClr val="D12F1B"/>
                </a:solidFill>
                <a:latin typeface="Courier New"/>
                <a:cs typeface="Courier New"/>
              </a:rPr>
              <a:t>&lt;stdlib.h&gt;</a:t>
            </a:r>
            <a:endParaRPr sz="15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5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500" dirty="0">
                <a:solidFill>
                  <a:srgbClr val="BA2DA2"/>
                </a:solidFill>
                <a:latin typeface="Courier New"/>
                <a:cs typeface="Courier New"/>
              </a:rPr>
              <a:t>int </a:t>
            </a:r>
            <a:r>
              <a:rPr sz="1500" spc="-10" dirty="0">
                <a:latin typeface="Courier New"/>
                <a:cs typeface="Courier New"/>
              </a:rPr>
              <a:t>main()</a:t>
            </a:r>
            <a:endParaRPr sz="15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500" spc="-50" dirty="0">
                <a:latin typeface="Courier New"/>
                <a:cs typeface="Courier New"/>
              </a:rPr>
              <a:t>{</a:t>
            </a:r>
            <a:endParaRPr sz="15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500" dirty="0">
                <a:solidFill>
                  <a:srgbClr val="BA2DA2"/>
                </a:solidFill>
                <a:latin typeface="Courier New"/>
                <a:cs typeface="Courier New"/>
              </a:rPr>
              <a:t>int </a:t>
            </a:r>
            <a:r>
              <a:rPr sz="1500" spc="-10" dirty="0">
                <a:latin typeface="Courier New"/>
                <a:cs typeface="Courier New"/>
              </a:rPr>
              <a:t>A[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5</a:t>
            </a:r>
            <a:r>
              <a:rPr sz="1500" spc="-10" dirty="0">
                <a:latin typeface="Courier New"/>
                <a:cs typeface="Courier New"/>
              </a:rPr>
              <a:t>]={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2</a:t>
            </a:r>
            <a:r>
              <a:rPr sz="1500" spc="-10" dirty="0">
                <a:latin typeface="Courier New"/>
                <a:cs typeface="Courier New"/>
              </a:rPr>
              <a:t>,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500" spc="-10" dirty="0">
                <a:latin typeface="Courier New"/>
                <a:cs typeface="Courier New"/>
              </a:rPr>
              <a:t>,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6</a:t>
            </a:r>
            <a:r>
              <a:rPr sz="1500" spc="-10" dirty="0">
                <a:latin typeface="Courier New"/>
                <a:cs typeface="Courier New"/>
              </a:rPr>
              <a:t>,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8</a:t>
            </a:r>
            <a:r>
              <a:rPr sz="1500" spc="-10" dirty="0">
                <a:latin typeface="Courier New"/>
                <a:cs typeface="Courier New"/>
              </a:rPr>
              <a:t>,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10</a:t>
            </a:r>
            <a:r>
              <a:rPr sz="1500" spc="-10" dirty="0">
                <a:latin typeface="Courier New"/>
                <a:cs typeface="Courier New"/>
              </a:rPr>
              <a:t>};</a:t>
            </a:r>
            <a:endParaRPr sz="1500">
              <a:latin typeface="Courier New"/>
              <a:cs typeface="Courier New"/>
            </a:endParaRPr>
          </a:p>
          <a:p>
            <a:pPr marL="471170" marR="2757170">
              <a:lnSpc>
                <a:spcPct val="100000"/>
              </a:lnSpc>
            </a:pPr>
            <a:r>
              <a:rPr sz="1500" dirty="0">
                <a:solidFill>
                  <a:srgbClr val="BA2DA2"/>
                </a:solidFill>
                <a:latin typeface="Courier New"/>
                <a:cs typeface="Courier New"/>
              </a:rPr>
              <a:t>int </a:t>
            </a:r>
            <a:r>
              <a:rPr sz="1500" spc="-25" dirty="0">
                <a:latin typeface="Courier New"/>
                <a:cs typeface="Courier New"/>
              </a:rPr>
              <a:t>*p; </a:t>
            </a:r>
            <a:r>
              <a:rPr sz="1500" dirty="0">
                <a:solidFill>
                  <a:srgbClr val="BA2DA2"/>
                </a:solidFill>
                <a:latin typeface="Courier New"/>
                <a:cs typeface="Courier New"/>
              </a:rPr>
              <a:t>int </a:t>
            </a:r>
            <a:r>
              <a:rPr sz="1500" spc="-25" dirty="0">
                <a:latin typeface="Courier New"/>
                <a:cs typeface="Courier New"/>
              </a:rPr>
              <a:t>i;</a:t>
            </a:r>
            <a:endParaRPr sz="15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500">
              <a:latin typeface="Courier New"/>
              <a:cs typeface="Courier New"/>
            </a:endParaRPr>
          </a:p>
          <a:p>
            <a:pPr marL="471170" marR="5080">
              <a:lnSpc>
                <a:spcPct val="100000"/>
              </a:lnSpc>
            </a:pPr>
            <a:r>
              <a:rPr sz="1500" dirty="0">
                <a:latin typeface="Courier New"/>
                <a:cs typeface="Courier New"/>
              </a:rPr>
              <a:t>p=(</a:t>
            </a:r>
            <a:r>
              <a:rPr sz="15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500" spc="-5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500" spc="-10" dirty="0">
                <a:latin typeface="Courier New"/>
                <a:cs typeface="Courier New"/>
              </a:rPr>
              <a:t>*)</a:t>
            </a:r>
            <a:r>
              <a:rPr sz="1500" spc="-1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500" spc="-10" dirty="0">
                <a:latin typeface="Courier New"/>
                <a:cs typeface="Courier New"/>
              </a:rPr>
              <a:t>(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5</a:t>
            </a:r>
            <a:r>
              <a:rPr sz="1500" spc="-10" dirty="0">
                <a:latin typeface="Courier New"/>
                <a:cs typeface="Courier New"/>
              </a:rPr>
              <a:t>*</a:t>
            </a:r>
            <a:r>
              <a:rPr sz="1500" spc="-1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500" spc="-10" dirty="0">
                <a:latin typeface="Courier New"/>
                <a:cs typeface="Courier New"/>
              </a:rPr>
              <a:t>(</a:t>
            </a:r>
            <a:r>
              <a:rPr sz="1500" spc="-1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500" spc="-10" dirty="0">
                <a:latin typeface="Courier New"/>
                <a:cs typeface="Courier New"/>
              </a:rPr>
              <a:t>)); p[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500" spc="-10" dirty="0">
                <a:latin typeface="Courier New"/>
                <a:cs typeface="Courier New"/>
              </a:rPr>
              <a:t>]=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500" spc="-10" dirty="0">
                <a:latin typeface="Courier New"/>
                <a:cs typeface="Courier New"/>
              </a:rPr>
              <a:t>;</a:t>
            </a:r>
            <a:endParaRPr sz="15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500" spc="-10" dirty="0">
                <a:latin typeface="Courier New"/>
                <a:cs typeface="Courier New"/>
              </a:rPr>
              <a:t>p[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1</a:t>
            </a:r>
            <a:r>
              <a:rPr sz="1500" spc="-10" dirty="0">
                <a:latin typeface="Courier New"/>
                <a:cs typeface="Courier New"/>
              </a:rPr>
              <a:t>]=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5</a:t>
            </a:r>
            <a:r>
              <a:rPr sz="1500" spc="-10" dirty="0">
                <a:latin typeface="Courier New"/>
                <a:cs typeface="Courier New"/>
              </a:rPr>
              <a:t>;</a:t>
            </a:r>
            <a:endParaRPr sz="15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500" spc="-10" dirty="0">
                <a:latin typeface="Courier New"/>
                <a:cs typeface="Courier New"/>
              </a:rPr>
              <a:t>p[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2</a:t>
            </a:r>
            <a:r>
              <a:rPr sz="1500" spc="-10" dirty="0">
                <a:latin typeface="Courier New"/>
                <a:cs typeface="Courier New"/>
              </a:rPr>
              <a:t>]=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7</a:t>
            </a:r>
            <a:r>
              <a:rPr sz="1500" spc="-10" dirty="0">
                <a:latin typeface="Courier New"/>
                <a:cs typeface="Courier New"/>
              </a:rPr>
              <a:t>;</a:t>
            </a:r>
            <a:endParaRPr sz="15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500" spc="-10" dirty="0">
                <a:latin typeface="Courier New"/>
                <a:cs typeface="Courier New"/>
              </a:rPr>
              <a:t>p[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500" spc="-10" dirty="0">
                <a:latin typeface="Courier New"/>
                <a:cs typeface="Courier New"/>
              </a:rPr>
              <a:t>]=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9</a:t>
            </a:r>
            <a:r>
              <a:rPr sz="1500" spc="-10" dirty="0">
                <a:latin typeface="Courier New"/>
                <a:cs typeface="Courier New"/>
              </a:rPr>
              <a:t>;</a:t>
            </a:r>
            <a:endParaRPr sz="15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500" spc="-10" dirty="0">
                <a:latin typeface="Courier New"/>
                <a:cs typeface="Courier New"/>
              </a:rPr>
              <a:t>p[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500" spc="-10" dirty="0">
                <a:latin typeface="Courier New"/>
                <a:cs typeface="Courier New"/>
              </a:rPr>
              <a:t>]=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11</a:t>
            </a:r>
            <a:r>
              <a:rPr sz="1500" spc="-10" dirty="0">
                <a:latin typeface="Courier New"/>
                <a:cs typeface="Courier New"/>
              </a:rPr>
              <a:t>;</a:t>
            </a:r>
            <a:endParaRPr sz="15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500">
              <a:latin typeface="Courier New"/>
              <a:cs typeface="Courier New"/>
            </a:endParaRPr>
          </a:p>
          <a:p>
            <a:pPr marL="929640" marR="922019" indent="-459105">
              <a:lnSpc>
                <a:spcPct val="100000"/>
              </a:lnSpc>
            </a:pPr>
            <a:r>
              <a:rPr sz="1500" spc="-10" dirty="0">
                <a:solidFill>
                  <a:srgbClr val="BA2DA2"/>
                </a:solidFill>
                <a:latin typeface="Courier New"/>
                <a:cs typeface="Courier New"/>
              </a:rPr>
              <a:t>for</a:t>
            </a:r>
            <a:r>
              <a:rPr sz="1500" spc="-10" dirty="0">
                <a:latin typeface="Courier New"/>
                <a:cs typeface="Courier New"/>
              </a:rPr>
              <a:t>(i=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500" spc="-10" dirty="0">
                <a:latin typeface="Courier New"/>
                <a:cs typeface="Courier New"/>
              </a:rPr>
              <a:t>;i&lt;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5</a:t>
            </a:r>
            <a:r>
              <a:rPr sz="1500" spc="-10" dirty="0">
                <a:latin typeface="Courier New"/>
                <a:cs typeface="Courier New"/>
              </a:rPr>
              <a:t>;i++) </a:t>
            </a:r>
            <a:r>
              <a:rPr sz="1500" dirty="0">
                <a:solidFill>
                  <a:srgbClr val="3E1E81"/>
                </a:solidFill>
                <a:latin typeface="Courier New"/>
                <a:cs typeface="Courier New"/>
              </a:rPr>
              <a:t>printf</a:t>
            </a:r>
            <a:r>
              <a:rPr sz="1500" dirty="0">
                <a:latin typeface="Courier New"/>
                <a:cs typeface="Courier New"/>
              </a:rPr>
              <a:t>(</a:t>
            </a:r>
            <a:r>
              <a:rPr sz="1500" dirty="0">
                <a:solidFill>
                  <a:srgbClr val="D12F1B"/>
                </a:solidFill>
                <a:latin typeface="Courier New"/>
                <a:cs typeface="Courier New"/>
              </a:rPr>
              <a:t>"%d</a:t>
            </a:r>
            <a:r>
              <a:rPr sz="1500" spc="-5" dirty="0">
                <a:solidFill>
                  <a:srgbClr val="D12F1B"/>
                </a:solidFill>
                <a:latin typeface="Courier New"/>
                <a:cs typeface="Courier New"/>
              </a:rPr>
              <a:t> </a:t>
            </a:r>
            <a:r>
              <a:rPr sz="1500" spc="-10" dirty="0">
                <a:solidFill>
                  <a:srgbClr val="D12F1B"/>
                </a:solidFill>
                <a:latin typeface="Courier New"/>
                <a:cs typeface="Courier New"/>
              </a:rPr>
              <a:t>"</a:t>
            </a:r>
            <a:r>
              <a:rPr sz="1500" spc="-10" dirty="0">
                <a:latin typeface="Courier New"/>
                <a:cs typeface="Courier New"/>
              </a:rPr>
              <a:t>,A[i]);</a:t>
            </a:r>
            <a:endParaRPr sz="15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500">
              <a:latin typeface="Courier New"/>
              <a:cs typeface="Courier New"/>
            </a:endParaRPr>
          </a:p>
          <a:p>
            <a:pPr marL="471170" marR="1725295">
              <a:lnSpc>
                <a:spcPct val="100000"/>
              </a:lnSpc>
            </a:pPr>
            <a:r>
              <a:rPr sz="1500" spc="-10" dirty="0">
                <a:solidFill>
                  <a:srgbClr val="3E1E81"/>
                </a:solidFill>
                <a:latin typeface="Courier New"/>
                <a:cs typeface="Courier New"/>
              </a:rPr>
              <a:t>printf</a:t>
            </a:r>
            <a:r>
              <a:rPr sz="1500" spc="-10" dirty="0">
                <a:latin typeface="Courier New"/>
                <a:cs typeface="Courier New"/>
              </a:rPr>
              <a:t>(</a:t>
            </a:r>
            <a:r>
              <a:rPr sz="1500" spc="-10" dirty="0">
                <a:solidFill>
                  <a:srgbClr val="D12F1B"/>
                </a:solidFill>
                <a:latin typeface="Courier New"/>
                <a:cs typeface="Courier New"/>
              </a:rPr>
              <a:t>"\n"</a:t>
            </a:r>
            <a:r>
              <a:rPr sz="1500" spc="-10" dirty="0">
                <a:latin typeface="Courier New"/>
                <a:cs typeface="Courier New"/>
              </a:rPr>
              <a:t>); </a:t>
            </a:r>
            <a:r>
              <a:rPr sz="1500" spc="-10" dirty="0">
                <a:solidFill>
                  <a:srgbClr val="BA2DA2"/>
                </a:solidFill>
                <a:latin typeface="Courier New"/>
                <a:cs typeface="Courier New"/>
              </a:rPr>
              <a:t>for</a:t>
            </a:r>
            <a:r>
              <a:rPr sz="1500" spc="-10" dirty="0">
                <a:latin typeface="Courier New"/>
                <a:cs typeface="Courier New"/>
              </a:rPr>
              <a:t>(i=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500" spc="-10" dirty="0">
                <a:latin typeface="Courier New"/>
                <a:cs typeface="Courier New"/>
              </a:rPr>
              <a:t>;i&lt;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5</a:t>
            </a:r>
            <a:r>
              <a:rPr sz="1500" spc="-10" dirty="0">
                <a:latin typeface="Courier New"/>
                <a:cs typeface="Courier New"/>
              </a:rPr>
              <a:t>;i++)</a:t>
            </a:r>
            <a:endParaRPr sz="1500">
              <a:latin typeface="Courier New"/>
              <a:cs typeface="Courier New"/>
            </a:endParaRPr>
          </a:p>
          <a:p>
            <a:pPr marL="929640">
              <a:lnSpc>
                <a:spcPct val="100000"/>
              </a:lnSpc>
            </a:pPr>
            <a:r>
              <a:rPr sz="1500" dirty="0">
                <a:solidFill>
                  <a:srgbClr val="3E1E81"/>
                </a:solidFill>
                <a:latin typeface="Courier New"/>
                <a:cs typeface="Courier New"/>
              </a:rPr>
              <a:t>printf</a:t>
            </a:r>
            <a:r>
              <a:rPr sz="1500" dirty="0">
                <a:latin typeface="Courier New"/>
                <a:cs typeface="Courier New"/>
              </a:rPr>
              <a:t>(</a:t>
            </a:r>
            <a:r>
              <a:rPr sz="1500" dirty="0">
                <a:solidFill>
                  <a:srgbClr val="D12F1B"/>
                </a:solidFill>
                <a:latin typeface="Courier New"/>
                <a:cs typeface="Courier New"/>
              </a:rPr>
              <a:t>"%d</a:t>
            </a:r>
            <a:r>
              <a:rPr sz="1500" spc="-15" dirty="0">
                <a:solidFill>
                  <a:srgbClr val="D12F1B"/>
                </a:solidFill>
                <a:latin typeface="Courier New"/>
                <a:cs typeface="Courier New"/>
              </a:rPr>
              <a:t> </a:t>
            </a:r>
            <a:r>
              <a:rPr sz="1500" spc="-10" dirty="0">
                <a:solidFill>
                  <a:srgbClr val="D12F1B"/>
                </a:solidFill>
                <a:latin typeface="Courier New"/>
                <a:cs typeface="Courier New"/>
              </a:rPr>
              <a:t>"</a:t>
            </a:r>
            <a:r>
              <a:rPr sz="1500" spc="-10" dirty="0">
                <a:latin typeface="Courier New"/>
                <a:cs typeface="Courier New"/>
              </a:rPr>
              <a:t>,p[i]);</a:t>
            </a:r>
            <a:endParaRPr sz="15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5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500" dirty="0">
                <a:solidFill>
                  <a:srgbClr val="BA2DA2"/>
                </a:solidFill>
                <a:latin typeface="Courier New"/>
                <a:cs typeface="Courier New"/>
              </a:rPr>
              <a:t>return </a:t>
            </a:r>
            <a:r>
              <a:rPr sz="1500" spc="-25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500" spc="-25" dirty="0">
                <a:latin typeface="Courier New"/>
                <a:cs typeface="Courier New"/>
              </a:rPr>
              <a:t>;</a:t>
            </a:r>
            <a:endParaRPr sz="15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500" spc="-50" dirty="0">
                <a:latin typeface="Courier New"/>
                <a:cs typeface="Courier New"/>
              </a:rPr>
              <a:t>}</a:t>
            </a:r>
            <a:endParaRPr sz="1500"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 2: 2D</a:t>
            </a:r>
            <a:r>
              <a:rPr lang="en-US" spc="40" dirty="0" smtClean="0"/>
              <a:t> </a:t>
            </a:r>
            <a:r>
              <a:rPr lang="en-US" spc="-30" dirty="0" smtClean="0"/>
              <a:t>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object 3"/>
          <p:cNvSpPr txBox="1"/>
          <p:nvPr/>
        </p:nvSpPr>
        <p:spPr>
          <a:xfrm>
            <a:off x="341644" y="1421003"/>
            <a:ext cx="11615894" cy="43627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78492A"/>
                </a:solidFill>
                <a:latin typeface="Courier New"/>
                <a:cs typeface="Courier New"/>
              </a:rPr>
              <a:t>#include </a:t>
            </a:r>
            <a:r>
              <a:rPr sz="1200" spc="-10" dirty="0">
                <a:solidFill>
                  <a:srgbClr val="D12F1B"/>
                </a:solidFill>
                <a:latin typeface="Courier New"/>
                <a:cs typeface="Courier New"/>
              </a:rPr>
              <a:t>&lt;stdio.h&gt; </a:t>
            </a:r>
            <a:r>
              <a:rPr sz="1200" dirty="0">
                <a:solidFill>
                  <a:srgbClr val="78492A"/>
                </a:solidFill>
                <a:latin typeface="Courier New"/>
                <a:cs typeface="Courier New"/>
              </a:rPr>
              <a:t>#include </a:t>
            </a:r>
            <a:r>
              <a:rPr sz="1200" spc="-10" dirty="0">
                <a:solidFill>
                  <a:srgbClr val="D12F1B"/>
                </a:solidFill>
                <a:latin typeface="Courier New"/>
                <a:cs typeface="Courier New"/>
              </a:rPr>
              <a:t>&lt;stdlib.h&gt;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2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 </a:t>
            </a:r>
            <a:r>
              <a:rPr sz="1200" spc="-10" dirty="0">
                <a:latin typeface="Courier New"/>
                <a:cs typeface="Courier New"/>
              </a:rPr>
              <a:t>main()</a:t>
            </a:r>
            <a:endParaRPr sz="12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200" spc="-50" dirty="0">
                <a:latin typeface="Courier New"/>
                <a:cs typeface="Courier New"/>
              </a:rPr>
              <a:t>{</a:t>
            </a:r>
            <a:endParaRPr sz="12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A[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200" spc="-10" dirty="0">
                <a:latin typeface="Courier New"/>
                <a:cs typeface="Courier New"/>
              </a:rPr>
              <a:t>][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]={{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1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2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},{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2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6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8</a:t>
            </a:r>
            <a:r>
              <a:rPr sz="1200" spc="-10" dirty="0">
                <a:latin typeface="Courier New"/>
                <a:cs typeface="Courier New"/>
              </a:rPr>
              <a:t>},{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1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5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7</a:t>
            </a:r>
            <a:r>
              <a:rPr sz="1200" spc="-10" dirty="0">
                <a:latin typeface="Courier New"/>
                <a:cs typeface="Courier New"/>
              </a:rPr>
              <a:t>}};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200">
              <a:latin typeface="Courier New"/>
              <a:cs typeface="Courier New"/>
            </a:endParaRPr>
          </a:p>
          <a:p>
            <a:pPr marL="471170" marR="3903979">
              <a:lnSpc>
                <a:spcPct val="100000"/>
              </a:lnSpc>
            </a:pP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*B[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200" spc="-10" dirty="0">
                <a:latin typeface="Courier New"/>
                <a:cs typeface="Courier New"/>
              </a:rPr>
              <a:t>]; 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 </a:t>
            </a:r>
            <a:r>
              <a:rPr sz="1200" spc="-20" dirty="0">
                <a:latin typeface="Courier New"/>
                <a:cs typeface="Courier New"/>
              </a:rPr>
              <a:t>**C; 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 </a:t>
            </a:r>
            <a:r>
              <a:rPr sz="1200" spc="-20" dirty="0">
                <a:latin typeface="Courier New"/>
                <a:cs typeface="Courier New"/>
              </a:rPr>
              <a:t>i,j;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sz="1200">
              <a:latin typeface="Courier New"/>
              <a:cs typeface="Courier New"/>
            </a:endParaRPr>
          </a:p>
          <a:p>
            <a:pPr marL="471170" marR="1151890" algn="just">
              <a:lnSpc>
                <a:spcPct val="100000"/>
              </a:lnSpc>
            </a:pPr>
            <a:r>
              <a:rPr sz="1200" dirty="0">
                <a:latin typeface="Courier New"/>
                <a:cs typeface="Courier New"/>
              </a:rPr>
              <a:t>B[</a:t>
            </a:r>
            <a:r>
              <a:rPr sz="1200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200" dirty="0">
                <a:latin typeface="Courier New"/>
                <a:cs typeface="Courier New"/>
              </a:rPr>
              <a:t>]=(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2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*)</a:t>
            </a:r>
            <a:r>
              <a:rPr sz="1200" spc="-1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*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latin typeface="Courier New"/>
                <a:cs typeface="Courier New"/>
              </a:rPr>
              <a:t>)); </a:t>
            </a:r>
            <a:r>
              <a:rPr sz="1200" dirty="0">
                <a:latin typeface="Courier New"/>
                <a:cs typeface="Courier New"/>
              </a:rPr>
              <a:t>B[</a:t>
            </a:r>
            <a:r>
              <a:rPr sz="1200" dirty="0">
                <a:solidFill>
                  <a:srgbClr val="272AD8"/>
                </a:solidFill>
                <a:latin typeface="Courier New"/>
                <a:cs typeface="Courier New"/>
              </a:rPr>
              <a:t>1</a:t>
            </a:r>
            <a:r>
              <a:rPr sz="1200" dirty="0">
                <a:latin typeface="Courier New"/>
                <a:cs typeface="Courier New"/>
              </a:rPr>
              <a:t>]=(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2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*)</a:t>
            </a:r>
            <a:r>
              <a:rPr sz="1200" spc="-1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*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latin typeface="Courier New"/>
                <a:cs typeface="Courier New"/>
              </a:rPr>
              <a:t>)); </a:t>
            </a:r>
            <a:r>
              <a:rPr sz="1200" dirty="0">
                <a:latin typeface="Courier New"/>
                <a:cs typeface="Courier New"/>
              </a:rPr>
              <a:t>B[</a:t>
            </a:r>
            <a:r>
              <a:rPr sz="1200" dirty="0">
                <a:solidFill>
                  <a:srgbClr val="272AD8"/>
                </a:solidFill>
                <a:latin typeface="Courier New"/>
                <a:cs typeface="Courier New"/>
              </a:rPr>
              <a:t>2</a:t>
            </a:r>
            <a:r>
              <a:rPr sz="1200" dirty="0">
                <a:latin typeface="Courier New"/>
                <a:cs typeface="Courier New"/>
              </a:rPr>
              <a:t>]=(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2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*)</a:t>
            </a:r>
            <a:r>
              <a:rPr sz="1200" spc="-1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*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latin typeface="Courier New"/>
                <a:cs typeface="Courier New"/>
              </a:rPr>
              <a:t>));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sz="1200">
              <a:latin typeface="Courier New"/>
              <a:cs typeface="Courier New"/>
            </a:endParaRPr>
          </a:p>
          <a:p>
            <a:pPr marL="471170" marR="1151890" algn="just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latin typeface="Courier New"/>
                <a:cs typeface="Courier New"/>
              </a:rPr>
              <a:t>C=(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**)</a:t>
            </a:r>
            <a:r>
              <a:rPr sz="120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200" dirty="0">
                <a:latin typeface="Courier New"/>
                <a:cs typeface="Courier New"/>
              </a:rPr>
              <a:t>(</a:t>
            </a:r>
            <a:r>
              <a:rPr sz="120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200" dirty="0">
                <a:latin typeface="Courier New"/>
                <a:cs typeface="Courier New"/>
              </a:rPr>
              <a:t>*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200" dirty="0">
                <a:latin typeface="Courier New"/>
                <a:cs typeface="Courier New"/>
              </a:rPr>
              <a:t>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*)); </a:t>
            </a:r>
            <a:r>
              <a:rPr sz="1200" dirty="0">
                <a:latin typeface="Courier New"/>
                <a:cs typeface="Courier New"/>
              </a:rPr>
              <a:t>C[</a:t>
            </a:r>
            <a:r>
              <a:rPr sz="1200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200" dirty="0">
                <a:latin typeface="Courier New"/>
                <a:cs typeface="Courier New"/>
              </a:rPr>
              <a:t>]=(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2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*)</a:t>
            </a:r>
            <a:r>
              <a:rPr sz="1200" spc="-1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*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latin typeface="Courier New"/>
                <a:cs typeface="Courier New"/>
              </a:rPr>
              <a:t>)); </a:t>
            </a:r>
            <a:r>
              <a:rPr sz="1200" dirty="0">
                <a:latin typeface="Courier New"/>
                <a:cs typeface="Courier New"/>
              </a:rPr>
              <a:t>C[</a:t>
            </a:r>
            <a:r>
              <a:rPr sz="1200" dirty="0">
                <a:solidFill>
                  <a:srgbClr val="272AD8"/>
                </a:solidFill>
                <a:latin typeface="Courier New"/>
                <a:cs typeface="Courier New"/>
              </a:rPr>
              <a:t>1</a:t>
            </a:r>
            <a:r>
              <a:rPr sz="1200" dirty="0">
                <a:latin typeface="Courier New"/>
                <a:cs typeface="Courier New"/>
              </a:rPr>
              <a:t>]=(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2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*)</a:t>
            </a:r>
            <a:r>
              <a:rPr sz="1200" spc="-1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*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latin typeface="Courier New"/>
                <a:cs typeface="Courier New"/>
              </a:rPr>
              <a:t>)); </a:t>
            </a:r>
            <a:r>
              <a:rPr sz="1200" dirty="0">
                <a:latin typeface="Courier New"/>
                <a:cs typeface="Courier New"/>
              </a:rPr>
              <a:t>C[</a:t>
            </a:r>
            <a:r>
              <a:rPr sz="1200" dirty="0">
                <a:solidFill>
                  <a:srgbClr val="272AD8"/>
                </a:solidFill>
                <a:latin typeface="Courier New"/>
                <a:cs typeface="Courier New"/>
              </a:rPr>
              <a:t>2</a:t>
            </a:r>
            <a:r>
              <a:rPr sz="1200" dirty="0">
                <a:latin typeface="Courier New"/>
                <a:cs typeface="Courier New"/>
              </a:rPr>
              <a:t>]=(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2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*)</a:t>
            </a:r>
            <a:r>
              <a:rPr sz="1200" spc="-1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*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latin typeface="Courier New"/>
                <a:cs typeface="Courier New"/>
              </a:rPr>
              <a:t>));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2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for</a:t>
            </a:r>
            <a:r>
              <a:rPr sz="1200" spc="-10" dirty="0">
                <a:latin typeface="Courier New"/>
                <a:cs typeface="Courier New"/>
              </a:rPr>
              <a:t>(i=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200" spc="-10" dirty="0">
                <a:latin typeface="Courier New"/>
                <a:cs typeface="Courier New"/>
              </a:rPr>
              <a:t>;i&lt;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200" spc="-10" dirty="0">
                <a:latin typeface="Courier New"/>
                <a:cs typeface="Courier New"/>
              </a:rPr>
              <a:t>;i++)</a:t>
            </a:r>
            <a:endParaRPr sz="12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200" spc="-50" dirty="0">
                <a:latin typeface="Courier New"/>
                <a:cs typeface="Courier New"/>
              </a:rPr>
              <a:t>{</a:t>
            </a:r>
            <a:endParaRPr sz="1200">
              <a:latin typeface="Courier New"/>
              <a:cs typeface="Courier New"/>
            </a:endParaRPr>
          </a:p>
          <a:p>
            <a:pPr marL="1388745" marR="1610360" indent="-459105">
              <a:lnSpc>
                <a:spcPct val="100000"/>
              </a:lnSpc>
            </a:pP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for</a:t>
            </a:r>
            <a:r>
              <a:rPr sz="1200" spc="-10" dirty="0">
                <a:latin typeface="Courier New"/>
                <a:cs typeface="Courier New"/>
              </a:rPr>
              <a:t>(j=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200" spc="-10" dirty="0">
                <a:latin typeface="Courier New"/>
                <a:cs typeface="Courier New"/>
              </a:rPr>
              <a:t>;j&lt;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;j++) </a:t>
            </a:r>
            <a:r>
              <a:rPr sz="1200" dirty="0">
                <a:solidFill>
                  <a:srgbClr val="3E1E81"/>
                </a:solidFill>
                <a:latin typeface="Courier New"/>
                <a:cs typeface="Courier New"/>
              </a:rPr>
              <a:t>printf</a:t>
            </a:r>
            <a:r>
              <a:rPr sz="1200" dirty="0">
                <a:latin typeface="Courier New"/>
                <a:cs typeface="Courier New"/>
              </a:rPr>
              <a:t>(</a:t>
            </a:r>
            <a:r>
              <a:rPr sz="1200" dirty="0">
                <a:solidFill>
                  <a:srgbClr val="D12F1B"/>
                </a:solidFill>
                <a:latin typeface="Courier New"/>
                <a:cs typeface="Courier New"/>
              </a:rPr>
              <a:t>"%d</a:t>
            </a:r>
            <a:r>
              <a:rPr sz="1200" spc="-5" dirty="0">
                <a:solidFill>
                  <a:srgbClr val="D12F1B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solidFill>
                  <a:srgbClr val="D12F1B"/>
                </a:solidFill>
                <a:latin typeface="Courier New"/>
                <a:cs typeface="Courier New"/>
              </a:rPr>
              <a:t>"</a:t>
            </a:r>
            <a:r>
              <a:rPr sz="1200" spc="-10" dirty="0">
                <a:latin typeface="Courier New"/>
                <a:cs typeface="Courier New"/>
              </a:rPr>
              <a:t>,C[i][j]);</a:t>
            </a:r>
            <a:endParaRPr sz="1200">
              <a:latin typeface="Courier New"/>
              <a:cs typeface="Courier New"/>
            </a:endParaRPr>
          </a:p>
          <a:p>
            <a:pPr marL="929640">
              <a:lnSpc>
                <a:spcPct val="100000"/>
              </a:lnSpc>
            </a:pPr>
            <a:r>
              <a:rPr sz="1200" spc="-10" dirty="0">
                <a:solidFill>
                  <a:srgbClr val="3E1E81"/>
                </a:solidFill>
                <a:latin typeface="Courier New"/>
                <a:cs typeface="Courier New"/>
              </a:rPr>
              <a:t>printf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D12F1B"/>
                </a:solidFill>
                <a:latin typeface="Courier New"/>
                <a:cs typeface="Courier New"/>
              </a:rPr>
              <a:t>"\n"</a:t>
            </a:r>
            <a:r>
              <a:rPr sz="1200" spc="-10" dirty="0">
                <a:latin typeface="Courier New"/>
                <a:cs typeface="Courier New"/>
              </a:rPr>
              <a:t>);</a:t>
            </a:r>
            <a:endParaRPr sz="12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200" spc="-50" dirty="0">
                <a:latin typeface="Courier New"/>
                <a:cs typeface="Courier New"/>
              </a:rPr>
              <a:t>}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2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return </a:t>
            </a:r>
            <a:r>
              <a:rPr sz="1200" spc="-25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200" spc="-25" dirty="0">
                <a:latin typeface="Courier New"/>
                <a:cs typeface="Courier New"/>
              </a:rPr>
              <a:t>;</a:t>
            </a:r>
            <a:endParaRPr sz="12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200" spc="-50" dirty="0">
                <a:latin typeface="Courier New"/>
                <a:cs typeface="Courier New"/>
              </a:rPr>
              <a:t>}</a:t>
            </a:r>
            <a:endParaRPr sz="1200"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 3: 2D</a:t>
            </a:r>
            <a:r>
              <a:rPr lang="en-US" spc="40" dirty="0" smtClean="0"/>
              <a:t> </a:t>
            </a:r>
            <a:r>
              <a:rPr lang="en-US" spc="-30" dirty="0" smtClean="0"/>
              <a:t>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object 3"/>
          <p:cNvSpPr txBox="1"/>
          <p:nvPr/>
        </p:nvSpPr>
        <p:spPr>
          <a:xfrm>
            <a:off x="341644" y="1421003"/>
            <a:ext cx="11615894" cy="414472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#include&lt;</a:t>
            </a:r>
            <a:r>
              <a:rPr lang="en-US" sz="1600" b="1" dirty="0" err="1" smtClean="0">
                <a:latin typeface="Roboto"/>
                <a:cs typeface="Courier New"/>
              </a:rPr>
              <a:t>stdio.h</a:t>
            </a:r>
            <a:r>
              <a:rPr lang="en-US" sz="1600" b="1" dirty="0" smtClean="0">
                <a:latin typeface="Roboto"/>
                <a:cs typeface="Courier New"/>
              </a:rPr>
              <a:t>&gt;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err="1" smtClean="0">
                <a:latin typeface="Roboto"/>
                <a:cs typeface="Courier New"/>
              </a:rPr>
              <a:t>int</a:t>
            </a:r>
            <a:r>
              <a:rPr lang="en-US" sz="1600" b="1" dirty="0" smtClean="0">
                <a:latin typeface="Roboto"/>
                <a:cs typeface="Courier New"/>
              </a:rPr>
              <a:t> main()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{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</a:t>
            </a:r>
            <a:r>
              <a:rPr lang="en-US" sz="1600" b="1" dirty="0" err="1" smtClean="0">
                <a:latin typeface="Roboto"/>
                <a:cs typeface="Courier New"/>
              </a:rPr>
              <a:t>int</a:t>
            </a:r>
            <a:r>
              <a:rPr lang="en-US" sz="1600" b="1" dirty="0" smtClean="0">
                <a:latin typeface="Roboto"/>
                <a:cs typeface="Courier New"/>
              </a:rPr>
              <a:t> A[3][3],</a:t>
            </a:r>
            <a:r>
              <a:rPr lang="en-US" sz="1600" b="1" dirty="0" err="1" smtClean="0">
                <a:latin typeface="Roboto"/>
                <a:cs typeface="Courier New"/>
              </a:rPr>
              <a:t>i,j</a:t>
            </a:r>
            <a:r>
              <a:rPr lang="en-US" sz="1600" b="1" dirty="0" smtClean="0">
                <a:latin typeface="Roboto"/>
                <a:cs typeface="Courier New"/>
              </a:rPr>
              <a:t>;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</a:t>
            </a:r>
            <a:r>
              <a:rPr lang="en-US" sz="1600" b="1" dirty="0" err="1" smtClean="0">
                <a:latin typeface="Roboto"/>
                <a:cs typeface="Courier New"/>
              </a:rPr>
              <a:t>printf</a:t>
            </a:r>
            <a:r>
              <a:rPr lang="en-US" sz="1600" b="1" dirty="0" smtClean="0">
                <a:latin typeface="Roboto"/>
                <a:cs typeface="Courier New"/>
              </a:rPr>
              <a:t>("Size of integer variable : %d </a:t>
            </a:r>
            <a:r>
              <a:rPr lang="en-US" sz="1600" b="1" dirty="0" err="1" smtClean="0">
                <a:latin typeface="Roboto"/>
                <a:cs typeface="Courier New"/>
              </a:rPr>
              <a:t>Bytes",sizeof</a:t>
            </a:r>
            <a:r>
              <a:rPr lang="en-US" sz="1600" b="1" dirty="0" smtClean="0">
                <a:latin typeface="Roboto"/>
                <a:cs typeface="Courier New"/>
              </a:rPr>
              <a:t>(</a:t>
            </a:r>
            <a:r>
              <a:rPr lang="en-US" sz="1600" b="1" dirty="0" err="1" smtClean="0">
                <a:latin typeface="Roboto"/>
                <a:cs typeface="Courier New"/>
              </a:rPr>
              <a:t>int</a:t>
            </a:r>
            <a:r>
              <a:rPr lang="en-US" sz="1600" b="1" dirty="0" smtClean="0">
                <a:latin typeface="Roboto"/>
                <a:cs typeface="Courier New"/>
              </a:rPr>
              <a:t>));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</a:t>
            </a:r>
            <a:r>
              <a:rPr lang="en-US" sz="1600" b="1" dirty="0" err="1" smtClean="0">
                <a:latin typeface="Roboto"/>
                <a:cs typeface="Courier New"/>
              </a:rPr>
              <a:t>printf</a:t>
            </a:r>
            <a:r>
              <a:rPr lang="en-US" sz="1600" b="1" dirty="0" smtClean="0">
                <a:latin typeface="Roboto"/>
                <a:cs typeface="Courier New"/>
              </a:rPr>
              <a:t>("\</a:t>
            </a:r>
            <a:r>
              <a:rPr lang="en-US" sz="1600" b="1" dirty="0" err="1" smtClean="0">
                <a:latin typeface="Roboto"/>
                <a:cs typeface="Courier New"/>
              </a:rPr>
              <a:t>nEnter</a:t>
            </a:r>
            <a:r>
              <a:rPr lang="en-US" sz="1600" b="1" dirty="0" smtClean="0">
                <a:latin typeface="Roboto"/>
                <a:cs typeface="Courier New"/>
              </a:rPr>
              <a:t> array elements : \n");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for(</a:t>
            </a:r>
            <a:r>
              <a:rPr lang="en-US" sz="1600" b="1" dirty="0" err="1" smtClean="0">
                <a:latin typeface="Roboto"/>
                <a:cs typeface="Courier New"/>
              </a:rPr>
              <a:t>i</a:t>
            </a:r>
            <a:r>
              <a:rPr lang="en-US" sz="1600" b="1" dirty="0" smtClean="0">
                <a:latin typeface="Roboto"/>
                <a:cs typeface="Courier New"/>
              </a:rPr>
              <a:t>=0;i&lt;3;i++)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    for(j=0;j&lt;3;j++)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	</a:t>
            </a:r>
            <a:r>
              <a:rPr lang="en-US" sz="1600" b="1" dirty="0" err="1" smtClean="0">
                <a:latin typeface="Roboto"/>
                <a:cs typeface="Courier New"/>
              </a:rPr>
              <a:t>scanf</a:t>
            </a:r>
            <a:r>
              <a:rPr lang="en-US" sz="1600" b="1" dirty="0" smtClean="0">
                <a:latin typeface="Roboto"/>
                <a:cs typeface="Courier New"/>
              </a:rPr>
              <a:t>("%</a:t>
            </a:r>
            <a:r>
              <a:rPr lang="en-US" sz="1600" b="1" dirty="0" err="1" smtClean="0">
                <a:latin typeface="Roboto"/>
                <a:cs typeface="Courier New"/>
              </a:rPr>
              <a:t>d",&amp;A</a:t>
            </a:r>
            <a:r>
              <a:rPr lang="en-US" sz="1600" b="1" dirty="0" smtClean="0">
                <a:latin typeface="Roboto"/>
                <a:cs typeface="Courier New"/>
              </a:rPr>
              <a:t>[</a:t>
            </a:r>
            <a:r>
              <a:rPr lang="en-US" sz="1600" b="1" dirty="0" err="1" smtClean="0">
                <a:latin typeface="Roboto"/>
                <a:cs typeface="Courier New"/>
              </a:rPr>
              <a:t>i</a:t>
            </a:r>
            <a:r>
              <a:rPr lang="en-US" sz="1600" b="1" dirty="0" smtClean="0">
                <a:latin typeface="Roboto"/>
                <a:cs typeface="Courier New"/>
              </a:rPr>
              <a:t>][j]);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endParaRPr lang="en-US" sz="1600" b="1" dirty="0" smtClean="0">
              <a:latin typeface="Roboto"/>
              <a:cs typeface="Courier New"/>
            </a:endParaRP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</a:t>
            </a:r>
            <a:r>
              <a:rPr lang="en-US" sz="1600" b="1" dirty="0" err="1" smtClean="0">
                <a:latin typeface="Roboto"/>
                <a:cs typeface="Courier New"/>
              </a:rPr>
              <a:t>printf</a:t>
            </a:r>
            <a:r>
              <a:rPr lang="en-US" sz="1600" b="1" dirty="0" smtClean="0">
                <a:latin typeface="Roboto"/>
                <a:cs typeface="Courier New"/>
              </a:rPr>
              <a:t>("\</a:t>
            </a:r>
            <a:r>
              <a:rPr lang="en-US" sz="1600" b="1" dirty="0" err="1" smtClean="0">
                <a:latin typeface="Roboto"/>
                <a:cs typeface="Courier New"/>
              </a:rPr>
              <a:t>nRow</a:t>
            </a:r>
            <a:r>
              <a:rPr lang="en-US" sz="1600" b="1" dirty="0" smtClean="0">
                <a:latin typeface="Roboto"/>
                <a:cs typeface="Courier New"/>
              </a:rPr>
              <a:t> Col - Address - Values ");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for(</a:t>
            </a:r>
            <a:r>
              <a:rPr lang="en-US" sz="1600" b="1" dirty="0" err="1" smtClean="0">
                <a:latin typeface="Roboto"/>
                <a:cs typeface="Courier New"/>
              </a:rPr>
              <a:t>i</a:t>
            </a:r>
            <a:r>
              <a:rPr lang="en-US" sz="1600" b="1" dirty="0" smtClean="0">
                <a:latin typeface="Roboto"/>
                <a:cs typeface="Courier New"/>
              </a:rPr>
              <a:t>=0;i&lt;3;i++)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    for(j=0;j&lt;3;j++)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	</a:t>
            </a:r>
            <a:r>
              <a:rPr lang="en-US" sz="1600" b="1" dirty="0" err="1" smtClean="0">
                <a:latin typeface="Roboto"/>
                <a:cs typeface="Courier New"/>
              </a:rPr>
              <a:t>printf</a:t>
            </a:r>
            <a:r>
              <a:rPr lang="en-US" sz="1600" b="1" dirty="0" smtClean="0">
                <a:latin typeface="Roboto"/>
                <a:cs typeface="Courier New"/>
              </a:rPr>
              <a:t>("\n %d  %d   - %u   - %</a:t>
            </a:r>
            <a:r>
              <a:rPr lang="en-US" sz="1600" b="1" dirty="0" err="1" smtClean="0">
                <a:latin typeface="Roboto"/>
                <a:cs typeface="Courier New"/>
              </a:rPr>
              <a:t>d",i,j,&amp;A</a:t>
            </a:r>
            <a:r>
              <a:rPr lang="en-US" sz="1600" b="1" dirty="0" smtClean="0">
                <a:latin typeface="Roboto"/>
                <a:cs typeface="Courier New"/>
              </a:rPr>
              <a:t>[</a:t>
            </a:r>
            <a:r>
              <a:rPr lang="en-US" sz="1600" b="1" dirty="0" err="1" smtClean="0">
                <a:latin typeface="Roboto"/>
                <a:cs typeface="Courier New"/>
              </a:rPr>
              <a:t>i</a:t>
            </a:r>
            <a:r>
              <a:rPr lang="en-US" sz="1600" b="1" dirty="0" smtClean="0">
                <a:latin typeface="Roboto"/>
                <a:cs typeface="Courier New"/>
              </a:rPr>
              <a:t>][j],A[</a:t>
            </a:r>
            <a:r>
              <a:rPr lang="en-US" sz="1600" b="1" dirty="0" err="1" smtClean="0">
                <a:latin typeface="Roboto"/>
                <a:cs typeface="Courier New"/>
              </a:rPr>
              <a:t>i</a:t>
            </a:r>
            <a:r>
              <a:rPr lang="en-US" sz="1600" b="1" dirty="0" smtClean="0">
                <a:latin typeface="Roboto"/>
                <a:cs typeface="Courier New"/>
              </a:rPr>
              <a:t>][j]);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}</a:t>
            </a:r>
            <a:endParaRPr sz="1600" b="1">
              <a:latin typeface="Roboto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Question: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4" y="1500188"/>
            <a:ext cx="11630025" cy="4175125"/>
          </a:xfrm>
        </p:spPr>
        <p:txBody>
          <a:bodyPr/>
          <a:lstStyle/>
          <a:p>
            <a:r>
              <a:rPr smtClean="0"/>
              <a:t>Maximum Subarray Sum</a:t>
            </a:r>
          </a:p>
          <a:p>
            <a:r>
              <a:rPr smtClean="0"/>
              <a:t>Implement a function that takes an input a vector of integers, and prints the maximum subarray sum that can be formed. A </a:t>
            </a:r>
            <a:r>
              <a:rPr b="1" smtClean="0"/>
              <a:t>subarray</a:t>
            </a:r>
            <a:r>
              <a:rPr smtClean="0"/>
              <a:t> is defined as consecutive segment of the array. If all numbers are negative, then return 0.</a:t>
            </a:r>
          </a:p>
          <a:p>
            <a:r>
              <a:rPr b="1" smtClean="0"/>
              <a:t>Input</a:t>
            </a:r>
            <a:endParaRPr smtClean="0"/>
          </a:p>
          <a:p>
            <a:r>
              <a:rPr smtClean="0"/>
              <a:t>{-1,2,3,4,-2,6,-8,3}</a:t>
            </a:r>
          </a:p>
          <a:p>
            <a:r>
              <a:rPr b="1" smtClean="0"/>
              <a:t>Output</a:t>
            </a:r>
            <a:endParaRPr smtClean="0"/>
          </a:p>
          <a:p>
            <a:r>
              <a:rPr smtClean="0"/>
              <a:t>13</a:t>
            </a:r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Solution: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4" y="1500188"/>
            <a:ext cx="9749867" cy="4175125"/>
          </a:xfrm>
        </p:spPr>
        <p:txBody>
          <a:bodyPr numCol="2">
            <a:normAutofit fontScale="77500" lnSpcReduction="20000"/>
          </a:bodyPr>
          <a:lstStyle/>
          <a:p>
            <a:r>
              <a:rPr smtClean="0"/>
              <a:t>#include&lt;vector&gt;</a:t>
            </a:r>
          </a:p>
          <a:p>
            <a:r>
              <a:rPr smtClean="0"/>
              <a:t>using namespace std;</a:t>
            </a:r>
          </a:p>
          <a:p>
            <a:endParaRPr smtClean="0"/>
          </a:p>
          <a:p>
            <a:r>
              <a:rPr smtClean="0"/>
              <a:t>int maxSubarraySum(vector&lt;int&gt; arr){</a:t>
            </a:r>
          </a:p>
          <a:p>
            <a:r>
              <a:rPr smtClean="0"/>
              <a:t>    // Complete this function, your function should return the maximum subarray sum</a:t>
            </a:r>
          </a:p>
          <a:p>
            <a:r>
              <a:rPr smtClean="0"/>
              <a:t>    </a:t>
            </a:r>
          </a:p>
          <a:p>
            <a:r>
              <a:rPr smtClean="0"/>
              <a:t>    int n = arr.size();</a:t>
            </a:r>
          </a:p>
          <a:p>
            <a:r>
              <a:rPr smtClean="0"/>
              <a:t>    </a:t>
            </a:r>
          </a:p>
          <a:p>
            <a:r>
              <a:rPr smtClean="0"/>
              <a:t>    int current_sum = 0;   // stores sum of current subarray</a:t>
            </a:r>
          </a:p>
          <a:p>
            <a:r>
              <a:rPr smtClean="0"/>
              <a:t>    int max_sum = 0;       // stores maximum sum found so far</a:t>
            </a:r>
          </a:p>
          <a:p>
            <a:r>
              <a:rPr smtClean="0"/>
              <a:t>    </a:t>
            </a:r>
          </a:p>
          <a:p>
            <a:r>
              <a:rPr smtClean="0"/>
              <a:t>    for(int i = 0; i &lt; n; i++){</a:t>
            </a:r>
          </a:p>
          <a:p>
            <a:r>
              <a:rPr smtClean="0"/>
              <a:t>        </a:t>
            </a:r>
          </a:p>
          <a:p>
            <a:r>
              <a:rPr smtClean="0"/>
              <a:t>        current_sum += arr[i];   // add current element</a:t>
            </a:r>
          </a:p>
          <a:p>
            <a:r>
              <a:rPr smtClean="0"/>
              <a:t>        </a:t>
            </a:r>
          </a:p>
          <a:p>
            <a:r>
              <a:rPr smtClean="0"/>
              <a:t>        if(current_sum &lt; 0){</a:t>
            </a:r>
          </a:p>
          <a:p>
            <a:r>
              <a:rPr smtClean="0"/>
              <a:t>            current_sum = 0;     // reset if sum becomes negative</a:t>
            </a:r>
          </a:p>
          <a:p>
            <a:r>
              <a:rPr smtClean="0"/>
              <a:t>        }</a:t>
            </a:r>
          </a:p>
          <a:p>
            <a:r>
              <a:rPr smtClean="0"/>
              <a:t>        </a:t>
            </a:r>
          </a:p>
          <a:p>
            <a:r>
              <a:rPr smtClean="0"/>
              <a:t>        if(current_sum &gt; max_sum){</a:t>
            </a:r>
          </a:p>
          <a:p>
            <a:r>
              <a:rPr smtClean="0"/>
              <a:t>            max_sum = current_sum;   // update maximum</a:t>
            </a:r>
          </a:p>
          <a:p>
            <a:r>
              <a:rPr smtClean="0"/>
              <a:t>        }</a:t>
            </a:r>
          </a:p>
          <a:p>
            <a:r>
              <a:rPr smtClean="0"/>
              <a:t>    }</a:t>
            </a:r>
          </a:p>
          <a:p>
            <a:r>
              <a:rPr smtClean="0"/>
              <a:t>    </a:t>
            </a:r>
          </a:p>
          <a:p>
            <a:r>
              <a:rPr smtClean="0"/>
              <a:t>    return max_sum;</a:t>
            </a:r>
          </a:p>
          <a:p>
            <a:r>
              <a:rPr smtClean="0"/>
              <a:t>}</a:t>
            </a:r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Quiz: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Let A be a two- dimensional array declared as follows:</a:t>
            </a:r>
          </a:p>
          <a:p>
            <a:r>
              <a:rPr b="1" smtClean="0"/>
              <a:t>A : array [1……10] [1……15] of integer;</a:t>
            </a:r>
            <a:endParaRPr smtClean="0"/>
          </a:p>
          <a:p>
            <a:r>
              <a:rPr smtClean="0"/>
              <a:t>Assuming that each integer takes one memory location . The array is stored in row-major order and the first element of the array is stored at location 100 , what is the address of the element  A[i][j] ?</a:t>
            </a:r>
          </a:p>
          <a:p>
            <a:endParaRPr smtClean="0"/>
          </a:p>
          <a:p>
            <a:pPr marL="342900" indent="-342900">
              <a:buAutoNum type="alphaUcPeriod"/>
            </a:pPr>
            <a:r>
              <a:rPr smtClean="0"/>
              <a:t>15i+j+84</a:t>
            </a:r>
          </a:p>
          <a:p>
            <a:pPr marL="342900" indent="-342900">
              <a:buAutoNum type="alphaUcPeriod"/>
            </a:pPr>
            <a:r>
              <a:rPr smtClean="0"/>
              <a:t>15i+j+86</a:t>
            </a:r>
          </a:p>
          <a:p>
            <a:pPr marL="342900" indent="-342900">
              <a:buAutoNum type="alphaUcPeriod"/>
            </a:pPr>
            <a:r>
              <a:rPr smtClean="0"/>
              <a:t>10i+j+84</a:t>
            </a:r>
          </a:p>
          <a:p>
            <a:pPr marL="342900" indent="-342900">
              <a:buAutoNum type="alphaUcPeriod"/>
            </a:pPr>
            <a:r>
              <a:rPr smtClean="0"/>
              <a:t>i+10j+84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Quiz: 1: Solution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smtClean="0"/>
              <a:t>Let A be a two- dimensional array declared as follows:</a:t>
            </a:r>
          </a:p>
          <a:p>
            <a:r>
              <a:rPr b="1" smtClean="0"/>
              <a:t>A : array [1……10] [1……15] of integer;</a:t>
            </a:r>
            <a:endParaRPr smtClean="0"/>
          </a:p>
          <a:p>
            <a:r>
              <a:rPr smtClean="0"/>
              <a:t>Assuming that each integer takes one memory location . The array is stored in row-major order and the first element of the array is stored at location 100 , what is the address of the element  A[i][j] ?</a:t>
            </a:r>
          </a:p>
          <a:p>
            <a:r>
              <a:rPr smtClean="0"/>
              <a:t>Address(A[i][j])=Base Address+[(i−L1​)×N+(j−L2​)]×Size</a:t>
            </a:r>
          </a:p>
          <a:p>
            <a:r>
              <a:rPr smtClean="0"/>
              <a:t>Address(A[i][j])=100+[(i−1)×15+(j−1)]</a:t>
            </a:r>
          </a:p>
          <a:p>
            <a:pPr marL="342900" indent="-342900">
              <a:buAutoNum type="alphaUcPeriod"/>
            </a:pPr>
            <a:r>
              <a:rPr smtClean="0">
                <a:solidFill>
                  <a:srgbClr val="FF0000"/>
                </a:solidFill>
              </a:rPr>
              <a:t>15i+j+84</a:t>
            </a:r>
          </a:p>
          <a:p>
            <a:pPr marL="342900" indent="-342900">
              <a:buAutoNum type="alphaUcPeriod"/>
            </a:pPr>
            <a:r>
              <a:rPr smtClean="0"/>
              <a:t>15i+j+86</a:t>
            </a:r>
          </a:p>
          <a:p>
            <a:pPr marL="342900" indent="-342900">
              <a:buAutoNum type="alphaUcPeriod"/>
            </a:pPr>
            <a:r>
              <a:rPr smtClean="0"/>
              <a:t>10i+j+84</a:t>
            </a:r>
          </a:p>
          <a:p>
            <a:pPr marL="342900" indent="-342900">
              <a:buAutoNum type="alphaUcPeriod"/>
            </a:pPr>
            <a:r>
              <a:rPr smtClean="0"/>
              <a:t>i+10j+84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Quiz: 2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b="1" smtClean="0"/>
              <a:t>What is the output of the following C code? Assume that the address of x is 2000 (in decimal) and an integer requires four bytes of memory.</a:t>
            </a:r>
            <a:endParaRPr smtClean="0"/>
          </a:p>
          <a:p>
            <a:r>
              <a:rPr smtClean="0"/>
              <a:t>        int main( )</a:t>
            </a:r>
          </a:p>
          <a:p>
            <a:r>
              <a:rPr smtClean="0"/>
              <a:t>{ unsigned int x[4] [3] ={{1, 2, 3}, {4, 5, 6}, {7, 8, 9}, (10, 11, 12}}; </a:t>
            </a:r>
          </a:p>
          <a:p>
            <a:r>
              <a:rPr smtClean="0"/>
              <a:t>printf("%u,%u, %u", x+3, *(x+3),*(x+2)+3);</a:t>
            </a:r>
          </a:p>
          <a:p>
            <a:r>
              <a:rPr smtClean="0"/>
              <a:t>}</a:t>
            </a:r>
          </a:p>
          <a:p>
            <a:endParaRPr smtClean="0"/>
          </a:p>
          <a:p>
            <a:pPr marL="342900" indent="-342900">
              <a:buAutoNum type="alphaUcPeriod"/>
            </a:pPr>
            <a:r>
              <a:rPr smtClean="0"/>
              <a:t>2036, 2036, 2036</a:t>
            </a:r>
          </a:p>
          <a:p>
            <a:pPr marL="342900" indent="-342900">
              <a:buAutoNum type="alphaUcPeriod"/>
            </a:pPr>
            <a:r>
              <a:rPr smtClean="0"/>
              <a:t>2036, 10, 10</a:t>
            </a:r>
          </a:p>
          <a:p>
            <a:pPr marL="342900" indent="-342900">
              <a:buFont typeface="Wingdings" panose="05000000000000000000" pitchFamily="2" charset="2"/>
              <a:buAutoNum type="alphaUcPeriod"/>
            </a:pPr>
            <a:r>
              <a:rPr smtClean="0"/>
              <a:t>2036, 4, 10</a:t>
            </a:r>
          </a:p>
          <a:p>
            <a:pPr marL="342900" indent="-342900">
              <a:buAutoNum type="alphaUcPeriod"/>
            </a:pPr>
            <a:r>
              <a:rPr smtClean="0"/>
              <a:t>2036, 36, 20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Quiz: 2: Solution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b="1" smtClean="0"/>
              <a:t>What is the output of the following C code? Assume that the address of x is 2000 (in decimal) and an integer requires four bytes of memory.</a:t>
            </a:r>
            <a:endParaRPr smtClean="0"/>
          </a:p>
          <a:p>
            <a:r>
              <a:rPr smtClean="0"/>
              <a:t>        int main( )</a:t>
            </a:r>
          </a:p>
          <a:p>
            <a:r>
              <a:rPr smtClean="0"/>
              <a:t>{ unsigned int x[4] [3] ={{1, 2, 3}, {4, 5, 6}, {7, 8, 9}, (10, 11, 12}}; </a:t>
            </a:r>
          </a:p>
          <a:p>
            <a:r>
              <a:rPr smtClean="0"/>
              <a:t>printf("%u,%u, %u", x+3, *(x+3),*(x+2)+3);</a:t>
            </a:r>
          </a:p>
          <a:p>
            <a:r>
              <a:rPr smtClean="0"/>
              <a:t>}</a:t>
            </a:r>
          </a:p>
          <a:p>
            <a:r>
              <a:rPr smtClean="0"/>
              <a:t>Each row has </a:t>
            </a:r>
            <a:r>
              <a:rPr b="1" smtClean="0"/>
              <a:t>3 integers</a:t>
            </a:r>
            <a:r>
              <a:rPr smtClean="0"/>
              <a:t/>
            </a:r>
            <a:br>
              <a:rPr smtClean="0"/>
            </a:br>
            <a:r>
              <a:rPr smtClean="0"/>
              <a:t>Each integer = 4 bytes</a:t>
            </a:r>
          </a:p>
          <a:p>
            <a:r>
              <a:rPr smtClean="0"/>
              <a:t>x + 3 = 2036, *(x+3) = address of x[3][0] = 2036, *(x+3) = address of x[3][0] = 2036, *(x+2)+3 = 2036</a:t>
            </a:r>
          </a:p>
          <a:p>
            <a:pPr marL="342900" indent="-342900">
              <a:buAutoNum type="alphaUcPeriod"/>
            </a:pPr>
            <a:r>
              <a:rPr smtClean="0">
                <a:solidFill>
                  <a:srgbClr val="FF0000"/>
                </a:solidFill>
              </a:rPr>
              <a:t>2036, 2036, 2036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Quiz: 3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smtClean="0"/>
              <a:t>If A and B are two Matrices, for multiplying A X B which if the following representations will be efficient:</a:t>
            </a:r>
          </a:p>
          <a:p>
            <a:endParaRPr smtClean="0"/>
          </a:p>
          <a:p>
            <a:pPr marL="342900" indent="-342900">
              <a:buAutoNum type="alphaUcPeriod"/>
            </a:pPr>
            <a:r>
              <a:rPr smtClean="0"/>
              <a:t>A in row-Major and B in Column Major</a:t>
            </a:r>
          </a:p>
          <a:p>
            <a:pPr marL="342900" indent="-342900">
              <a:buAutoNum type="alphaUcPeriod"/>
            </a:pPr>
            <a:r>
              <a:rPr smtClean="0"/>
              <a:t>B in row-Major and A in Column Major</a:t>
            </a:r>
          </a:p>
          <a:p>
            <a:pPr marL="342900" indent="-342900">
              <a:buFont typeface="Wingdings" panose="05000000000000000000" pitchFamily="2" charset="2"/>
              <a:buAutoNum type="alphaUcPeriod"/>
            </a:pPr>
            <a:r>
              <a:rPr smtClean="0"/>
              <a:t>Independent of presentation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Quiz: 3: Solution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smtClean="0"/>
              <a:t>If A and B are two Matrices, for multiplying A X B which if the following representations will be efficient:</a:t>
            </a:r>
          </a:p>
          <a:p>
            <a:endParaRPr smtClean="0"/>
          </a:p>
          <a:p>
            <a:pPr marL="342900" indent="-342900">
              <a:buAutoNum type="alphaUcPeriod"/>
            </a:pPr>
            <a:r>
              <a:rPr smtClean="0"/>
              <a:t>A in row-Major and B in Column Major</a:t>
            </a:r>
          </a:p>
          <a:p>
            <a:pPr marL="342900" indent="-342900">
              <a:buAutoNum type="alphaUcPeriod"/>
            </a:pPr>
            <a:r>
              <a:rPr smtClean="0"/>
              <a:t>B in row-Major and A in Column Major</a:t>
            </a:r>
          </a:p>
          <a:p>
            <a:pPr marL="342900" indent="-342900">
              <a:buFont typeface="Wingdings" panose="05000000000000000000" pitchFamily="2" charset="2"/>
              <a:buAutoNum type="alphaUcPeriod"/>
            </a:pPr>
            <a:r>
              <a:rPr smtClean="0">
                <a:solidFill>
                  <a:srgbClr val="FF0000"/>
                </a:solidFill>
              </a:rPr>
              <a:t>Independent of presentation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Thanking you !!!!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Any question !!!!!</a:t>
            </a:r>
          </a:p>
          <a:p>
            <a:endParaRPr smtClean="0"/>
          </a:p>
          <a:p>
            <a:r>
              <a:rPr smtClean="0"/>
              <a:t>Download PPT </a:t>
            </a:r>
            <a:r>
              <a:rPr smtClean="0"/>
              <a:t>: </a:t>
            </a:r>
            <a:r>
              <a:rPr smtClean="0">
                <a:hlinkClick r:id="rId2"/>
              </a:rPr>
              <a:t>https://github.com/sachin365123/Applies-Data-Structure-and-Application-GLA-Online-Sessions-Jan---</a:t>
            </a:r>
            <a:r>
              <a:rPr smtClean="0">
                <a:hlinkClick r:id="rId2"/>
              </a:rPr>
              <a:t>Jun-2026</a:t>
            </a:r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4920042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91961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685</TotalTime>
  <Words>1286</Words>
  <Application>Microsoft Office PowerPoint</Application>
  <PresentationFormat>Custom</PresentationFormat>
  <Paragraphs>318</Paragraphs>
  <Slides>31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2" baseType="lpstr">
      <vt:lpstr>Office Theme</vt:lpstr>
      <vt:lpstr>Slide 1</vt:lpstr>
      <vt:lpstr> </vt:lpstr>
      <vt:lpstr>Content</vt:lpstr>
      <vt:lpstr>Array</vt:lpstr>
      <vt:lpstr>Array</vt:lpstr>
      <vt:lpstr>Array</vt:lpstr>
      <vt:lpstr>Array</vt:lpstr>
      <vt:lpstr>Array in Compilers</vt:lpstr>
      <vt:lpstr>Array in Compilers</vt:lpstr>
      <vt:lpstr>Operations on Arrays</vt:lpstr>
      <vt:lpstr>Operations on Arrays</vt:lpstr>
      <vt:lpstr>     Application of Arrays: Matrix Multiplication</vt:lpstr>
      <vt:lpstr>Application of Arrays: Character String Operation</vt:lpstr>
      <vt:lpstr>Application of Arrays: Character String Operation</vt:lpstr>
      <vt:lpstr>Row Major Order</vt:lpstr>
      <vt:lpstr>Column Major Order</vt:lpstr>
      <vt:lpstr>Question based on RMO and CMO</vt:lpstr>
      <vt:lpstr>Static vs Dynamic Arrays</vt:lpstr>
      <vt:lpstr>Program 1: Static vs Dynamic Arrays</vt:lpstr>
      <vt:lpstr>Program 2: 2D Array</vt:lpstr>
      <vt:lpstr>Program 3: 2D Array</vt:lpstr>
      <vt:lpstr>Question: 1</vt:lpstr>
      <vt:lpstr>Solution: 1</vt:lpstr>
      <vt:lpstr>Quiz: 1</vt:lpstr>
      <vt:lpstr>Quiz: 1: Solution</vt:lpstr>
      <vt:lpstr>Quiz: 2</vt:lpstr>
      <vt:lpstr>Quiz: 2: Solution</vt:lpstr>
      <vt:lpstr>Quiz: 3</vt:lpstr>
      <vt:lpstr>Quiz: 3: Solution</vt:lpstr>
      <vt:lpstr>Thanking you !!!!</vt:lpstr>
      <vt:lpstr>Slide 31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hp</cp:lastModifiedBy>
  <cp:revision>85</cp:revision>
  <dcterms:created xsi:type="dcterms:W3CDTF">2024-10-06T15:26:34Z</dcterms:created>
  <dcterms:modified xsi:type="dcterms:W3CDTF">2026-03-14T16:43:31Z</dcterms:modified>
</cp:coreProperties>
</file>