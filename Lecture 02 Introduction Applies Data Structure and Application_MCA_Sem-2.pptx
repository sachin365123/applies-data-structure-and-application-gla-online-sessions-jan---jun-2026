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92" r:id="rId7"/>
    <p:sldId id="293" r:id="rId8"/>
    <p:sldId id="263" r:id="rId9"/>
    <p:sldId id="291" r:id="rId10"/>
    <p:sldId id="265" r:id="rId11"/>
    <p:sldId id="296" r:id="rId12"/>
    <p:sldId id="264" r:id="rId13"/>
    <p:sldId id="298" r:id="rId14"/>
    <p:sldId id="299" r:id="rId15"/>
    <p:sldId id="276" r:id="rId16"/>
    <p:sldId id="278" r:id="rId17"/>
    <p:sldId id="280" r:id="rId18"/>
    <p:sldId id="281" r:id="rId19"/>
    <p:sldId id="294" r:id="rId20"/>
    <p:sldId id="290" r:id="rId21"/>
    <p:sldId id="295" r:id="rId22"/>
    <p:sldId id="282" r:id="rId23"/>
    <p:sldId id="284" r:id="rId24"/>
    <p:sldId id="283" r:id="rId25"/>
    <p:sldId id="285" r:id="rId26"/>
    <p:sldId id="286" r:id="rId27"/>
    <p:sldId id="287" r:id="rId28"/>
    <p:sldId id="288" r:id="rId29"/>
    <p:sldId id="289" r:id="rId30"/>
    <p:sldId id="300" r:id="rId31"/>
    <p:sldId id="25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00B050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891" autoAdjust="0"/>
    <p:restoredTop sz="94660"/>
  </p:normalViewPr>
  <p:slideViewPr>
    <p:cSldViewPr snapToGrid="0">
      <p:cViewPr>
        <p:scale>
          <a:sx n="75" d="100"/>
          <a:sy n="75" d="100"/>
        </p:scale>
        <p:origin x="-509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="" xmlns:a16="http://schemas.microsoft.com/office/drawing/2014/main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="" xmlns:a16="http://schemas.microsoft.com/office/drawing/2014/main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="" xmlns:a16="http://schemas.microsoft.com/office/drawing/2014/main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="" xmlns:a16="http://schemas.microsoft.com/office/drawing/2014/main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="" xmlns:a16="http://schemas.microsoft.com/office/drawing/2014/main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="" xmlns:a16="http://schemas.microsoft.com/office/drawing/2014/main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="" xmlns:a16="http://schemas.microsoft.com/office/drawing/2014/main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="" xmlns:a16="http://schemas.microsoft.com/office/drawing/2014/main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="" xmlns:p14="http://schemas.microsoft.com/office/powerpoint/2010/main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="" xmlns:a16="http://schemas.microsoft.com/office/drawing/2014/main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="" xmlns:a16="http://schemas.microsoft.com/office/drawing/2014/main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="" xmlns:a16="http://schemas.microsoft.com/office/drawing/2014/main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="" xmlns:a16="http://schemas.microsoft.com/office/drawing/2014/main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="" xmlns:p14="http://schemas.microsoft.com/office/powerpoint/2010/main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b="1" smtClean="0"/>
              <a:t> Array: </a:t>
            </a:r>
            <a:r>
              <a:rPr smtClean="0"/>
              <a:t>Representation of Single and Multidimensional Arrays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Address Calculation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Operations on Arrays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Application of Arrays: Matrix Multiplication</a:t>
            </a:r>
          </a:p>
          <a:p>
            <a:pPr>
              <a:buFont typeface="Arial" pitchFamily="34" charset="0"/>
              <a:buChar char="•"/>
            </a:pPr>
            <a:r>
              <a:rPr smtClean="0"/>
              <a:t> Application of Arrays: Character String Operation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smtClean="0"/>
              <a:t> Array is a collection of similar data types grouped under one name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Its also called vector value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We can Access or differentiate all the elements in an array using index values</a:t>
            </a:r>
          </a:p>
          <a:p>
            <a:pPr>
              <a:buFont typeface="Arial" pitchFamily="34" charset="0"/>
              <a:buChar char="•"/>
            </a:pPr>
            <a:endParaRPr smtClean="0"/>
          </a:p>
          <a:p>
            <a:pPr>
              <a:buFont typeface="Arial" pitchFamily="34" charset="0"/>
              <a:buChar char="•"/>
            </a:pPr>
            <a:r>
              <a:rPr smtClean="0"/>
              <a:t> This concepts is supported by many programming languages</a:t>
            </a:r>
          </a:p>
          <a:p>
            <a:endParaRPr smtClean="0"/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4"/>
          <p:cNvSpPr txBox="1"/>
          <p:nvPr/>
        </p:nvSpPr>
        <p:spPr>
          <a:xfrm>
            <a:off x="1235945" y="1849339"/>
            <a:ext cx="2431701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dirty="0" smtClean="0"/>
              <a:t>Example :  </a:t>
            </a:r>
          </a:p>
          <a:p>
            <a:pPr marL="12700">
              <a:spcBef>
                <a:spcPts val="100"/>
              </a:spcBef>
            </a:pPr>
            <a:r>
              <a:rPr sz="1800" smtClean="0">
                <a:latin typeface="Arial MT"/>
                <a:cs typeface="Arial MT"/>
              </a:rPr>
              <a:t>Int</a:t>
            </a:r>
            <a:r>
              <a:rPr sz="1800" spc="-15" smtClean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[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];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5"/>
          <p:cNvSpPr txBox="1"/>
          <p:nvPr/>
        </p:nvSpPr>
        <p:spPr>
          <a:xfrm>
            <a:off x="2557483" y="2150792"/>
            <a:ext cx="25317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Arial MT"/>
                <a:cs typeface="Arial MT"/>
              </a:rPr>
              <a:t>//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Initialise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0" dirty="0">
                <a:latin typeface="Arial MT"/>
                <a:cs typeface="Arial MT"/>
              </a:rPr>
              <a:t> declaration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6"/>
          <p:cNvSpPr txBox="1"/>
          <p:nvPr/>
        </p:nvSpPr>
        <p:spPr>
          <a:xfrm>
            <a:off x="1270008" y="2709592"/>
            <a:ext cx="11283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=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15;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7"/>
          <p:cNvSpPr txBox="1"/>
          <p:nvPr/>
        </p:nvSpPr>
        <p:spPr>
          <a:xfrm>
            <a:off x="2563426" y="2709592"/>
            <a:ext cx="9867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Arial MT"/>
                <a:cs typeface="Arial MT"/>
              </a:rPr>
              <a:t>//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Access</a:t>
            </a:r>
            <a:endParaRPr sz="1800">
              <a:latin typeface="Arial MT"/>
              <a:cs typeface="Arial MT"/>
            </a:endParaRPr>
          </a:p>
        </p:txBody>
      </p:sp>
      <p:pic>
        <p:nvPicPr>
          <p:cNvPr id="10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2952" y="3354326"/>
            <a:ext cx="4208302" cy="109330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42611" y="1808941"/>
            <a:ext cx="8601389" cy="295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99390" marR="5080" indent="-187325">
              <a:lnSpc>
                <a:spcPct val="101899"/>
              </a:lnSpc>
              <a:spcBef>
                <a:spcPts val="55"/>
              </a:spcBef>
              <a:buChar char="•"/>
              <a:tabLst>
                <a:tab pos="199390" algn="l"/>
              </a:tabLst>
            </a:pPr>
            <a:r>
              <a:rPr lang="en-US" spc="-125" dirty="0" smtClean="0">
                <a:latin typeface="Arial MT"/>
                <a:cs typeface="Arial MT"/>
              </a:rPr>
              <a:t>To</a:t>
            </a:r>
            <a:r>
              <a:rPr lang="en-US" dirty="0" smtClean="0">
                <a:latin typeface="Arial MT"/>
                <a:cs typeface="Arial MT"/>
              </a:rPr>
              <a:t> access</a:t>
            </a:r>
            <a:r>
              <a:rPr lang="en-US" spc="-1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all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elements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in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array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,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we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can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traverse </a:t>
            </a:r>
            <a:r>
              <a:rPr lang="en-US" dirty="0" smtClean="0">
                <a:latin typeface="Arial MT"/>
                <a:cs typeface="Arial MT"/>
              </a:rPr>
              <a:t>through</a:t>
            </a:r>
            <a:r>
              <a:rPr lang="en-US" spc="6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it</a:t>
            </a:r>
            <a:r>
              <a:rPr lang="en-US" spc="6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for</a:t>
            </a:r>
            <a:r>
              <a:rPr lang="en-US" spc="6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example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dirty="0" err="1" smtClean="0">
                <a:latin typeface="Arial MT"/>
                <a:cs typeface="Arial MT"/>
              </a:rPr>
              <a:t>int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A[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5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]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=</a:t>
            </a:r>
            <a:r>
              <a:rPr lang="en-US" spc="-5" dirty="0" smtClean="0">
                <a:latin typeface="Arial MT"/>
                <a:cs typeface="Arial MT"/>
              </a:rPr>
              <a:t> </a:t>
            </a:r>
            <a:r>
              <a:rPr lang="en-US" spc="-10" dirty="0" smtClean="0">
                <a:latin typeface="Arial MT"/>
                <a:cs typeface="Arial MT"/>
              </a:rPr>
              <a:t>{2,4,6,8};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dirty="0" smtClean="0">
                <a:latin typeface="Arial MT"/>
                <a:cs typeface="Arial MT"/>
              </a:rPr>
              <a:t>for </a:t>
            </a:r>
            <a:r>
              <a:rPr lang="en-US" spc="-20" dirty="0" smtClean="0">
                <a:latin typeface="Arial MT"/>
                <a:cs typeface="Arial MT"/>
              </a:rPr>
              <a:t>(</a:t>
            </a:r>
            <a:r>
              <a:rPr lang="en-US" spc="-20" dirty="0" err="1" smtClean="0">
                <a:latin typeface="Arial MT"/>
                <a:cs typeface="Arial MT"/>
              </a:rPr>
              <a:t>i</a:t>
            </a:r>
            <a:r>
              <a:rPr lang="en-US" dirty="0" smtClean="0">
                <a:latin typeface="Arial MT"/>
                <a:cs typeface="Arial MT"/>
              </a:rPr>
              <a:t> = 0; </a:t>
            </a:r>
            <a:r>
              <a:rPr lang="en-US" dirty="0" err="1" smtClean="0">
                <a:latin typeface="Arial MT"/>
                <a:cs typeface="Arial MT"/>
              </a:rPr>
              <a:t>i</a:t>
            </a:r>
            <a:r>
              <a:rPr lang="en-US" dirty="0" smtClean="0">
                <a:latin typeface="Arial MT"/>
                <a:cs typeface="Arial MT"/>
              </a:rPr>
              <a:t> &lt; 5 ; </a:t>
            </a:r>
            <a:r>
              <a:rPr lang="en-US" spc="-20" dirty="0" err="1" smtClean="0">
                <a:latin typeface="Arial MT"/>
                <a:cs typeface="Arial MT"/>
              </a:rPr>
              <a:t>i</a:t>
            </a:r>
            <a:r>
              <a:rPr lang="en-US" spc="-20" dirty="0" smtClean="0">
                <a:latin typeface="Arial MT"/>
                <a:cs typeface="Arial MT"/>
              </a:rPr>
              <a:t>++)</a:t>
            </a: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lang="en-US" spc="-50" dirty="0" smtClean="0">
                <a:latin typeface="Arial MT"/>
                <a:cs typeface="Arial MT"/>
              </a:rPr>
              <a:t>{</a:t>
            </a:r>
            <a:endParaRPr lang="en-US" dirty="0" smtClean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40"/>
              </a:spcBef>
            </a:pPr>
            <a:r>
              <a:rPr lang="en-US" dirty="0" err="1" smtClean="0">
                <a:latin typeface="Arial MT"/>
                <a:cs typeface="Arial MT"/>
              </a:rPr>
              <a:t>printf</a:t>
            </a:r>
            <a:r>
              <a:rPr lang="en-US" dirty="0" smtClean="0">
                <a:latin typeface="Arial MT"/>
                <a:cs typeface="Arial MT"/>
              </a:rPr>
              <a:t>(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spc="110" dirty="0" smtClean="0">
                <a:latin typeface="Arial MT"/>
                <a:cs typeface="Arial MT"/>
              </a:rPr>
              <a:t>“%d”,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A[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err="1" smtClean="0">
                <a:latin typeface="Arial MT"/>
                <a:cs typeface="Arial MT"/>
              </a:rPr>
              <a:t>i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dirty="0" smtClean="0">
                <a:latin typeface="Arial MT"/>
                <a:cs typeface="Arial MT"/>
              </a:rPr>
              <a:t>]</a:t>
            </a:r>
            <a:r>
              <a:rPr lang="en-US" spc="-20" dirty="0" smtClean="0">
                <a:latin typeface="Arial MT"/>
                <a:cs typeface="Arial MT"/>
              </a:rPr>
              <a:t> </a:t>
            </a:r>
            <a:r>
              <a:rPr lang="en-US" spc="-25" dirty="0" smtClean="0">
                <a:latin typeface="Arial MT"/>
                <a:cs typeface="Arial MT"/>
              </a:rPr>
              <a:t>);</a:t>
            </a:r>
            <a:endParaRPr lang="en-US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lang="en-US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pc="-50" dirty="0" smtClean="0">
                <a:latin typeface="Arial MT"/>
                <a:cs typeface="Arial M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/>
          <p:cNvSpPr txBox="1"/>
          <p:nvPr/>
        </p:nvSpPr>
        <p:spPr>
          <a:xfrm>
            <a:off x="576671" y="1573308"/>
            <a:ext cx="9954002" cy="289566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99390" marR="5080" indent="-187325">
              <a:lnSpc>
                <a:spcPct val="101899"/>
              </a:lnSpc>
              <a:spcBef>
                <a:spcPts val="55"/>
              </a:spcBef>
              <a:buChar char="•"/>
              <a:tabLst>
                <a:tab pos="199390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elements inside the array can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 access through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subset</a:t>
            </a:r>
            <a:r>
              <a:rPr sz="1800" spc="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through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pointer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7" name="object 3"/>
          <p:cNvSpPr txBox="1"/>
          <p:nvPr/>
        </p:nvSpPr>
        <p:spPr>
          <a:xfrm>
            <a:off x="677155" y="2166440"/>
            <a:ext cx="2515870" cy="2255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5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=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{2,4,6,8};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for </a:t>
            </a:r>
            <a:r>
              <a:rPr sz="1800" spc="-20" dirty="0">
                <a:latin typeface="Arial MT"/>
                <a:cs typeface="Arial MT"/>
              </a:rPr>
              <a:t>(i</a:t>
            </a:r>
            <a:r>
              <a:rPr sz="1800" dirty="0">
                <a:latin typeface="Arial MT"/>
                <a:cs typeface="Arial MT"/>
              </a:rPr>
              <a:t> = 0; i &lt; 5 ; </a:t>
            </a:r>
            <a:r>
              <a:rPr sz="1800" spc="-20" dirty="0">
                <a:latin typeface="Arial MT"/>
                <a:cs typeface="Arial MT"/>
              </a:rPr>
              <a:t>i++)</a:t>
            </a: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800" spc="-50" dirty="0">
                <a:latin typeface="Arial MT"/>
                <a:cs typeface="Arial MT"/>
              </a:rPr>
              <a:t>{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572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8" name="object 4"/>
          <p:cNvSpPr txBox="1"/>
          <p:nvPr/>
        </p:nvSpPr>
        <p:spPr>
          <a:xfrm>
            <a:off x="727397" y="4660936"/>
            <a:ext cx="2796540" cy="141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2[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]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457200">
              <a:lnSpc>
                <a:spcPct val="100000"/>
              </a:lnSpc>
            </a:pPr>
            <a:r>
              <a:rPr sz="1800" dirty="0">
                <a:latin typeface="Arial MT"/>
                <a:cs typeface="Arial MT"/>
              </a:rPr>
              <a:t>printf(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110" dirty="0">
                <a:latin typeface="Arial MT"/>
                <a:cs typeface="Arial MT"/>
              </a:rPr>
              <a:t>“%d”,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65" dirty="0">
                <a:latin typeface="Arial MT"/>
                <a:cs typeface="Arial MT"/>
              </a:rPr>
              <a:t>*(A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+ 2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40" dirty="0">
                <a:latin typeface="Arial MT"/>
                <a:cs typeface="Arial MT"/>
              </a:rPr>
              <a:t>)</a:t>
            </a:r>
            <a:r>
              <a:rPr sz="180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);</a:t>
            </a:r>
            <a:endParaRPr sz="1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spc="-50" dirty="0">
                <a:latin typeface="Arial MT"/>
                <a:cs typeface="Arial MT"/>
              </a:rPr>
              <a:t>}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9" name="object 5"/>
          <p:cNvSpPr txBox="1"/>
          <p:nvPr/>
        </p:nvSpPr>
        <p:spPr>
          <a:xfrm>
            <a:off x="4628387" y="4928132"/>
            <a:ext cx="4023243" cy="184666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>
              <a:lnSpc>
                <a:spcPts val="1200"/>
              </a:lnSpc>
              <a:spcBef>
                <a:spcPts val="240"/>
              </a:spcBef>
            </a:pPr>
            <a:r>
              <a:rPr sz="1100" spc="65" dirty="0">
                <a:latin typeface="Arial MT"/>
                <a:cs typeface="Arial MT"/>
              </a:rPr>
              <a:t>//</a:t>
            </a:r>
            <a:r>
              <a:rPr sz="1100" spc="-5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Example of </a:t>
            </a:r>
            <a:r>
              <a:rPr sz="1100" spc="-10" dirty="0">
                <a:latin typeface="Arial MT"/>
                <a:cs typeface="Arial MT"/>
              </a:rPr>
              <a:t>accessing </a:t>
            </a:r>
            <a:r>
              <a:rPr sz="1100" dirty="0">
                <a:latin typeface="Arial MT"/>
                <a:cs typeface="Arial MT"/>
              </a:rPr>
              <a:t>elements</a:t>
            </a:r>
            <a:r>
              <a:rPr sz="1100" spc="-10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inside</a:t>
            </a:r>
            <a:r>
              <a:rPr sz="1100" spc="-10" dirty="0">
                <a:latin typeface="Arial MT"/>
                <a:cs typeface="Arial MT"/>
              </a:rPr>
              <a:t> </a:t>
            </a:r>
            <a:r>
              <a:rPr sz="1100" dirty="0">
                <a:latin typeface="Arial MT"/>
                <a:cs typeface="Arial MT"/>
              </a:rPr>
              <a:t>an</a:t>
            </a:r>
            <a:r>
              <a:rPr sz="1100" spc="-5" dirty="0">
                <a:latin typeface="Arial MT"/>
                <a:cs typeface="Arial MT"/>
              </a:rPr>
              <a:t> </a:t>
            </a:r>
            <a:r>
              <a:rPr sz="1100" spc="-20" dirty="0">
                <a:latin typeface="Arial MT"/>
                <a:cs typeface="Arial MT"/>
              </a:rPr>
              <a:t>array</a:t>
            </a:r>
            <a:endParaRPr sz="110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 in Compilers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596768" y="2035922"/>
            <a:ext cx="5888355" cy="14029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9390" marR="5080" indent="-187325">
              <a:lnSpc>
                <a:spcPts val="1800"/>
              </a:lnSpc>
              <a:spcBef>
                <a:spcPts val="1955"/>
              </a:spcBef>
              <a:buChar char="•"/>
              <a:tabLst>
                <a:tab pos="199390" algn="l"/>
              </a:tabLst>
            </a:pPr>
            <a:r>
              <a:rPr sz="1600" smtClean="0">
                <a:latin typeface="Arial MT"/>
                <a:cs typeface="Arial MT"/>
              </a:rPr>
              <a:t>Any</a:t>
            </a:r>
            <a:r>
              <a:rPr sz="1600" spc="25" smtClean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location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can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accessed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with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help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base </a:t>
            </a:r>
            <a:r>
              <a:rPr sz="1600" spc="-10" dirty="0">
                <a:latin typeface="Arial MT"/>
                <a:cs typeface="Arial MT"/>
              </a:rPr>
              <a:t>address</a:t>
            </a:r>
            <a:endParaRPr sz="1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sz="1600" b="1" dirty="0">
                <a:solidFill>
                  <a:srgbClr val="0076BA"/>
                </a:solidFill>
                <a:latin typeface="Arial"/>
                <a:cs typeface="Arial"/>
              </a:rPr>
              <a:t>Example</a:t>
            </a:r>
            <a:r>
              <a:rPr sz="1600" b="1" spc="-70" dirty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685"/>
              </a:spcBef>
            </a:pP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int</a:t>
            </a:r>
            <a:r>
              <a:rPr sz="1600" spc="-20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A[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5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]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=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{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EE220C"/>
                </a:solidFill>
                <a:latin typeface="Arial MT"/>
                <a:cs typeface="Arial MT"/>
              </a:rPr>
              <a:t>3,5,8,4,2</a:t>
            </a:r>
            <a:r>
              <a:rPr sz="1600" spc="-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600" spc="-50" dirty="0">
                <a:solidFill>
                  <a:srgbClr val="EE220C"/>
                </a:solidFill>
                <a:latin typeface="Arial MT"/>
                <a:cs typeface="Arial MT"/>
              </a:rPr>
              <a:t>}</a:t>
            </a:r>
            <a:endParaRPr sz="1600">
              <a:latin typeface="Arial MT"/>
              <a:cs typeface="Arial MT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29247" y="4673108"/>
            <a:ext cx="2747546" cy="82952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730610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0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118976" y="4377748"/>
            <a:ext cx="45275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1950" algn="l"/>
              </a:tabLst>
            </a:pPr>
            <a:r>
              <a:rPr sz="1100" spc="-50" dirty="0">
                <a:latin typeface="Arial MT"/>
                <a:cs typeface="Arial MT"/>
              </a:rPr>
              <a:t>1</a:t>
            </a:r>
            <a:r>
              <a:rPr sz="1100" dirty="0">
                <a:latin typeface="Arial MT"/>
                <a:cs typeface="Arial MT"/>
              </a:rPr>
              <a:t>	</a:t>
            </a:r>
            <a:r>
              <a:rPr sz="1100" spc="-50" dirty="0">
                <a:latin typeface="Arial MT"/>
                <a:cs typeface="Arial MT"/>
              </a:rPr>
              <a:t>2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934545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3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1747" y="4377748"/>
            <a:ext cx="10350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latin typeface="Arial MT"/>
                <a:cs typeface="Arial MT"/>
              </a:rPr>
              <a:t>4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12" name="object 4"/>
          <p:cNvSpPr txBox="1"/>
          <p:nvPr/>
        </p:nvSpPr>
        <p:spPr>
          <a:xfrm>
            <a:off x="6223845" y="2557746"/>
            <a:ext cx="4618355" cy="1450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340" indent="-167640">
              <a:lnSpc>
                <a:spcPct val="100000"/>
              </a:lnSpc>
              <a:spcBef>
                <a:spcPts val="100"/>
              </a:spcBef>
              <a:buChar char="•"/>
              <a:tabLst>
                <a:tab pos="180340" algn="l"/>
              </a:tabLst>
            </a:pP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used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by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any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to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convert</a:t>
            </a:r>
            <a:r>
              <a:rPr sz="1600" spc="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3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is</a:t>
            </a:r>
            <a:endParaRPr sz="1600">
              <a:latin typeface="Arial MT"/>
              <a:cs typeface="Arial MT"/>
            </a:endParaRPr>
          </a:p>
          <a:p>
            <a:pPr marL="1938655">
              <a:lnSpc>
                <a:spcPct val="100000"/>
              </a:lnSpc>
              <a:spcBef>
                <a:spcPts val="1770"/>
              </a:spcBef>
            </a:pPr>
            <a:r>
              <a:rPr sz="1600" b="1" spc="-10" dirty="0">
                <a:solidFill>
                  <a:srgbClr val="EE220C"/>
                </a:solidFill>
                <a:latin typeface="Arial"/>
                <a:cs typeface="Arial"/>
              </a:rPr>
              <a:t>Addr(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Lo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600" b="1" spc="-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Arial MT"/>
                <a:cs typeface="Arial MT"/>
              </a:rPr>
              <a:t>Where</a:t>
            </a:r>
            <a:r>
              <a:rPr sz="1600" spc="-95" dirty="0">
                <a:latin typeface="Arial MT"/>
                <a:cs typeface="Arial MT"/>
              </a:rPr>
              <a:t> </a:t>
            </a:r>
            <a:r>
              <a:rPr sz="1600" spc="-50" dirty="0">
                <a:latin typeface="Arial MT"/>
                <a:cs typeface="Arial MT"/>
              </a:rPr>
              <a:t>;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5"/>
          <p:cNvSpPr txBox="1"/>
          <p:nvPr/>
        </p:nvSpPr>
        <p:spPr>
          <a:xfrm>
            <a:off x="6280334" y="4196046"/>
            <a:ext cx="458470" cy="7264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68580" marR="5080" indent="-56515">
              <a:lnSpc>
                <a:spcPts val="1800"/>
              </a:lnSpc>
              <a:spcBef>
                <a:spcPts val="259"/>
              </a:spcBef>
            </a:pPr>
            <a:r>
              <a:rPr sz="1600" dirty="0">
                <a:latin typeface="Arial MT"/>
                <a:cs typeface="Arial MT"/>
              </a:rPr>
              <a:t>Lo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is </a:t>
            </a:r>
            <a:r>
              <a:rPr sz="1600" spc="-50" dirty="0">
                <a:latin typeface="Arial MT"/>
                <a:cs typeface="Arial MT"/>
              </a:rPr>
              <a:t>i</a:t>
            </a:r>
            <a:endParaRPr sz="1600">
              <a:latin typeface="Arial MT"/>
              <a:cs typeface="Arial MT"/>
            </a:endParaRPr>
          </a:p>
          <a:p>
            <a:pPr marL="12700">
              <a:lnSpc>
                <a:spcPts val="1760"/>
              </a:lnSpc>
            </a:pPr>
            <a:r>
              <a:rPr sz="1600" spc="5" dirty="0">
                <a:latin typeface="Arial MT"/>
                <a:cs typeface="Arial MT"/>
              </a:rPr>
              <a:t>w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6"/>
          <p:cNvSpPr txBox="1"/>
          <p:nvPr/>
        </p:nvSpPr>
        <p:spPr>
          <a:xfrm>
            <a:off x="7420693" y="4196046"/>
            <a:ext cx="1741805" cy="72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5260" indent="-135890">
              <a:lnSpc>
                <a:spcPts val="1860"/>
              </a:lnSpc>
              <a:spcBef>
                <a:spcPts val="100"/>
              </a:spcBef>
              <a:buChar char="-"/>
              <a:tabLst>
                <a:tab pos="175260" algn="l"/>
              </a:tabLst>
            </a:pPr>
            <a:r>
              <a:rPr sz="1600" dirty="0">
                <a:latin typeface="Arial MT"/>
                <a:cs typeface="Arial MT"/>
              </a:rPr>
              <a:t>base </a:t>
            </a:r>
            <a:r>
              <a:rPr sz="1600" spc="-10" dirty="0">
                <a:latin typeface="Arial MT"/>
                <a:cs typeface="Arial MT"/>
              </a:rPr>
              <a:t>address</a:t>
            </a:r>
            <a:endParaRPr sz="1600">
              <a:latin typeface="Arial MT"/>
              <a:cs typeface="Arial MT"/>
            </a:endParaRPr>
          </a:p>
          <a:p>
            <a:pPr marL="148590" indent="-135890">
              <a:lnSpc>
                <a:spcPts val="1800"/>
              </a:lnSpc>
              <a:buChar char="-"/>
              <a:tabLst>
                <a:tab pos="148590" algn="l"/>
              </a:tabLst>
            </a:pPr>
            <a:r>
              <a:rPr sz="1600" spc="-10" dirty="0">
                <a:latin typeface="Arial MT"/>
                <a:cs typeface="Arial MT"/>
              </a:rPr>
              <a:t>Index</a:t>
            </a:r>
            <a:endParaRPr sz="1600">
              <a:latin typeface="Arial MT"/>
              <a:cs typeface="Arial MT"/>
            </a:endParaRPr>
          </a:p>
          <a:p>
            <a:pPr marL="148590" indent="-135890">
              <a:lnSpc>
                <a:spcPts val="1860"/>
              </a:lnSpc>
              <a:buChar char="-"/>
              <a:tabLst>
                <a:tab pos="148590" algn="l"/>
              </a:tabLst>
            </a:pPr>
            <a:r>
              <a:rPr sz="1600" dirty="0">
                <a:latin typeface="Arial MT"/>
                <a:cs typeface="Arial MT"/>
              </a:rPr>
              <a:t>Size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Data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45" dirty="0">
                <a:latin typeface="Arial MT"/>
                <a:cs typeface="Arial MT"/>
              </a:rPr>
              <a:t>Type</a:t>
            </a:r>
            <a:endParaRPr sz="160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Array in Compilers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object 2"/>
          <p:cNvSpPr txBox="1"/>
          <p:nvPr/>
        </p:nvSpPr>
        <p:spPr>
          <a:xfrm>
            <a:off x="697251" y="1929724"/>
            <a:ext cx="10637290" cy="1192634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78435" marR="230504" indent="-166370">
              <a:lnSpc>
                <a:spcPts val="1800"/>
              </a:lnSpc>
              <a:spcBef>
                <a:spcPts val="260"/>
              </a:spcBef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Base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array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will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updated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when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program </a:t>
            </a:r>
            <a:r>
              <a:rPr sz="1600" dirty="0">
                <a:latin typeface="Arial MT"/>
                <a:cs typeface="Arial MT"/>
              </a:rPr>
              <a:t>starts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running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and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once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memory</a:t>
            </a:r>
            <a:r>
              <a:rPr sz="1600" spc="2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1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allocated</a:t>
            </a:r>
            <a:endParaRPr sz="1600">
              <a:latin typeface="Arial MT"/>
              <a:cs typeface="Arial MT"/>
            </a:endParaRPr>
          </a:p>
          <a:p>
            <a:pPr marL="180340" indent="-167640">
              <a:lnSpc>
                <a:spcPct val="100000"/>
              </a:lnSpc>
              <a:spcBef>
                <a:spcPts val="1640"/>
              </a:spcBef>
              <a:buChar char="•"/>
              <a:tabLst>
                <a:tab pos="180340" algn="l"/>
              </a:tabLst>
            </a:pPr>
            <a:r>
              <a:rPr sz="1600" dirty="0">
                <a:latin typeface="Arial MT"/>
                <a:cs typeface="Arial MT"/>
              </a:rPr>
              <a:t>So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of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this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known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during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run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time</a:t>
            </a:r>
            <a:endParaRPr sz="16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buFont typeface="Arial MT"/>
              <a:buChar char="•"/>
            </a:pPr>
            <a:endParaRPr sz="1600">
              <a:latin typeface="Arial MT"/>
              <a:cs typeface="Arial MT"/>
            </a:endParaRPr>
          </a:p>
          <a:p>
            <a:pPr marL="178435" marR="5080" indent="-166370">
              <a:lnSpc>
                <a:spcPts val="1800"/>
              </a:lnSpc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As 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base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address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relative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also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relative formula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3"/>
          <p:cNvSpPr txBox="1"/>
          <p:nvPr/>
        </p:nvSpPr>
        <p:spPr>
          <a:xfrm>
            <a:off x="697251" y="4215724"/>
            <a:ext cx="10536805" cy="974626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78435" marR="5080" indent="-166370">
              <a:lnSpc>
                <a:spcPts val="1800"/>
              </a:lnSpc>
              <a:spcBef>
                <a:spcPts val="260"/>
              </a:spcBef>
              <a:buChar char="•"/>
              <a:tabLst>
                <a:tab pos="178435" algn="l"/>
                <a:tab pos="179705" algn="l"/>
              </a:tabLst>
            </a:pPr>
            <a:r>
              <a:rPr sz="1600" dirty="0">
                <a:latin typeface="Arial MT"/>
                <a:cs typeface="Arial MT"/>
              </a:rPr>
              <a:t>	Suppose a in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 different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language if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 index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value starts</a:t>
            </a:r>
            <a:r>
              <a:rPr sz="1600" spc="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from </a:t>
            </a:r>
            <a:r>
              <a:rPr sz="1600" spc="-50" dirty="0">
                <a:latin typeface="Arial MT"/>
                <a:cs typeface="Arial MT"/>
              </a:rPr>
              <a:t>1 </a:t>
            </a:r>
            <a:r>
              <a:rPr sz="1600" dirty="0">
                <a:latin typeface="Arial MT"/>
                <a:cs typeface="Arial MT"/>
              </a:rPr>
              <a:t>then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formula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for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the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compiler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is</a:t>
            </a:r>
            <a:r>
              <a:rPr sz="1600" spc="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as</a:t>
            </a:r>
            <a:r>
              <a:rPr sz="1600" spc="3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follows</a:t>
            </a:r>
            <a:endParaRPr sz="16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89"/>
              </a:spcBef>
            </a:pPr>
            <a:endParaRPr sz="1600">
              <a:latin typeface="Arial MT"/>
              <a:cs typeface="Arial MT"/>
            </a:endParaRPr>
          </a:p>
          <a:p>
            <a:pPr marL="114935" algn="ctr">
              <a:lnSpc>
                <a:spcPct val="100000"/>
              </a:lnSpc>
            </a:pPr>
            <a:r>
              <a:rPr sz="1600" b="1" spc="-10" dirty="0">
                <a:solidFill>
                  <a:srgbClr val="EE220C"/>
                </a:solidFill>
                <a:latin typeface="Arial"/>
                <a:cs typeface="Arial"/>
              </a:rPr>
              <a:t>Addr(</a:t>
            </a:r>
            <a:r>
              <a:rPr sz="1600" b="1" spc="-3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Lo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(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-</a:t>
            </a:r>
            <a:r>
              <a:rPr sz="1600" b="1" spc="70" dirty="0">
                <a:solidFill>
                  <a:srgbClr val="EE220C"/>
                </a:solidFill>
                <a:latin typeface="Arial"/>
                <a:cs typeface="Arial"/>
              </a:rPr>
              <a:t>1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)*</a:t>
            </a:r>
            <a:r>
              <a:rPr sz="1600" b="1" spc="-3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6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on 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2770" name="Picture 2" descr="Array in C: Why Programmers Need to Master It in 2025!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27086" y="1432559"/>
            <a:ext cx="4506913" cy="450691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on 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8370" name="Picture 2" descr="What is an Array? Everything You Should Know"/>
          <p:cNvPicPr>
            <a:picLocks noChangeAspect="1" noChangeArrowheads="1"/>
          </p:cNvPicPr>
          <p:nvPr/>
        </p:nvPicPr>
        <p:blipFill>
          <a:blip r:embed="rId2"/>
          <a:srcRect t="8889"/>
          <a:stretch>
            <a:fillRect/>
          </a:stretch>
        </p:blipFill>
        <p:spPr bwMode="auto">
          <a:xfrm>
            <a:off x="521335" y="1889760"/>
            <a:ext cx="8096250" cy="3905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Application of Arrays: Matrix Multiplication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3794" name="Picture 2" descr="Multiply Two Matrices in C++ - GeeksforGeek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720" y="1785641"/>
            <a:ext cx="9525000" cy="30765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Arrays: Character String Operation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0418" name="AutoShape 2" descr="What is an Array of Strings in C? - Scaler Topic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0" name="AutoShape 4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2" name="AutoShape 6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0423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84835" y="1357630"/>
            <a:ext cx="8602663" cy="4610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Arrays: Character String Operation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0418" name="AutoShape 2" descr="What is an Array of Strings in C? - Scaler Topic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0" name="AutoShape 4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422" name="AutoShape 6" descr="Array of Strings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>
            <a:normAutofit fontScale="62500" lnSpcReduction="20000"/>
          </a:bodyPr>
          <a:lstStyle/>
          <a:p>
            <a:r>
              <a:rPr smtClean="0"/>
              <a:t>#include &lt;stdio.h&gt;</a:t>
            </a:r>
          </a:p>
          <a:p>
            <a:r>
              <a:rPr smtClean="0"/>
              <a:t>#include &lt;string.h&gt;</a:t>
            </a:r>
          </a:p>
          <a:p>
            <a:endParaRPr smtClean="0"/>
          </a:p>
          <a:p>
            <a:r>
              <a:rPr smtClean="0"/>
              <a:t>int main()</a:t>
            </a:r>
          </a:p>
          <a:p>
            <a:r>
              <a:rPr smtClean="0"/>
              <a:t>{</a:t>
            </a:r>
          </a:p>
          <a:p>
            <a:r>
              <a:rPr smtClean="0"/>
              <a:t>    char car[5][20] = {"Mahindra", "Audi", "Lambhorgini", "Hyundai", "Tata Motors"};</a:t>
            </a:r>
          </a:p>
          <a:p>
            <a:r>
              <a:rPr smtClean="0"/>
              <a:t>    </a:t>
            </a:r>
          </a:p>
          <a:p>
            <a:r>
              <a:rPr smtClean="0"/>
              <a:t>    for(int itemNumber = 0 ; itemNumber &lt; 5 ; itemNumber++)</a:t>
            </a:r>
          </a:p>
          <a:p>
            <a:r>
              <a:rPr smtClean="0"/>
              <a:t>    {   //Iterate over selected string</a:t>
            </a:r>
          </a:p>
          <a:p>
            <a:r>
              <a:rPr smtClean="0"/>
              <a:t>        for(int characterPosition = 0 ; characterPosition &lt; strlen(car[itemNumber]) ; characterPosition++)</a:t>
            </a:r>
          </a:p>
          <a:p>
            <a:r>
              <a:rPr smtClean="0"/>
              <a:t>            printf("%c", car[itemNumber][characterPosition]);</a:t>
            </a:r>
          </a:p>
          <a:p>
            <a:r>
              <a:rPr smtClean="0"/>
              <a:t>            </a:t>
            </a:r>
          </a:p>
          <a:p>
            <a:r>
              <a:rPr smtClean="0"/>
              <a:t>        printf("\n");</a:t>
            </a:r>
          </a:p>
          <a:p>
            <a:r>
              <a:rPr smtClean="0"/>
              <a:t>    }</a:t>
            </a:r>
          </a:p>
          <a:p>
            <a:endParaRPr smtClean="0"/>
          </a:p>
          <a:p>
            <a:r>
              <a:rPr smtClean="0"/>
              <a:t>    return 0;</a:t>
            </a:r>
          </a:p>
          <a:p>
            <a:r>
              <a:rPr smtClean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Row Major Order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/>
          <p:cNvSpPr txBox="1"/>
          <p:nvPr/>
        </p:nvSpPr>
        <p:spPr>
          <a:xfrm>
            <a:off x="707300" y="1299450"/>
            <a:ext cx="3395345" cy="1063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5760" indent="-353060">
              <a:lnSpc>
                <a:spcPct val="100000"/>
              </a:lnSpc>
              <a:spcBef>
                <a:spcPts val="100"/>
              </a:spcBef>
              <a:tabLst>
                <a:tab pos="365760" algn="l"/>
              </a:tabLst>
            </a:pPr>
            <a:r>
              <a:rPr sz="1400" dirty="0">
                <a:solidFill>
                  <a:srgbClr val="EE220C"/>
                </a:solidFill>
                <a:latin typeface="Arial MT"/>
                <a:cs typeface="Arial MT"/>
              </a:rPr>
              <a:t>Row</a:t>
            </a:r>
            <a:r>
              <a:rPr sz="1400" spc="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EE220C"/>
                </a:solidFill>
                <a:latin typeface="Arial MT"/>
                <a:cs typeface="Arial MT"/>
              </a:rPr>
              <a:t>major</a:t>
            </a:r>
            <a:r>
              <a:rPr sz="1400" spc="15" dirty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EE220C"/>
                </a:solidFill>
                <a:latin typeface="Arial MT"/>
                <a:cs typeface="Arial MT"/>
              </a:rPr>
              <a:t>mapping</a:t>
            </a:r>
            <a:endParaRPr sz="1400">
              <a:latin typeface="Arial MT"/>
              <a:cs typeface="Arial MT"/>
            </a:endParaRPr>
          </a:p>
          <a:p>
            <a:pPr marL="157480" lvl="1" indent="-144780">
              <a:lnSpc>
                <a:spcPct val="100000"/>
              </a:lnSpc>
              <a:spcBef>
                <a:spcPts val="1520"/>
              </a:spcBef>
              <a:buChar char="•"/>
              <a:tabLst>
                <a:tab pos="157480" algn="l"/>
              </a:tabLst>
            </a:pPr>
            <a:r>
              <a:rPr sz="1400" dirty="0">
                <a:latin typeface="Arial MT"/>
                <a:cs typeface="Arial MT"/>
              </a:rPr>
              <a:t>Here the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elements are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stored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row by</a:t>
            </a:r>
            <a:r>
              <a:rPr sz="1400" spc="5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row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0076BA"/>
                </a:solidFill>
                <a:latin typeface="Arial"/>
                <a:cs typeface="Arial"/>
              </a:rPr>
              <a:t>Example </a:t>
            </a:r>
            <a:r>
              <a:rPr sz="1400" b="1" spc="-50" dirty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3"/>
          <p:cNvSpPr txBox="1"/>
          <p:nvPr/>
        </p:nvSpPr>
        <p:spPr>
          <a:xfrm>
            <a:off x="5360580" y="3861789"/>
            <a:ext cx="4659630" cy="913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7005" indent="-154305">
              <a:lnSpc>
                <a:spcPct val="100000"/>
              </a:lnSpc>
              <a:spcBef>
                <a:spcPts val="100"/>
              </a:spcBef>
              <a:buChar char="•"/>
              <a:tabLst>
                <a:tab pos="167005" algn="l"/>
              </a:tabLst>
            </a:pPr>
            <a:r>
              <a:rPr sz="1500" spc="-10" dirty="0">
                <a:latin typeface="Arial MT"/>
                <a:cs typeface="Arial MT"/>
              </a:rPr>
              <a:t>The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formula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for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accessing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this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2D</a:t>
            </a:r>
            <a:r>
              <a:rPr sz="1500" spc="-10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array</a:t>
            </a:r>
            <a:r>
              <a:rPr sz="1500" spc="-15" dirty="0">
                <a:latin typeface="Arial MT"/>
                <a:cs typeface="Arial MT"/>
              </a:rPr>
              <a:t> </a:t>
            </a:r>
            <a:r>
              <a:rPr sz="1500" spc="-25" dirty="0">
                <a:latin typeface="Arial MT"/>
                <a:cs typeface="Arial MT"/>
              </a:rPr>
              <a:t>is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64"/>
              </a:spcBef>
            </a:pPr>
            <a:endParaRPr sz="1500">
              <a:latin typeface="Arial MT"/>
              <a:cs typeface="Arial MT"/>
            </a:endParaRPr>
          </a:p>
          <a:p>
            <a:pPr marL="1498600">
              <a:lnSpc>
                <a:spcPct val="100000"/>
              </a:lnSpc>
            </a:pPr>
            <a:r>
              <a:rPr sz="1500" b="1" spc="-20" dirty="0">
                <a:solidFill>
                  <a:srgbClr val="EE220C"/>
                </a:solidFill>
                <a:latin typeface="Arial"/>
                <a:cs typeface="Arial"/>
              </a:rPr>
              <a:t>Add(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])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L</a:t>
            </a:r>
            <a:r>
              <a:rPr sz="1000" b="1" dirty="0">
                <a:solidFill>
                  <a:srgbClr val="EE220C"/>
                </a:solidFill>
                <a:latin typeface="Arial"/>
                <a:cs typeface="Arial"/>
              </a:rPr>
              <a:t>0</a:t>
            </a:r>
            <a:r>
              <a:rPr sz="1000" b="1" spc="1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n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39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spc="5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8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0457" y="3379137"/>
            <a:ext cx="4045284" cy="2377126"/>
          </a:xfrm>
          <a:prstGeom prst="rect">
            <a:avLst/>
          </a:prstGeom>
        </p:spPr>
      </p:pic>
      <p:pic>
        <p:nvPicPr>
          <p:cNvPr id="9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0552" y="2291193"/>
            <a:ext cx="5363326" cy="624302"/>
          </a:xfrm>
          <a:prstGeom prst="rect">
            <a:avLst/>
          </a:prstGeom>
        </p:spPr>
      </p:pic>
      <p:sp>
        <p:nvSpPr>
          <p:cNvPr id="10" name="object 6"/>
          <p:cNvSpPr txBox="1"/>
          <p:nvPr/>
        </p:nvSpPr>
        <p:spPr>
          <a:xfrm>
            <a:off x="5987787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00</a:t>
            </a:r>
            <a:endParaRPr sz="600">
              <a:latin typeface="Arial"/>
              <a:cs typeface="Arial"/>
            </a:endParaRPr>
          </a:p>
        </p:txBody>
      </p:sp>
      <p:sp>
        <p:nvSpPr>
          <p:cNvPr id="11" name="object 7"/>
          <p:cNvSpPr txBox="1"/>
          <p:nvPr/>
        </p:nvSpPr>
        <p:spPr>
          <a:xfrm>
            <a:off x="6396321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01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6847221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02</a:t>
            </a:r>
            <a:endParaRPr sz="600">
              <a:latin typeface="Arial"/>
              <a:cs typeface="Arial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7255755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0076BA"/>
                </a:solidFill>
                <a:latin typeface="Arial"/>
                <a:cs typeface="Arial"/>
              </a:rPr>
              <a:t>03</a:t>
            </a:r>
            <a:endParaRPr sz="600">
              <a:latin typeface="Arial"/>
              <a:cs typeface="Arial"/>
            </a:endParaRPr>
          </a:p>
        </p:txBody>
      </p:sp>
      <p:sp>
        <p:nvSpPr>
          <p:cNvPr id="14" name="object 10"/>
          <p:cNvSpPr txBox="1"/>
          <p:nvPr/>
        </p:nvSpPr>
        <p:spPr>
          <a:xfrm>
            <a:off x="7685472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10</a:t>
            </a:r>
            <a:endParaRPr sz="600">
              <a:latin typeface="Arial"/>
              <a:cs typeface="Arial"/>
            </a:endParaRPr>
          </a:p>
        </p:txBody>
      </p:sp>
      <p:sp>
        <p:nvSpPr>
          <p:cNvPr id="15" name="object 11"/>
          <p:cNvSpPr txBox="1"/>
          <p:nvPr/>
        </p:nvSpPr>
        <p:spPr>
          <a:xfrm>
            <a:off x="8115190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11</a:t>
            </a:r>
            <a:endParaRPr sz="600">
              <a:latin typeface="Arial"/>
              <a:cs typeface="Arial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8566090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12</a:t>
            </a:r>
            <a:endParaRPr sz="600">
              <a:latin typeface="Arial"/>
              <a:cs typeface="Arial"/>
            </a:endParaRPr>
          </a:p>
        </p:txBody>
      </p:sp>
      <p:sp>
        <p:nvSpPr>
          <p:cNvPr id="17" name="object 13"/>
          <p:cNvSpPr txBox="1"/>
          <p:nvPr/>
        </p:nvSpPr>
        <p:spPr>
          <a:xfrm>
            <a:off x="9038175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FF42A1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FF42A1"/>
                </a:solidFill>
                <a:latin typeface="Arial"/>
                <a:cs typeface="Arial"/>
              </a:rPr>
              <a:t>13</a:t>
            </a:r>
            <a:endParaRPr sz="600">
              <a:latin typeface="Arial"/>
              <a:cs typeface="Arial"/>
            </a:endParaRPr>
          </a:p>
        </p:txBody>
      </p:sp>
      <p:sp>
        <p:nvSpPr>
          <p:cNvPr id="18" name="object 14"/>
          <p:cNvSpPr txBox="1"/>
          <p:nvPr/>
        </p:nvSpPr>
        <p:spPr>
          <a:xfrm>
            <a:off x="9467892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20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5"/>
          <p:cNvSpPr txBox="1"/>
          <p:nvPr/>
        </p:nvSpPr>
        <p:spPr>
          <a:xfrm>
            <a:off x="9897609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21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16"/>
          <p:cNvSpPr txBox="1"/>
          <p:nvPr/>
        </p:nvSpPr>
        <p:spPr>
          <a:xfrm>
            <a:off x="10284959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22</a:t>
            </a:r>
            <a:endParaRPr sz="600">
              <a:latin typeface="Arial"/>
              <a:cs typeface="Arial"/>
            </a:endParaRPr>
          </a:p>
        </p:txBody>
      </p:sp>
      <p:sp>
        <p:nvSpPr>
          <p:cNvPr id="21" name="object 17"/>
          <p:cNvSpPr txBox="1"/>
          <p:nvPr/>
        </p:nvSpPr>
        <p:spPr>
          <a:xfrm>
            <a:off x="10714676" y="2544480"/>
            <a:ext cx="180340" cy="147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600" b="1" spc="-25" dirty="0">
                <a:solidFill>
                  <a:srgbClr val="1DB100"/>
                </a:solidFill>
                <a:latin typeface="Arial"/>
                <a:cs typeface="Arial"/>
              </a:rPr>
              <a:t>23</a:t>
            </a:r>
            <a:endParaRPr sz="6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Column Major Order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647010" y="1381577"/>
            <a:ext cx="51847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700">
              <a:latin typeface="Arial"/>
              <a:cs typeface="Arial"/>
            </a:endParaRPr>
          </a:p>
          <a:p>
            <a:pPr marL="187960" indent="-175260">
              <a:lnSpc>
                <a:spcPct val="100000"/>
              </a:lnSpc>
              <a:buChar char="•"/>
              <a:tabLst>
                <a:tab pos="187960" algn="l"/>
              </a:tabLst>
            </a:pPr>
            <a:r>
              <a:rPr sz="1500" spc="-10" dirty="0">
                <a:latin typeface="Arial MT"/>
                <a:cs typeface="Arial MT"/>
              </a:rPr>
              <a:t>Here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the elements of array </a:t>
            </a:r>
            <a:r>
              <a:rPr sz="1500" spc="-10" dirty="0">
                <a:latin typeface="Arial MT"/>
                <a:cs typeface="Arial MT"/>
              </a:rPr>
              <a:t>are</a:t>
            </a:r>
            <a:r>
              <a:rPr sz="1500" spc="-5" dirty="0">
                <a:latin typeface="Arial MT"/>
                <a:cs typeface="Arial MT"/>
              </a:rPr>
              <a:t> </a:t>
            </a:r>
            <a:r>
              <a:rPr sz="1500" dirty="0">
                <a:latin typeface="Arial MT"/>
                <a:cs typeface="Arial MT"/>
              </a:rPr>
              <a:t>stored in column by </a:t>
            </a:r>
            <a:r>
              <a:rPr sz="1500" spc="-10" dirty="0">
                <a:latin typeface="Arial MT"/>
                <a:cs typeface="Arial MT"/>
              </a:rPr>
              <a:t>column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8" name="object 4"/>
          <p:cNvSpPr txBox="1"/>
          <p:nvPr/>
        </p:nvSpPr>
        <p:spPr>
          <a:xfrm>
            <a:off x="6856890" y="3402347"/>
            <a:ext cx="4688840" cy="681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7640" indent="-154940">
              <a:lnSpc>
                <a:spcPct val="100000"/>
              </a:lnSpc>
              <a:spcBef>
                <a:spcPts val="100"/>
              </a:spcBef>
              <a:buChar char="•"/>
              <a:tabLst>
                <a:tab pos="167640" algn="l"/>
              </a:tabLst>
            </a:pPr>
            <a:r>
              <a:rPr sz="1400" dirty="0">
                <a:latin typeface="Arial MT"/>
                <a:cs typeface="Arial MT"/>
              </a:rPr>
              <a:t>The</a:t>
            </a:r>
            <a:r>
              <a:rPr sz="1400" spc="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formula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obtaining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address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for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each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element</a:t>
            </a:r>
            <a:r>
              <a:rPr sz="1400" spc="25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is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1400">
              <a:latin typeface="Arial MT"/>
              <a:cs typeface="Arial MT"/>
            </a:endParaRPr>
          </a:p>
          <a:p>
            <a:pPr marL="1468755">
              <a:lnSpc>
                <a:spcPct val="100000"/>
              </a:lnSpc>
            </a:pP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Add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(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A[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][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)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=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L</a:t>
            </a:r>
            <a:r>
              <a:rPr sz="1000" b="1" dirty="0">
                <a:solidFill>
                  <a:srgbClr val="EE220C"/>
                </a:solidFill>
                <a:latin typeface="Arial"/>
                <a:cs typeface="Arial"/>
              </a:rPr>
              <a:t>0</a:t>
            </a:r>
            <a:r>
              <a:rPr sz="1000" b="1" spc="12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[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i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m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+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j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]</a:t>
            </a:r>
            <a:r>
              <a:rPr sz="1500" b="1" spc="-10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EE220C"/>
                </a:solidFill>
                <a:latin typeface="Arial"/>
                <a:cs typeface="Arial"/>
              </a:rPr>
              <a:t>*</a:t>
            </a:r>
            <a:r>
              <a:rPr sz="1500" b="1" spc="-15" dirty="0">
                <a:solidFill>
                  <a:srgbClr val="EE220C"/>
                </a:solidFill>
                <a:latin typeface="Arial"/>
                <a:cs typeface="Arial"/>
              </a:rPr>
              <a:t> </a:t>
            </a:r>
            <a:r>
              <a:rPr sz="1500" b="1" spc="5" dirty="0">
                <a:solidFill>
                  <a:srgbClr val="EE220C"/>
                </a:solidFill>
                <a:latin typeface="Arial"/>
                <a:cs typeface="Arial"/>
              </a:rPr>
              <a:t>w</a:t>
            </a:r>
            <a:endParaRPr sz="1500">
              <a:latin typeface="Arial"/>
              <a:cs typeface="Arial"/>
            </a:endParaRPr>
          </a:p>
        </p:txBody>
      </p:sp>
      <p:pic>
        <p:nvPicPr>
          <p:cNvPr id="9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9336" y="2059152"/>
            <a:ext cx="5913365" cy="3276800"/>
          </a:xfrm>
          <a:prstGeom prst="rect">
            <a:avLst/>
          </a:prstGeom>
        </p:spPr>
      </p:pic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1815" y="4932820"/>
            <a:ext cx="5762457" cy="1083014"/>
          </a:xfrm>
          <a:prstGeom prst="rect">
            <a:avLst/>
          </a:prstGeom>
        </p:spPr>
      </p:pic>
      <p:sp>
        <p:nvSpPr>
          <p:cNvPr id="11" name="object 7"/>
          <p:cNvSpPr txBox="1"/>
          <p:nvPr/>
        </p:nvSpPr>
        <p:spPr>
          <a:xfrm>
            <a:off x="2856941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359003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417484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4" name="object 10"/>
          <p:cNvSpPr txBox="1"/>
          <p:nvPr/>
        </p:nvSpPr>
        <p:spPr>
          <a:xfrm>
            <a:off x="4759655" y="2911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03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5" name="object 11"/>
          <p:cNvSpPr txBox="1"/>
          <p:nvPr/>
        </p:nvSpPr>
        <p:spPr>
          <a:xfrm>
            <a:off x="2853410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3561791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7" name="object 13"/>
          <p:cNvSpPr txBox="1"/>
          <p:nvPr/>
        </p:nvSpPr>
        <p:spPr>
          <a:xfrm>
            <a:off x="4171315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8" name="object 14"/>
          <p:cNvSpPr txBox="1"/>
          <p:nvPr/>
        </p:nvSpPr>
        <p:spPr>
          <a:xfrm>
            <a:off x="4805553" y="3673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13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19" name="object 15"/>
          <p:cNvSpPr txBox="1"/>
          <p:nvPr/>
        </p:nvSpPr>
        <p:spPr>
          <a:xfrm>
            <a:off x="2878124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20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0" name="object 16"/>
          <p:cNvSpPr txBox="1"/>
          <p:nvPr/>
        </p:nvSpPr>
        <p:spPr>
          <a:xfrm>
            <a:off x="3586505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21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1" name="object 17"/>
          <p:cNvSpPr txBox="1"/>
          <p:nvPr/>
        </p:nvSpPr>
        <p:spPr>
          <a:xfrm>
            <a:off x="4171315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22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22" name="object 18"/>
          <p:cNvSpPr txBox="1"/>
          <p:nvPr/>
        </p:nvSpPr>
        <p:spPr>
          <a:xfrm>
            <a:off x="4830267" y="4435933"/>
            <a:ext cx="2152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>
                <a:latin typeface="Arial MT"/>
                <a:cs typeface="Arial MT"/>
              </a:rPr>
              <a:t>A</a:t>
            </a:r>
            <a:r>
              <a:rPr sz="700" spc="-25" dirty="0">
                <a:latin typeface="Arial MT"/>
                <a:cs typeface="Arial MT"/>
              </a:rPr>
              <a:t>23</a:t>
            </a:r>
            <a:endParaRPr sz="700">
              <a:latin typeface="Arial MT"/>
              <a:cs typeface="Arial MT"/>
            </a:endParaRPr>
          </a:p>
        </p:txBody>
      </p:sp>
      <p:sp>
        <p:nvSpPr>
          <p:cNvPr id="32" name="object 19"/>
          <p:cNvSpPr txBox="1"/>
          <p:nvPr/>
        </p:nvSpPr>
        <p:spPr>
          <a:xfrm>
            <a:off x="1360616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00</a:t>
            </a:r>
            <a:endParaRPr sz="700">
              <a:latin typeface="Arial"/>
              <a:cs typeface="Arial"/>
            </a:endParaRPr>
          </a:p>
        </p:txBody>
      </p:sp>
      <p:sp>
        <p:nvSpPr>
          <p:cNvPr id="33" name="object 20"/>
          <p:cNvSpPr txBox="1"/>
          <p:nvPr/>
        </p:nvSpPr>
        <p:spPr>
          <a:xfrm>
            <a:off x="1809625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10</a:t>
            </a:r>
            <a:endParaRPr sz="700">
              <a:latin typeface="Arial"/>
              <a:cs typeface="Arial"/>
            </a:endParaRPr>
          </a:p>
        </p:txBody>
      </p:sp>
      <p:sp>
        <p:nvSpPr>
          <p:cNvPr id="34" name="object 21"/>
          <p:cNvSpPr txBox="1"/>
          <p:nvPr/>
        </p:nvSpPr>
        <p:spPr>
          <a:xfrm>
            <a:off x="2258633" y="5505286"/>
            <a:ext cx="57785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7350" algn="l"/>
              </a:tabLst>
            </a:pPr>
            <a:r>
              <a:rPr sz="900" b="1" spc="-25" dirty="0">
                <a:solidFill>
                  <a:srgbClr val="0076BA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0076BA"/>
                </a:solidFill>
                <a:latin typeface="Arial"/>
                <a:cs typeface="Arial"/>
              </a:rPr>
              <a:t>20</a:t>
            </a:r>
            <a:r>
              <a:rPr sz="700" b="1" dirty="0">
                <a:solidFill>
                  <a:srgbClr val="0076BA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01</a:t>
            </a:r>
            <a:endParaRPr sz="700">
              <a:latin typeface="Arial"/>
              <a:cs typeface="Arial"/>
            </a:endParaRPr>
          </a:p>
        </p:txBody>
      </p:sp>
      <p:sp>
        <p:nvSpPr>
          <p:cNvPr id="35" name="object 22"/>
          <p:cNvSpPr txBox="1"/>
          <p:nvPr/>
        </p:nvSpPr>
        <p:spPr>
          <a:xfrm>
            <a:off x="3082508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11</a:t>
            </a:r>
            <a:endParaRPr sz="700">
              <a:latin typeface="Arial"/>
              <a:cs typeface="Arial"/>
            </a:endParaRPr>
          </a:p>
        </p:txBody>
      </p:sp>
      <p:sp>
        <p:nvSpPr>
          <p:cNvPr id="36" name="object 23"/>
          <p:cNvSpPr txBox="1"/>
          <p:nvPr/>
        </p:nvSpPr>
        <p:spPr>
          <a:xfrm>
            <a:off x="3531517" y="5505286"/>
            <a:ext cx="57785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7350" algn="l"/>
              </a:tabLst>
            </a:pPr>
            <a:r>
              <a:rPr sz="900" b="1" spc="-25" dirty="0">
                <a:solidFill>
                  <a:srgbClr val="D31876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D31876"/>
                </a:solidFill>
                <a:latin typeface="Arial"/>
                <a:cs typeface="Arial"/>
              </a:rPr>
              <a:t>21</a:t>
            </a:r>
            <a:r>
              <a:rPr sz="700" b="1" dirty="0">
                <a:solidFill>
                  <a:srgbClr val="D31876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02</a:t>
            </a:r>
            <a:endParaRPr sz="700">
              <a:latin typeface="Arial"/>
              <a:cs typeface="Arial"/>
            </a:endParaRPr>
          </a:p>
        </p:txBody>
      </p:sp>
      <p:sp>
        <p:nvSpPr>
          <p:cNvPr id="37" name="object 24"/>
          <p:cNvSpPr txBox="1"/>
          <p:nvPr/>
        </p:nvSpPr>
        <p:spPr>
          <a:xfrm>
            <a:off x="4355391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12</a:t>
            </a:r>
            <a:endParaRPr sz="700">
              <a:latin typeface="Arial"/>
              <a:cs typeface="Arial"/>
            </a:endParaRPr>
          </a:p>
        </p:txBody>
      </p:sp>
      <p:sp>
        <p:nvSpPr>
          <p:cNvPr id="38" name="object 25"/>
          <p:cNvSpPr txBox="1"/>
          <p:nvPr/>
        </p:nvSpPr>
        <p:spPr>
          <a:xfrm>
            <a:off x="4804399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1DB1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1DB100"/>
                </a:solidFill>
                <a:latin typeface="Arial"/>
                <a:cs typeface="Arial"/>
              </a:rPr>
              <a:t>22</a:t>
            </a:r>
            <a:endParaRPr sz="700">
              <a:latin typeface="Arial"/>
              <a:cs typeface="Arial"/>
            </a:endParaRPr>
          </a:p>
        </p:txBody>
      </p:sp>
      <p:sp>
        <p:nvSpPr>
          <p:cNvPr id="39" name="object 26"/>
          <p:cNvSpPr txBox="1"/>
          <p:nvPr/>
        </p:nvSpPr>
        <p:spPr>
          <a:xfrm>
            <a:off x="5253408" y="5505286"/>
            <a:ext cx="60261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2115" algn="l"/>
              </a:tabLst>
            </a:pP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03</a:t>
            </a:r>
            <a:r>
              <a:rPr sz="700" b="1" dirty="0">
                <a:solidFill>
                  <a:srgbClr val="F27200"/>
                </a:solidFill>
                <a:latin typeface="Arial"/>
                <a:cs typeface="Arial"/>
              </a:rPr>
              <a:t>	</a:t>
            </a: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13</a:t>
            </a:r>
            <a:endParaRPr sz="700">
              <a:latin typeface="Arial"/>
              <a:cs typeface="Arial"/>
            </a:endParaRPr>
          </a:p>
        </p:txBody>
      </p:sp>
      <p:sp>
        <p:nvSpPr>
          <p:cNvPr id="40" name="object 27"/>
          <p:cNvSpPr txBox="1"/>
          <p:nvPr/>
        </p:nvSpPr>
        <p:spPr>
          <a:xfrm>
            <a:off x="6077282" y="5505286"/>
            <a:ext cx="20256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25" dirty="0">
                <a:solidFill>
                  <a:srgbClr val="F27200"/>
                </a:solidFill>
                <a:latin typeface="Arial"/>
                <a:cs typeface="Arial"/>
              </a:rPr>
              <a:t>A</a:t>
            </a:r>
            <a:r>
              <a:rPr sz="700" b="1" spc="-25" dirty="0">
                <a:solidFill>
                  <a:srgbClr val="F27200"/>
                </a:solidFill>
                <a:latin typeface="Arial"/>
                <a:cs typeface="Arial"/>
              </a:rPr>
              <a:t>23</a:t>
            </a:r>
            <a:endParaRPr sz="7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 based on RMO and CMO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410" name="AutoShape 2" descr="Row and Column Major Ordering in an Array | TechAlmirah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2" name="AutoShape 4" descr="row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4" name="AutoShape 6" descr="row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6" name="AutoShape 8" descr="Column major order in an Arra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18" name="AutoShape 10" descr="Addressing Formulas for Sparse Matrices Using Column Major in 1D Arrays.pptx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Static</a:t>
            </a:r>
            <a:r>
              <a:rPr lang="en-US" spc="-85" dirty="0" smtClean="0"/>
              <a:t> </a:t>
            </a:r>
            <a:r>
              <a:rPr lang="en-US" dirty="0" err="1" smtClean="0"/>
              <a:t>vs</a:t>
            </a:r>
            <a:r>
              <a:rPr lang="en-US" spc="-85" dirty="0" smtClean="0"/>
              <a:t> </a:t>
            </a:r>
            <a:r>
              <a:rPr lang="en-US" dirty="0" smtClean="0"/>
              <a:t>Dynamic</a:t>
            </a:r>
            <a:r>
              <a:rPr lang="en-US" spc="-85" dirty="0" smtClean="0"/>
              <a:t> </a:t>
            </a:r>
            <a:r>
              <a:rPr lang="en-US" spc="-10" dirty="0" smtClean="0"/>
              <a:t>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711200" y="1484503"/>
            <a:ext cx="11246338" cy="5709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8120" indent="-185420">
              <a:lnSpc>
                <a:spcPct val="100000"/>
              </a:lnSpc>
              <a:spcBef>
                <a:spcPts val="1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means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I.e.;</a:t>
            </a:r>
            <a:r>
              <a:rPr lang="en-US" sz="1500" spc="390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fixed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means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-2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I.e.;</a:t>
            </a:r>
            <a:r>
              <a:rPr lang="en-US" sz="1500" spc="360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flexible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created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created inside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Stacking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10" dirty="0" smtClean="0">
                <a:latin typeface="Arial MT"/>
                <a:cs typeface="Arial MT"/>
              </a:rPr>
              <a:t>memory</a:t>
            </a:r>
            <a:endParaRPr lang="en-US" sz="1500" dirty="0" smtClean="0">
              <a:latin typeface="Arial MT"/>
              <a:cs typeface="Arial MT"/>
            </a:endParaRPr>
          </a:p>
          <a:p>
            <a:pPr marL="198120" indent="-185420">
              <a:lnSpc>
                <a:spcPct val="100000"/>
              </a:lnSpc>
              <a:spcBef>
                <a:spcPts val="1600"/>
              </a:spcBef>
              <a:buChar char="•"/>
              <a:tabLst>
                <a:tab pos="198120" algn="l"/>
              </a:tabLst>
            </a:pPr>
            <a:r>
              <a:rPr lang="en-US" sz="1500" spc="-10" dirty="0" smtClean="0">
                <a:latin typeface="Arial MT"/>
                <a:cs typeface="Arial MT"/>
              </a:rPr>
              <a:t>The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size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of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the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is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decided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during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at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compile</a:t>
            </a:r>
            <a:r>
              <a:rPr lang="en-US" sz="1500" spc="1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time</a:t>
            </a:r>
            <a:endParaRPr lang="en-US" sz="1500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"/>
              </a:spcBef>
              <a:buFont typeface="Arial MT"/>
              <a:buChar char="•"/>
            </a:pPr>
            <a:endParaRPr lang="en-US" sz="1500" dirty="0" smtClean="0">
              <a:latin typeface="Arial MT"/>
              <a:cs typeface="Arial MT"/>
            </a:endParaRPr>
          </a:p>
          <a:p>
            <a:pPr marL="197485" marR="222250" indent="-185420">
              <a:lnSpc>
                <a:spcPts val="1700"/>
              </a:lnSpc>
              <a:buChar char="•"/>
              <a:tabLst>
                <a:tab pos="199390" algn="l"/>
              </a:tabLst>
            </a:pP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declaring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must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be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static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value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only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and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not 	</a:t>
            </a:r>
            <a:r>
              <a:rPr lang="en-US" sz="1500" spc="-10" dirty="0" smtClean="0">
                <a:latin typeface="Arial MT"/>
                <a:cs typeface="Arial MT"/>
              </a:rPr>
              <a:t>variable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type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spc="50" dirty="0" smtClean="0">
                <a:latin typeface="Arial MT"/>
                <a:cs typeface="Arial MT"/>
              </a:rPr>
              <a:t>c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language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however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c++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dynamic</a:t>
            </a:r>
            <a:r>
              <a:rPr lang="en-US" sz="1500" spc="2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allocation</a:t>
            </a:r>
            <a:r>
              <a:rPr lang="en-US" sz="1500" spc="1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is 	</a:t>
            </a:r>
            <a:r>
              <a:rPr lang="en-US" sz="1500" dirty="0" smtClean="0">
                <a:latin typeface="Arial MT"/>
                <a:cs typeface="Arial MT"/>
              </a:rPr>
              <a:t>possible</a:t>
            </a:r>
            <a:r>
              <a:rPr lang="en-US" sz="1500" spc="6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during</a:t>
            </a:r>
            <a:r>
              <a:rPr lang="en-US" sz="1500" spc="6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compile</a:t>
            </a:r>
            <a:r>
              <a:rPr lang="en-US" sz="1500" spc="7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time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We</a:t>
            </a:r>
            <a:r>
              <a:rPr lang="en-US" sz="1500" spc="-3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can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create</a:t>
            </a:r>
            <a:r>
              <a:rPr lang="en-US" sz="1500" spc="-3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array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inside</a:t>
            </a:r>
            <a:r>
              <a:rPr lang="en-US" sz="1500" spc="-30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Heap: </a:t>
            </a:r>
            <a:r>
              <a:rPr lang="en-US" sz="1500" dirty="0" smtClean="0">
                <a:latin typeface="Arial MT"/>
                <a:cs typeface="Arial MT"/>
              </a:rPr>
              <a:t>When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accessing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any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value inside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a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heap it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must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be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done through</a:t>
            </a:r>
            <a:r>
              <a:rPr lang="en-US" sz="1500" spc="-5" dirty="0" smtClean="0">
                <a:latin typeface="Arial MT"/>
                <a:cs typeface="Arial MT"/>
              </a:rPr>
              <a:t> </a:t>
            </a:r>
            <a:r>
              <a:rPr lang="en-US" sz="1500" spc="-50" dirty="0" smtClean="0">
                <a:latin typeface="Arial MT"/>
                <a:cs typeface="Arial MT"/>
              </a:rPr>
              <a:t>a </a:t>
            </a:r>
            <a:r>
              <a:rPr lang="en-US" sz="1500" spc="-10" dirty="0" smtClean="0">
                <a:latin typeface="Arial MT"/>
                <a:cs typeface="Arial MT"/>
              </a:rPr>
              <a:t>pointer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b="1" dirty="0" smtClean="0">
                <a:solidFill>
                  <a:srgbClr val="0076BA"/>
                </a:solidFill>
                <a:latin typeface="Arial"/>
                <a:cs typeface="Arial"/>
              </a:rPr>
              <a:t>Example</a:t>
            </a:r>
            <a:r>
              <a:rPr lang="en-US" b="1" spc="-75" dirty="0" smtClean="0">
                <a:solidFill>
                  <a:srgbClr val="0076BA"/>
                </a:solidFill>
                <a:latin typeface="Arial"/>
                <a:cs typeface="Arial"/>
              </a:rPr>
              <a:t> </a:t>
            </a:r>
            <a:r>
              <a:rPr lang="en-US" b="1" spc="-50" dirty="0" smtClean="0">
                <a:solidFill>
                  <a:srgbClr val="0076BA"/>
                </a:solidFill>
                <a:latin typeface="Arial"/>
                <a:cs typeface="Arial"/>
              </a:rPr>
              <a:t>:</a:t>
            </a:r>
            <a:endParaRPr lang="en-US" dirty="0" smtClean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US" dirty="0" smtClean="0">
              <a:latin typeface="Arial"/>
              <a:cs typeface="Arial"/>
            </a:endParaRPr>
          </a:p>
          <a:p>
            <a:pPr marL="12700">
              <a:lnSpc>
                <a:spcPts val="1750"/>
              </a:lnSpc>
            </a:pPr>
            <a:r>
              <a:rPr lang="en-US" sz="1500" spc="-10" dirty="0" smtClean="0">
                <a:latin typeface="Arial MT"/>
                <a:cs typeface="Arial MT"/>
              </a:rPr>
              <a:t>Void</a:t>
            </a:r>
            <a:r>
              <a:rPr lang="en-US" sz="1500" spc="-65" dirty="0" smtClean="0">
                <a:latin typeface="Arial MT"/>
                <a:cs typeface="Arial MT"/>
              </a:rPr>
              <a:t> </a:t>
            </a:r>
            <a:r>
              <a:rPr lang="en-US" sz="1500" spc="-20" dirty="0" smtClean="0">
                <a:latin typeface="Arial MT"/>
                <a:cs typeface="Arial MT"/>
              </a:rPr>
              <a:t>main(</a:t>
            </a:r>
            <a:r>
              <a:rPr lang="en-US" sz="1500" spc="-65" dirty="0" smtClean="0">
                <a:latin typeface="Arial MT"/>
                <a:cs typeface="Arial MT"/>
              </a:rPr>
              <a:t> </a:t>
            </a:r>
            <a:r>
              <a:rPr lang="en-US" sz="1500" spc="-50" dirty="0" smtClean="0">
                <a:latin typeface="Arial MT"/>
                <a:cs typeface="Arial MT"/>
              </a:rPr>
              <a:t>)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{</a:t>
            </a:r>
            <a:endParaRPr lang="en-US" sz="1500" dirty="0" smtClean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lang="en-US" sz="1500" dirty="0" smtClean="0">
              <a:latin typeface="Arial MT"/>
              <a:cs typeface="Arial MT"/>
            </a:endParaRPr>
          </a:p>
          <a:p>
            <a:pPr marL="469900" marR="4784725">
              <a:lnSpc>
                <a:spcPts val="1700"/>
              </a:lnSpc>
            </a:pP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45" dirty="0" smtClean="0">
                <a:latin typeface="Arial MT"/>
                <a:cs typeface="Arial MT"/>
              </a:rPr>
              <a:t> </a:t>
            </a:r>
            <a:r>
              <a:rPr lang="en-US" sz="1500" spc="-30" dirty="0" smtClean="0">
                <a:latin typeface="Arial MT"/>
                <a:cs typeface="Arial MT"/>
              </a:rPr>
              <a:t>A[5];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45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*p;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660"/>
              </a:lnSpc>
              <a:tabLst>
                <a:tab pos="502284" algn="l"/>
              </a:tabLst>
            </a:pPr>
            <a:r>
              <a:rPr lang="en-US" sz="1500" spc="-25" dirty="0" smtClean="0">
                <a:solidFill>
                  <a:srgbClr val="EE220C"/>
                </a:solidFill>
                <a:latin typeface="Arial MT"/>
                <a:cs typeface="Arial MT"/>
              </a:rPr>
              <a:t>C++</a:t>
            </a:r>
            <a:r>
              <a:rPr lang="en-US" sz="1500" dirty="0" smtClean="0">
                <a:solidFill>
                  <a:srgbClr val="EE220C"/>
                </a:solidFill>
                <a:latin typeface="Arial MT"/>
                <a:cs typeface="Arial MT"/>
              </a:rPr>
              <a:t>	</a:t>
            </a:r>
            <a:r>
              <a:rPr lang="en-US" sz="1500" spc="50" dirty="0" smtClean="0">
                <a:latin typeface="Arial MT"/>
                <a:cs typeface="Arial MT"/>
              </a:rPr>
              <a:t>p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=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new</a:t>
            </a:r>
            <a:r>
              <a:rPr lang="en-US" sz="1500" spc="5" dirty="0" smtClean="0">
                <a:latin typeface="Arial MT"/>
                <a:cs typeface="Arial MT"/>
              </a:rPr>
              <a:t> </a:t>
            </a:r>
            <a:r>
              <a:rPr lang="en-US" sz="1500" spc="-1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[5];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lang="en-US" sz="1500" dirty="0" smtClean="0">
                <a:solidFill>
                  <a:srgbClr val="EE220C"/>
                </a:solidFill>
                <a:latin typeface="Arial MT"/>
                <a:cs typeface="Arial MT"/>
              </a:rPr>
              <a:t>C</a:t>
            </a:r>
            <a:r>
              <a:rPr lang="en-US" sz="1500" spc="-55" dirty="0" smtClean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lang="en-US" sz="1500" dirty="0" err="1" smtClean="0">
                <a:solidFill>
                  <a:srgbClr val="EE220C"/>
                </a:solidFill>
                <a:latin typeface="Arial MT"/>
                <a:cs typeface="Arial MT"/>
              </a:rPr>
              <a:t>lang</a:t>
            </a:r>
            <a:r>
              <a:rPr lang="en-US" sz="1500" spc="395" dirty="0" smtClean="0">
                <a:solidFill>
                  <a:srgbClr val="EE220C"/>
                </a:solidFill>
                <a:latin typeface="Arial MT"/>
                <a:cs typeface="Arial MT"/>
              </a:rPr>
              <a:t> </a:t>
            </a:r>
            <a:r>
              <a:rPr lang="en-US" sz="1500" spc="50" dirty="0" smtClean="0">
                <a:latin typeface="Arial MT"/>
                <a:cs typeface="Arial MT"/>
              </a:rPr>
              <a:t>p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=(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smtClean="0">
                <a:latin typeface="Arial MT"/>
                <a:cs typeface="Arial MT"/>
              </a:rPr>
              <a:t>*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)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malloc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(</a:t>
            </a:r>
            <a:r>
              <a:rPr lang="en-US" sz="1500" dirty="0" smtClean="0">
                <a:latin typeface="Arial MT"/>
                <a:cs typeface="Arial MT"/>
              </a:rPr>
              <a:t> 5*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sizeof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(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dirty="0" err="1" smtClean="0">
                <a:latin typeface="Arial MT"/>
                <a:cs typeface="Arial MT"/>
              </a:rPr>
              <a:t>int</a:t>
            </a:r>
            <a:r>
              <a:rPr lang="en-US" sz="1500" spc="-10" dirty="0" smtClean="0">
                <a:latin typeface="Arial MT"/>
                <a:cs typeface="Arial MT"/>
              </a:rPr>
              <a:t> </a:t>
            </a:r>
            <a:r>
              <a:rPr lang="en-US" sz="1500" spc="-120" dirty="0" smtClean="0">
                <a:latin typeface="Arial MT"/>
                <a:cs typeface="Arial MT"/>
              </a:rPr>
              <a:t>)</a:t>
            </a:r>
            <a:r>
              <a:rPr lang="en-US" sz="1500" dirty="0" smtClean="0">
                <a:latin typeface="Arial MT"/>
                <a:cs typeface="Arial MT"/>
              </a:rPr>
              <a:t> </a:t>
            </a:r>
            <a:r>
              <a:rPr lang="en-US" sz="1500" spc="-25" dirty="0" smtClean="0">
                <a:latin typeface="Arial MT"/>
                <a:cs typeface="Arial MT"/>
              </a:rPr>
              <a:t>);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  <a:spcBef>
                <a:spcPts val="1600"/>
              </a:spcBef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0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>
              <a:lnSpc>
                <a:spcPts val="1750"/>
              </a:lnSpc>
            </a:pPr>
            <a:r>
              <a:rPr lang="en-US" sz="1500" spc="-50" dirty="0" smtClean="0">
                <a:latin typeface="Arial MT"/>
                <a:cs typeface="Arial MT"/>
              </a:rPr>
              <a:t>.</a:t>
            </a:r>
            <a:endParaRPr lang="en-US" sz="1500" dirty="0" smtClean="0">
              <a:latin typeface="Arial MT"/>
              <a:cs typeface="Arial MT"/>
            </a:endParaRPr>
          </a:p>
          <a:p>
            <a:pPr marL="12700" marR="1839595"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1: Static</a:t>
            </a:r>
            <a:r>
              <a:rPr lang="en-US" spc="-85" dirty="0" smtClean="0"/>
              <a:t> </a:t>
            </a:r>
            <a:r>
              <a:rPr lang="en-US" dirty="0" err="1" smtClean="0"/>
              <a:t>vs</a:t>
            </a:r>
            <a:r>
              <a:rPr lang="en-US" spc="-85" dirty="0" smtClean="0"/>
              <a:t> </a:t>
            </a:r>
            <a:r>
              <a:rPr lang="en-US" dirty="0" smtClean="0"/>
              <a:t>Dynamic</a:t>
            </a:r>
            <a:r>
              <a:rPr lang="en-US" spc="-85" dirty="0" smtClean="0"/>
              <a:t> </a:t>
            </a:r>
            <a:r>
              <a:rPr lang="en-US" spc="-10" dirty="0" smtClean="0"/>
              <a:t>Arrays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3"/>
          <p:cNvSpPr txBox="1"/>
          <p:nvPr/>
        </p:nvSpPr>
        <p:spPr>
          <a:xfrm>
            <a:off x="711200" y="1484503"/>
            <a:ext cx="6935596" cy="469359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839595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&lt;stdio.h&gt; </a:t>
            </a:r>
            <a:r>
              <a:rPr sz="15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&lt;stdlib.h&gt;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10" dirty="0">
                <a:latin typeface="Courier New"/>
                <a:cs typeface="Courier New"/>
              </a:rPr>
              <a:t>main()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spc="-50" dirty="0">
                <a:latin typeface="Courier New"/>
                <a:cs typeface="Courier New"/>
              </a:rPr>
              <a:t>{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10" dirty="0">
                <a:latin typeface="Courier New"/>
                <a:cs typeface="Courier New"/>
              </a:rPr>
              <a:t>A[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]={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6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8</a:t>
            </a:r>
            <a:r>
              <a:rPr sz="1500" spc="-10" dirty="0">
                <a:latin typeface="Courier New"/>
                <a:cs typeface="Courier New"/>
              </a:rPr>
              <a:t>,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10</a:t>
            </a:r>
            <a:r>
              <a:rPr sz="1500" spc="-10" dirty="0">
                <a:latin typeface="Courier New"/>
                <a:cs typeface="Courier New"/>
              </a:rPr>
              <a:t>};</a:t>
            </a:r>
            <a:endParaRPr sz="1500">
              <a:latin typeface="Courier New"/>
              <a:cs typeface="Courier New"/>
            </a:endParaRPr>
          </a:p>
          <a:p>
            <a:pPr marL="471170" marR="2757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25" dirty="0">
                <a:latin typeface="Courier New"/>
                <a:cs typeface="Courier New"/>
              </a:rPr>
              <a:t>*p; </a:t>
            </a: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500" spc="-25" dirty="0">
                <a:latin typeface="Courier New"/>
                <a:cs typeface="Courier New"/>
              </a:rPr>
              <a:t>i;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 marR="5080">
              <a:lnSpc>
                <a:spcPct val="100000"/>
              </a:lnSpc>
            </a:pPr>
            <a:r>
              <a:rPr sz="1500" dirty="0">
                <a:latin typeface="Courier New"/>
                <a:cs typeface="Courier New"/>
              </a:rPr>
              <a:t>p=(</a:t>
            </a: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500" spc="-5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latin typeface="Courier New"/>
                <a:cs typeface="Courier New"/>
              </a:rPr>
              <a:t>*)</a:t>
            </a:r>
            <a:r>
              <a:rPr sz="15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*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500" spc="-10" dirty="0">
                <a:latin typeface="Courier New"/>
                <a:cs typeface="Courier New"/>
              </a:rPr>
              <a:t>)); 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7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9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spc="-10" dirty="0">
                <a:latin typeface="Courier New"/>
                <a:cs typeface="Courier New"/>
              </a:rPr>
              <a:t>p[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500" spc="-10" dirty="0">
                <a:latin typeface="Courier New"/>
                <a:cs typeface="Courier New"/>
              </a:rPr>
              <a:t>]=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11</a:t>
            </a:r>
            <a:r>
              <a:rPr sz="1500" spc="-10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929640" marR="922019" indent="-459105">
              <a:lnSpc>
                <a:spcPct val="100000"/>
              </a:lnSpc>
            </a:pP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500" spc="-10" dirty="0">
                <a:latin typeface="Courier New"/>
                <a:cs typeface="Courier New"/>
              </a:rPr>
              <a:t>(i=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;i&lt;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;i++) </a:t>
            </a:r>
            <a:r>
              <a:rPr sz="15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dirty="0">
                <a:latin typeface="Courier New"/>
                <a:cs typeface="Courier New"/>
              </a:rPr>
              <a:t>(</a:t>
            </a:r>
            <a:r>
              <a:rPr sz="15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500" spc="-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500" spc="-10" dirty="0">
                <a:latin typeface="Courier New"/>
                <a:cs typeface="Courier New"/>
              </a:rPr>
              <a:t>,A[i]);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 marR="1725295">
              <a:lnSpc>
                <a:spcPct val="100000"/>
              </a:lnSpc>
            </a:pPr>
            <a:r>
              <a:rPr sz="1500" spc="-1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spc="-10" dirty="0">
                <a:latin typeface="Courier New"/>
                <a:cs typeface="Courier New"/>
              </a:rPr>
              <a:t>(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"\n"</a:t>
            </a:r>
            <a:r>
              <a:rPr sz="1500" spc="-10" dirty="0">
                <a:latin typeface="Courier New"/>
                <a:cs typeface="Courier New"/>
              </a:rPr>
              <a:t>); </a:t>
            </a:r>
            <a:r>
              <a:rPr sz="15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500" spc="-10" dirty="0">
                <a:latin typeface="Courier New"/>
                <a:cs typeface="Courier New"/>
              </a:rPr>
              <a:t>(i=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10" dirty="0">
                <a:latin typeface="Courier New"/>
                <a:cs typeface="Courier New"/>
              </a:rPr>
              <a:t>;i&lt;</a:t>
            </a:r>
            <a:r>
              <a:rPr sz="15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500" spc="-10" dirty="0">
                <a:latin typeface="Courier New"/>
                <a:cs typeface="Courier New"/>
              </a:rPr>
              <a:t>;i++)</a:t>
            </a:r>
            <a:endParaRPr sz="1500">
              <a:latin typeface="Courier New"/>
              <a:cs typeface="Courier New"/>
            </a:endParaRPr>
          </a:p>
          <a:p>
            <a:pPr marL="929640">
              <a:lnSpc>
                <a:spcPct val="100000"/>
              </a:lnSpc>
            </a:pPr>
            <a:r>
              <a:rPr sz="15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500" dirty="0">
                <a:latin typeface="Courier New"/>
                <a:cs typeface="Courier New"/>
              </a:rPr>
              <a:t>(</a:t>
            </a:r>
            <a:r>
              <a:rPr sz="15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500" spc="-1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5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500" spc="-10" dirty="0">
                <a:latin typeface="Courier New"/>
                <a:cs typeface="Courier New"/>
              </a:rPr>
              <a:t>,p[i]);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5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500" dirty="0">
                <a:solidFill>
                  <a:srgbClr val="BA2DA2"/>
                </a:solidFill>
                <a:latin typeface="Courier New"/>
                <a:cs typeface="Courier New"/>
              </a:rPr>
              <a:t>return </a:t>
            </a:r>
            <a:r>
              <a:rPr sz="1500" spc="-25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500" spc="-25" dirty="0">
                <a:latin typeface="Courier New"/>
                <a:cs typeface="Courier New"/>
              </a:rPr>
              <a:t>;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500" spc="-50" dirty="0">
                <a:latin typeface="Courier New"/>
                <a:cs typeface="Courier New"/>
              </a:rPr>
              <a:t>}</a:t>
            </a:r>
            <a:endParaRPr sz="15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2: 2D</a:t>
            </a:r>
            <a:r>
              <a:rPr lang="en-US" spc="40" dirty="0" smtClean="0"/>
              <a:t> </a:t>
            </a:r>
            <a:r>
              <a:rPr lang="en-US" spc="-30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341644" y="1421003"/>
            <a:ext cx="11615894" cy="43627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&lt;stdio.h&gt; </a:t>
            </a:r>
            <a:r>
              <a:rPr sz="1200" dirty="0">
                <a:solidFill>
                  <a:srgbClr val="78492A"/>
                </a:solidFill>
                <a:latin typeface="Courier New"/>
                <a:cs typeface="Courier New"/>
              </a:rPr>
              <a:t>#include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&lt;stdlib.h&gt;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10" dirty="0">
                <a:latin typeface="Courier New"/>
                <a:cs typeface="Courier New"/>
              </a:rPr>
              <a:t>main()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{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A[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][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]={{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},{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6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8</a:t>
            </a:r>
            <a:r>
              <a:rPr sz="1200" spc="-10" dirty="0">
                <a:latin typeface="Courier New"/>
                <a:cs typeface="Courier New"/>
              </a:rPr>
              <a:t>},{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5</a:t>
            </a:r>
            <a:r>
              <a:rPr sz="1200" spc="-10" dirty="0">
                <a:latin typeface="Courier New"/>
                <a:cs typeface="Courier New"/>
              </a:rPr>
              <a:t>,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7</a:t>
            </a:r>
            <a:r>
              <a:rPr sz="1200" spc="-10" dirty="0">
                <a:latin typeface="Courier New"/>
                <a:cs typeface="Courier New"/>
              </a:rPr>
              <a:t>}};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3903979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*B[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]; 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20" dirty="0">
                <a:latin typeface="Courier New"/>
                <a:cs typeface="Courier New"/>
              </a:rPr>
              <a:t>**C; 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 </a:t>
            </a:r>
            <a:r>
              <a:rPr sz="1200" spc="-20" dirty="0">
                <a:latin typeface="Courier New"/>
                <a:cs typeface="Courier New"/>
              </a:rPr>
              <a:t>i,j;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1151890" algn="just">
              <a:lnSpc>
                <a:spcPct val="100000"/>
              </a:lnSpc>
            </a:pP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B[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sz="1200">
              <a:latin typeface="Courier New"/>
              <a:cs typeface="Courier New"/>
            </a:endParaRPr>
          </a:p>
          <a:p>
            <a:pPr marL="471170" marR="1151890" algn="just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Courier New"/>
                <a:cs typeface="Courier New"/>
              </a:rPr>
              <a:t>C=(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dirty="0">
                <a:latin typeface="Courier New"/>
                <a:cs typeface="Courier New"/>
              </a:rPr>
              <a:t>**)</a:t>
            </a:r>
            <a:r>
              <a:rPr sz="120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dirty="0">
                <a:latin typeface="Courier New"/>
                <a:cs typeface="Courier New"/>
              </a:rPr>
              <a:t>*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20" dirty="0">
                <a:latin typeface="Courier New"/>
                <a:cs typeface="Courier New"/>
              </a:rPr>
              <a:t>*));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1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 </a:t>
            </a:r>
            <a:r>
              <a:rPr sz="1200" dirty="0">
                <a:latin typeface="Courier New"/>
                <a:cs typeface="Courier New"/>
              </a:rPr>
              <a:t>C[</a:t>
            </a:r>
            <a:r>
              <a:rPr sz="1200" dirty="0">
                <a:solidFill>
                  <a:srgbClr val="272AD8"/>
                </a:solidFill>
                <a:latin typeface="Courier New"/>
                <a:cs typeface="Courier New"/>
              </a:rPr>
              <a:t>2</a:t>
            </a:r>
            <a:r>
              <a:rPr sz="1200" dirty="0">
                <a:latin typeface="Courier New"/>
                <a:cs typeface="Courier New"/>
              </a:rPr>
              <a:t>]=(</a:t>
            </a: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20" dirty="0">
                <a:solidFill>
                  <a:srgbClr val="BA2DA2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latin typeface="Courier New"/>
                <a:cs typeface="Courier New"/>
              </a:rPr>
              <a:t>*)</a:t>
            </a: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malloc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*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sizeof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int</a:t>
            </a:r>
            <a:r>
              <a:rPr sz="1200" spc="-10" dirty="0">
                <a:latin typeface="Courier New"/>
                <a:cs typeface="Courier New"/>
              </a:rPr>
              <a:t>));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200" spc="-10" dirty="0">
                <a:latin typeface="Courier New"/>
                <a:cs typeface="Courier New"/>
              </a:rPr>
              <a:t>(i=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10" dirty="0">
                <a:latin typeface="Courier New"/>
                <a:cs typeface="Courier New"/>
              </a:rPr>
              <a:t>;i&lt;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3</a:t>
            </a:r>
            <a:r>
              <a:rPr sz="1200" spc="-10" dirty="0">
                <a:latin typeface="Courier New"/>
                <a:cs typeface="Courier New"/>
              </a:rPr>
              <a:t>;i++)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{</a:t>
            </a:r>
            <a:endParaRPr sz="1200">
              <a:latin typeface="Courier New"/>
              <a:cs typeface="Courier New"/>
            </a:endParaRPr>
          </a:p>
          <a:p>
            <a:pPr marL="1388745" marR="1610360" indent="-459105">
              <a:lnSpc>
                <a:spcPct val="100000"/>
              </a:lnSpc>
            </a:pPr>
            <a:r>
              <a:rPr sz="1200" spc="-10" dirty="0">
                <a:solidFill>
                  <a:srgbClr val="BA2DA2"/>
                </a:solidFill>
                <a:latin typeface="Courier New"/>
                <a:cs typeface="Courier New"/>
              </a:rPr>
              <a:t>for</a:t>
            </a:r>
            <a:r>
              <a:rPr sz="1200" spc="-10" dirty="0">
                <a:latin typeface="Courier New"/>
                <a:cs typeface="Courier New"/>
              </a:rPr>
              <a:t>(j=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10" dirty="0">
                <a:latin typeface="Courier New"/>
                <a:cs typeface="Courier New"/>
              </a:rPr>
              <a:t>;j&lt;</a:t>
            </a:r>
            <a:r>
              <a:rPr sz="1200" spc="-10" dirty="0">
                <a:solidFill>
                  <a:srgbClr val="272AD8"/>
                </a:solidFill>
                <a:latin typeface="Courier New"/>
                <a:cs typeface="Courier New"/>
              </a:rPr>
              <a:t>4</a:t>
            </a:r>
            <a:r>
              <a:rPr sz="1200" spc="-10" dirty="0">
                <a:latin typeface="Courier New"/>
                <a:cs typeface="Courier New"/>
              </a:rPr>
              <a:t>;j++) </a:t>
            </a:r>
            <a:r>
              <a:rPr sz="120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200" dirty="0">
                <a:latin typeface="Courier New"/>
                <a:cs typeface="Courier New"/>
              </a:rPr>
              <a:t>(</a:t>
            </a:r>
            <a:r>
              <a:rPr sz="1200" dirty="0">
                <a:solidFill>
                  <a:srgbClr val="D12F1B"/>
                </a:solidFill>
                <a:latin typeface="Courier New"/>
                <a:cs typeface="Courier New"/>
              </a:rPr>
              <a:t>"%d</a:t>
            </a:r>
            <a:r>
              <a:rPr sz="1200" spc="-5" dirty="0">
                <a:solidFill>
                  <a:srgbClr val="D12F1B"/>
                </a:solidFill>
                <a:latin typeface="Courier New"/>
                <a:cs typeface="Courier New"/>
              </a:rPr>
              <a:t> 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"</a:t>
            </a:r>
            <a:r>
              <a:rPr sz="1200" spc="-10" dirty="0">
                <a:latin typeface="Courier New"/>
                <a:cs typeface="Courier New"/>
              </a:rPr>
              <a:t>,C[i][j]);</a:t>
            </a:r>
            <a:endParaRPr sz="1200">
              <a:latin typeface="Courier New"/>
              <a:cs typeface="Courier New"/>
            </a:endParaRPr>
          </a:p>
          <a:p>
            <a:pPr marL="929640">
              <a:lnSpc>
                <a:spcPct val="100000"/>
              </a:lnSpc>
            </a:pPr>
            <a:r>
              <a:rPr sz="1200" spc="-10" dirty="0">
                <a:solidFill>
                  <a:srgbClr val="3E1E81"/>
                </a:solidFill>
                <a:latin typeface="Courier New"/>
                <a:cs typeface="Courier New"/>
              </a:rPr>
              <a:t>printf</a:t>
            </a:r>
            <a:r>
              <a:rPr sz="1200" spc="-10" dirty="0">
                <a:latin typeface="Courier New"/>
                <a:cs typeface="Courier New"/>
              </a:rPr>
              <a:t>(</a:t>
            </a:r>
            <a:r>
              <a:rPr sz="1200" spc="-10" dirty="0">
                <a:solidFill>
                  <a:srgbClr val="D12F1B"/>
                </a:solidFill>
                <a:latin typeface="Courier New"/>
                <a:cs typeface="Courier New"/>
              </a:rPr>
              <a:t>"\n"</a:t>
            </a:r>
            <a:r>
              <a:rPr sz="1200" spc="-10" dirty="0">
                <a:latin typeface="Courier New"/>
                <a:cs typeface="Courier New"/>
              </a:rPr>
              <a:t>);</a:t>
            </a: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00"/>
              </a:spcBef>
            </a:pPr>
            <a:endParaRPr sz="1200">
              <a:latin typeface="Courier New"/>
              <a:cs typeface="Courier New"/>
            </a:endParaRPr>
          </a:p>
          <a:p>
            <a:pPr marL="471170">
              <a:lnSpc>
                <a:spcPct val="100000"/>
              </a:lnSpc>
            </a:pPr>
            <a:r>
              <a:rPr sz="1200" dirty="0">
                <a:solidFill>
                  <a:srgbClr val="BA2DA2"/>
                </a:solidFill>
                <a:latin typeface="Courier New"/>
                <a:cs typeface="Courier New"/>
              </a:rPr>
              <a:t>return </a:t>
            </a:r>
            <a:r>
              <a:rPr sz="1200" spc="-25" dirty="0">
                <a:solidFill>
                  <a:srgbClr val="272AD8"/>
                </a:solidFill>
                <a:latin typeface="Courier New"/>
                <a:cs typeface="Courier New"/>
              </a:rPr>
              <a:t>0</a:t>
            </a:r>
            <a:r>
              <a:rPr sz="1200" spc="-25" dirty="0">
                <a:latin typeface="Courier New"/>
                <a:cs typeface="Courier New"/>
              </a:rPr>
              <a:t>;</a:t>
            </a:r>
            <a:endParaRPr sz="1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200" spc="-50" dirty="0">
                <a:latin typeface="Courier New"/>
                <a:cs typeface="Courier New"/>
              </a:rPr>
              <a:t>}</a:t>
            </a:r>
            <a:endParaRPr sz="1200"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3: 2D</a:t>
            </a:r>
            <a:r>
              <a:rPr lang="en-US" spc="40" dirty="0" smtClean="0"/>
              <a:t> </a:t>
            </a:r>
            <a:r>
              <a:rPr lang="en-US" spc="-30" dirty="0" smtClean="0"/>
              <a:t>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bject 3"/>
          <p:cNvSpPr txBox="1"/>
          <p:nvPr/>
        </p:nvSpPr>
        <p:spPr>
          <a:xfrm>
            <a:off x="341644" y="1421003"/>
            <a:ext cx="11615894" cy="41447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#include&lt;</a:t>
            </a:r>
            <a:r>
              <a:rPr lang="en-US" sz="1600" b="1" dirty="0" err="1" smtClean="0">
                <a:latin typeface="Roboto"/>
                <a:cs typeface="Courier New"/>
              </a:rPr>
              <a:t>stdio.h</a:t>
            </a:r>
            <a:r>
              <a:rPr lang="en-US" sz="1600" b="1" dirty="0" smtClean="0">
                <a:latin typeface="Roboto"/>
                <a:cs typeface="Courier New"/>
              </a:rPr>
              <a:t>&gt;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 main()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{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 A[3][3],</a:t>
            </a:r>
            <a:r>
              <a:rPr lang="en-US" sz="1600" b="1" dirty="0" err="1" smtClean="0">
                <a:latin typeface="Roboto"/>
                <a:cs typeface="Courier New"/>
              </a:rPr>
              <a:t>i,j</a:t>
            </a:r>
            <a:r>
              <a:rPr lang="en-US" sz="1600" b="1" dirty="0" smtClean="0">
                <a:latin typeface="Roboto"/>
                <a:cs typeface="Courier New"/>
              </a:rPr>
              <a:t>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("Size of integer variable : %d </a:t>
            </a:r>
            <a:r>
              <a:rPr lang="en-US" sz="1600" b="1" dirty="0" err="1" smtClean="0">
                <a:latin typeface="Roboto"/>
                <a:cs typeface="Courier New"/>
              </a:rPr>
              <a:t>Bytes",sizeof</a:t>
            </a:r>
            <a:r>
              <a:rPr lang="en-US" sz="1600" b="1" dirty="0" smtClean="0">
                <a:latin typeface="Roboto"/>
                <a:cs typeface="Courier New"/>
              </a:rPr>
              <a:t>(</a:t>
            </a:r>
            <a:r>
              <a:rPr lang="en-US" sz="1600" b="1" dirty="0" err="1" smtClean="0">
                <a:latin typeface="Roboto"/>
                <a:cs typeface="Courier New"/>
              </a:rPr>
              <a:t>int</a:t>
            </a:r>
            <a:r>
              <a:rPr lang="en-US" sz="1600" b="1" dirty="0" smtClean="0">
                <a:latin typeface="Roboto"/>
                <a:cs typeface="Courier New"/>
              </a:rPr>
              <a:t>));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</a:t>
            </a:r>
            <a:r>
              <a:rPr lang="en-US" sz="1600" b="1" dirty="0" err="1" smtClean="0">
                <a:latin typeface="Roboto"/>
                <a:cs typeface="Courier New"/>
              </a:rPr>
              <a:t>nEnter</a:t>
            </a:r>
            <a:r>
              <a:rPr lang="en-US" sz="1600" b="1" dirty="0" smtClean="0">
                <a:latin typeface="Roboto"/>
                <a:cs typeface="Courier New"/>
              </a:rPr>
              <a:t> array elements : \n");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for(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=0;i&lt;3;i++)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    for(j=0;j&lt;3;j++)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	</a:t>
            </a:r>
            <a:r>
              <a:rPr lang="en-US" sz="1600" b="1" dirty="0" err="1" smtClean="0">
                <a:latin typeface="Roboto"/>
                <a:cs typeface="Courier New"/>
              </a:rPr>
              <a:t>scanf</a:t>
            </a:r>
            <a:r>
              <a:rPr lang="en-US" sz="1600" b="1" dirty="0" smtClean="0">
                <a:latin typeface="Roboto"/>
                <a:cs typeface="Courier New"/>
              </a:rPr>
              <a:t>("%</a:t>
            </a:r>
            <a:r>
              <a:rPr lang="en-US" sz="1600" b="1" dirty="0" err="1" smtClean="0">
                <a:latin typeface="Roboto"/>
                <a:cs typeface="Courier New"/>
              </a:rPr>
              <a:t>d",&amp;A</a:t>
            </a:r>
            <a:r>
              <a:rPr lang="en-US" sz="1600" b="1" dirty="0" smtClean="0">
                <a:latin typeface="Roboto"/>
                <a:cs typeface="Courier New"/>
              </a:rPr>
              <a:t>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endParaRPr lang="en-US" sz="1600" b="1" dirty="0" smtClean="0">
              <a:latin typeface="Roboto"/>
              <a:cs typeface="Courier New"/>
            </a:endParaRP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</a:t>
            </a:r>
            <a:r>
              <a:rPr lang="en-US" sz="1600" b="1" dirty="0" err="1" smtClean="0">
                <a:latin typeface="Roboto"/>
                <a:cs typeface="Courier New"/>
              </a:rPr>
              <a:t>nRow</a:t>
            </a:r>
            <a:r>
              <a:rPr lang="en-US" sz="1600" b="1" dirty="0" smtClean="0">
                <a:latin typeface="Roboto"/>
                <a:cs typeface="Courier New"/>
              </a:rPr>
              <a:t> Col - Address - Values ");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for(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=0;i&lt;3;i++)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    for(j=0;j&lt;3;j++)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		</a:t>
            </a:r>
            <a:r>
              <a:rPr lang="en-US" sz="1600" b="1" dirty="0" err="1" smtClean="0">
                <a:latin typeface="Roboto"/>
                <a:cs typeface="Courier New"/>
              </a:rPr>
              <a:t>printf</a:t>
            </a:r>
            <a:r>
              <a:rPr lang="en-US" sz="1600" b="1" dirty="0" smtClean="0">
                <a:latin typeface="Roboto"/>
                <a:cs typeface="Courier New"/>
              </a:rPr>
              <a:t>("\n %d  %d   - %u   - %</a:t>
            </a:r>
            <a:r>
              <a:rPr lang="en-US" sz="1600" b="1" dirty="0" err="1" smtClean="0">
                <a:latin typeface="Roboto"/>
                <a:cs typeface="Courier New"/>
              </a:rPr>
              <a:t>d",i,j,&amp;A</a:t>
            </a:r>
            <a:r>
              <a:rPr lang="en-US" sz="1600" b="1" dirty="0" smtClean="0">
                <a:latin typeface="Roboto"/>
                <a:cs typeface="Courier New"/>
              </a:rPr>
              <a:t>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][j],A[</a:t>
            </a:r>
            <a:r>
              <a:rPr lang="en-US" sz="1600" b="1" dirty="0" err="1" smtClean="0">
                <a:latin typeface="Roboto"/>
                <a:cs typeface="Courier New"/>
              </a:rPr>
              <a:t>i</a:t>
            </a:r>
            <a:r>
              <a:rPr lang="en-US" sz="1600" b="1" dirty="0" smtClean="0">
                <a:latin typeface="Roboto"/>
                <a:cs typeface="Courier New"/>
              </a:rPr>
              <a:t>][j]);</a:t>
            </a:r>
          </a:p>
          <a:p>
            <a:pPr marL="12700" marR="3330575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 smtClean="0">
                <a:latin typeface="Roboto"/>
                <a:cs typeface="Courier New"/>
              </a:rPr>
              <a:t>}</a:t>
            </a:r>
            <a:endParaRPr sz="1600" b="1">
              <a:latin typeface="Roboto"/>
              <a:cs typeface="Courier New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500188"/>
            <a:ext cx="11630025" cy="4175125"/>
          </a:xfrm>
        </p:spPr>
        <p:txBody>
          <a:bodyPr/>
          <a:lstStyle/>
          <a:p>
            <a:r>
              <a:rPr smtClean="0"/>
              <a:t>Maximum Subarray Sum</a:t>
            </a:r>
          </a:p>
          <a:p>
            <a:r>
              <a:rPr smtClean="0"/>
              <a:t>Implement a function that takes an input a vector of integers, and prints the maximum subarray sum that can be formed. A </a:t>
            </a:r>
            <a:r>
              <a:rPr b="1" smtClean="0"/>
              <a:t>subarray</a:t>
            </a:r>
            <a:r>
              <a:rPr smtClean="0"/>
              <a:t> is defined as consecutive segment of the array. If all numbers are negative, then return 0.</a:t>
            </a:r>
          </a:p>
          <a:p>
            <a:r>
              <a:rPr b="1" smtClean="0"/>
              <a:t>Input</a:t>
            </a:r>
            <a:endParaRPr smtClean="0"/>
          </a:p>
          <a:p>
            <a:r>
              <a:rPr smtClean="0"/>
              <a:t>{-1,2,3,4,-2,6,-8,3}</a:t>
            </a:r>
          </a:p>
          <a:p>
            <a:r>
              <a:rPr b="1" smtClean="0"/>
              <a:t>Output</a:t>
            </a:r>
            <a:endParaRPr smtClean="0"/>
          </a:p>
          <a:p>
            <a:r>
              <a:rPr smtClean="0"/>
              <a:t>13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Solution: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500188"/>
            <a:ext cx="9749867" cy="4175125"/>
          </a:xfrm>
        </p:spPr>
        <p:txBody>
          <a:bodyPr numCol="2">
            <a:normAutofit fontScale="77500" lnSpcReduction="20000"/>
          </a:bodyPr>
          <a:lstStyle/>
          <a:p>
            <a:r>
              <a:rPr smtClean="0"/>
              <a:t>#include&lt;vector&gt;</a:t>
            </a:r>
          </a:p>
          <a:p>
            <a:r>
              <a:rPr smtClean="0"/>
              <a:t>using namespace std;</a:t>
            </a:r>
          </a:p>
          <a:p>
            <a:endParaRPr smtClean="0"/>
          </a:p>
          <a:p>
            <a:r>
              <a:rPr smtClean="0"/>
              <a:t>int maxSubarraySum(vector&lt;int&gt; arr){</a:t>
            </a:r>
          </a:p>
          <a:p>
            <a:r>
              <a:rPr smtClean="0"/>
              <a:t>    // Complete this function, your function should return the maximum subarray sum</a:t>
            </a:r>
          </a:p>
          <a:p>
            <a:r>
              <a:rPr smtClean="0"/>
              <a:t>    </a:t>
            </a:r>
          </a:p>
          <a:p>
            <a:r>
              <a:rPr smtClean="0"/>
              <a:t>    int n = arr.size();</a:t>
            </a:r>
          </a:p>
          <a:p>
            <a:r>
              <a:rPr smtClean="0"/>
              <a:t>    </a:t>
            </a:r>
          </a:p>
          <a:p>
            <a:r>
              <a:rPr smtClean="0"/>
              <a:t>    int current_sum = 0;   // stores sum of current subarray</a:t>
            </a:r>
          </a:p>
          <a:p>
            <a:r>
              <a:rPr smtClean="0"/>
              <a:t>    int max_sum = 0;       // stores maximum sum found so far</a:t>
            </a:r>
          </a:p>
          <a:p>
            <a:r>
              <a:rPr smtClean="0"/>
              <a:t>    </a:t>
            </a:r>
          </a:p>
          <a:p>
            <a:r>
              <a:rPr smtClean="0"/>
              <a:t>    for(int i = 0; i &lt; n; i++){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current_sum += arr[i];   // add current element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if(current_sum &lt; 0){</a:t>
            </a:r>
          </a:p>
          <a:p>
            <a:r>
              <a:rPr smtClean="0"/>
              <a:t>            current_sum = 0;     // reset if sum becomes negative</a:t>
            </a:r>
          </a:p>
          <a:p>
            <a:r>
              <a:rPr smtClean="0"/>
              <a:t>        }</a:t>
            </a:r>
          </a:p>
          <a:p>
            <a:r>
              <a:rPr smtClean="0"/>
              <a:t>        </a:t>
            </a:r>
          </a:p>
          <a:p>
            <a:r>
              <a:rPr smtClean="0"/>
              <a:t>        if(current_sum &gt; max_sum){</a:t>
            </a:r>
          </a:p>
          <a:p>
            <a:r>
              <a:rPr smtClean="0"/>
              <a:t>            max_sum = current_sum;   // update maximum</a:t>
            </a:r>
          </a:p>
          <a:p>
            <a:r>
              <a:rPr smtClean="0"/>
              <a:t>        }</a:t>
            </a:r>
          </a:p>
          <a:p>
            <a:r>
              <a:rPr smtClean="0"/>
              <a:t>    }</a:t>
            </a:r>
          </a:p>
          <a:p>
            <a:r>
              <a:rPr smtClean="0"/>
              <a:t>    </a:t>
            </a:r>
          </a:p>
          <a:p>
            <a:r>
              <a:rPr smtClean="0"/>
              <a:t>    return max_sum;</a:t>
            </a:r>
          </a:p>
          <a:p>
            <a:r>
              <a:rPr smtClean="0"/>
              <a:t>}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 A be a two- dimensional array declared as follows:</a:t>
            </a:r>
          </a:p>
          <a:p>
            <a:r>
              <a:rPr b="1" smtClean="0"/>
              <a:t>A : array [1……10] [1……15] of integer;</a:t>
            </a:r>
            <a:endParaRPr smtClean="0"/>
          </a:p>
          <a:p>
            <a:r>
              <a:rPr smtClean="0"/>
              <a:t>Assuming that each integer takes one memory location . The array is stored in row-major order and the first element of the array is stored at location 100 , what is the address of the element  A[i][j] ?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15i+j+84</a:t>
            </a:r>
          </a:p>
          <a:p>
            <a:pPr marL="342900" indent="-342900">
              <a:buAutoNum type="alphaUcPeriod"/>
            </a:pPr>
            <a:r>
              <a:rPr smtClean="0"/>
              <a:t>15i+j+86</a:t>
            </a:r>
          </a:p>
          <a:p>
            <a:pPr marL="342900" indent="-342900">
              <a:buAutoNum type="alphaUcPeriod"/>
            </a:pPr>
            <a:r>
              <a:rPr smtClean="0"/>
              <a:t>10i+j+84</a:t>
            </a:r>
          </a:p>
          <a:p>
            <a:pPr marL="342900" indent="-342900">
              <a:buAutoNum type="alphaUcPeriod"/>
            </a:pPr>
            <a:r>
              <a:rPr smtClean="0"/>
              <a:t>i+10j+84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1: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Let A be a two- dimensional array declared as follows:</a:t>
            </a:r>
          </a:p>
          <a:p>
            <a:r>
              <a:rPr b="1" smtClean="0"/>
              <a:t>A : array [1……10] [1……15] of integer;</a:t>
            </a:r>
            <a:endParaRPr smtClean="0"/>
          </a:p>
          <a:p>
            <a:r>
              <a:rPr smtClean="0"/>
              <a:t>Assuming that each integer takes one memory location . The array is stored in row-major order and the first element of the array is stored at location 100 , what is the address of the element  A[i][j] ?</a:t>
            </a:r>
          </a:p>
          <a:p>
            <a:r>
              <a:rPr smtClean="0"/>
              <a:t>Address(A[i][j])=Base Address+[(i−L1​)×N+(j−L2​)]×Size</a:t>
            </a:r>
          </a:p>
          <a:p>
            <a:r>
              <a:rPr smtClean="0"/>
              <a:t>Address(A[i][j])=100+[(i−1)×15+(j−1)]</a:t>
            </a:r>
          </a:p>
          <a:p>
            <a:pPr marL="342900" indent="-342900">
              <a:buAutoNum type="alphaUcPeriod"/>
            </a:pPr>
            <a:r>
              <a:rPr smtClean="0">
                <a:solidFill>
                  <a:srgbClr val="FF0000"/>
                </a:solidFill>
              </a:rPr>
              <a:t>15i+j+84</a:t>
            </a:r>
          </a:p>
          <a:p>
            <a:pPr marL="342900" indent="-342900">
              <a:buAutoNum type="alphaUcPeriod"/>
            </a:pPr>
            <a:r>
              <a:rPr smtClean="0"/>
              <a:t>15i+j+86</a:t>
            </a:r>
          </a:p>
          <a:p>
            <a:pPr marL="342900" indent="-342900">
              <a:buAutoNum type="alphaUcPeriod"/>
            </a:pPr>
            <a:r>
              <a:rPr smtClean="0"/>
              <a:t>10i+j+84</a:t>
            </a:r>
          </a:p>
          <a:p>
            <a:pPr marL="342900" indent="-342900">
              <a:buAutoNum type="alphaUcPeriod"/>
            </a:pPr>
            <a:r>
              <a:rPr smtClean="0"/>
              <a:t>i+10j+84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b="1" smtClean="0"/>
              <a:t>What is the output of the following C code? Assume that the address of x is 2000 (in decimal) and an integer requires four bytes of memory.</a:t>
            </a:r>
            <a:endParaRPr smtClean="0"/>
          </a:p>
          <a:p>
            <a:r>
              <a:rPr smtClean="0"/>
              <a:t>        int main( )</a:t>
            </a:r>
          </a:p>
          <a:p>
            <a:r>
              <a:rPr smtClean="0"/>
              <a:t>{ unsigned int x[4] [3] ={{1, 2, 3}, {4, 5, 6}, {7, 8, 9}, (10, 11, 12}}; </a:t>
            </a:r>
          </a:p>
          <a:p>
            <a:r>
              <a:rPr smtClean="0"/>
              <a:t>printf("%u,%u, %u", x+3, *(x+3),*(x+2)+3);</a:t>
            </a:r>
          </a:p>
          <a:p>
            <a:r>
              <a:rPr smtClean="0"/>
              <a:t>}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2036, 2036, 2036</a:t>
            </a:r>
          </a:p>
          <a:p>
            <a:pPr marL="342900" indent="-342900">
              <a:buAutoNum type="alphaUcPeriod"/>
            </a:pPr>
            <a:r>
              <a:rPr smtClean="0"/>
              <a:t>2036, 10, 10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/>
              <a:t>2036, 4, 10</a:t>
            </a:r>
          </a:p>
          <a:p>
            <a:pPr marL="342900" indent="-342900">
              <a:buAutoNum type="alphaUcPeriod"/>
            </a:pPr>
            <a:r>
              <a:rPr smtClean="0"/>
              <a:t>2036, 36, 20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2: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b="1" smtClean="0"/>
              <a:t>What is the output of the following C code? Assume that the address of x is 2000 (in decimal) and an integer requires four bytes of memory.</a:t>
            </a:r>
            <a:endParaRPr smtClean="0"/>
          </a:p>
          <a:p>
            <a:r>
              <a:rPr smtClean="0"/>
              <a:t>        int main( )</a:t>
            </a:r>
          </a:p>
          <a:p>
            <a:r>
              <a:rPr smtClean="0"/>
              <a:t>{ unsigned int x[4] [3] ={{1, 2, 3}, {4, 5, 6}, {7, 8, 9}, (10, 11, 12}}; </a:t>
            </a:r>
          </a:p>
          <a:p>
            <a:r>
              <a:rPr smtClean="0"/>
              <a:t>printf("%u,%u, %u", x+3, *(x+3),*(x+2)+3);</a:t>
            </a:r>
          </a:p>
          <a:p>
            <a:r>
              <a:rPr smtClean="0"/>
              <a:t>}</a:t>
            </a:r>
          </a:p>
          <a:p>
            <a:r>
              <a:rPr smtClean="0"/>
              <a:t>Each row has </a:t>
            </a:r>
            <a:r>
              <a:rPr b="1" smtClean="0"/>
              <a:t>3 integers</a:t>
            </a:r>
            <a:r>
              <a:rPr smtClean="0"/>
              <a:t/>
            </a:r>
            <a:br>
              <a:rPr smtClean="0"/>
            </a:br>
            <a:r>
              <a:rPr smtClean="0"/>
              <a:t>Each integer = 4 bytes</a:t>
            </a:r>
          </a:p>
          <a:p>
            <a:r>
              <a:rPr smtClean="0"/>
              <a:t>x + 3 = 2036, *(x+3) = address of x[3][0] = 2036, *(x+3) = address of x[3][0] = 2036, *(x+2)+3 = 2036</a:t>
            </a:r>
          </a:p>
          <a:p>
            <a:pPr marL="342900" indent="-342900">
              <a:buAutoNum type="alphaUcPeriod"/>
            </a:pPr>
            <a:r>
              <a:rPr smtClean="0">
                <a:solidFill>
                  <a:srgbClr val="FF0000"/>
                </a:solidFill>
              </a:rPr>
              <a:t>2036, 2036, 2036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3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If A and B are two Matrices, for multiplying A X B which if the following representations will be efficient: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A in row-Major and B in Column Major</a:t>
            </a:r>
          </a:p>
          <a:p>
            <a:pPr marL="342900" indent="-342900">
              <a:buAutoNum type="alphaUcPeriod"/>
            </a:pPr>
            <a:r>
              <a:rPr smtClean="0"/>
              <a:t>B in row-Major and A in Column Major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/>
              <a:t>Independent of presentation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Quiz: 3: Solution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smtClean="0"/>
              <a:t>If A and B are two Matrices, for multiplying A X B which if the following representations will be efficient:</a:t>
            </a:r>
          </a:p>
          <a:p>
            <a:endParaRPr smtClean="0"/>
          </a:p>
          <a:p>
            <a:pPr marL="342900" indent="-342900">
              <a:buAutoNum type="alphaUcPeriod"/>
            </a:pPr>
            <a:r>
              <a:rPr smtClean="0"/>
              <a:t>A in row-Major and B in Column Major</a:t>
            </a:r>
          </a:p>
          <a:p>
            <a:pPr marL="342900" indent="-342900">
              <a:buAutoNum type="alphaUcPeriod"/>
            </a:pPr>
            <a:r>
              <a:rPr smtClean="0"/>
              <a:t>B in row-Major and A in Column Major</a:t>
            </a:r>
          </a:p>
          <a:p>
            <a:pPr marL="342900" indent="-342900">
              <a:buFont typeface="Wingdings" panose="05000000000000000000" pitchFamily="2" charset="2"/>
              <a:buAutoNum type="alphaUcPeriod"/>
            </a:pPr>
            <a:r>
              <a:rPr smtClean="0">
                <a:solidFill>
                  <a:srgbClr val="FF0000"/>
                </a:solidFill>
              </a:rPr>
              <a:t>Independent of presentation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: </a:t>
            </a:r>
            <a:r>
              <a:rPr smtClean="0">
                <a:hlinkClick r:id="rId2"/>
              </a:rPr>
              <a:t>sachin365123/Applies-Data-Structure-and-Application-GLA-Online-Sessions-Jan---Jun-2026</a:t>
            </a:r>
            <a:r>
              <a:rPr smtClean="0"/>
              <a:t>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1284</Words>
  <Application>Microsoft Office PowerPoint</Application>
  <PresentationFormat>Custom</PresentationFormat>
  <Paragraphs>318</Paragraphs>
  <Slides>31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Office Theme</vt:lpstr>
      <vt:lpstr>Slide 1</vt:lpstr>
      <vt:lpstr> </vt:lpstr>
      <vt:lpstr>Content</vt:lpstr>
      <vt:lpstr>Array</vt:lpstr>
      <vt:lpstr>Array</vt:lpstr>
      <vt:lpstr>Array</vt:lpstr>
      <vt:lpstr>Array</vt:lpstr>
      <vt:lpstr>Array in Compilers</vt:lpstr>
      <vt:lpstr>Array in Compilers</vt:lpstr>
      <vt:lpstr>Operations on Arrays</vt:lpstr>
      <vt:lpstr>Operations on Arrays</vt:lpstr>
      <vt:lpstr>     Application of Arrays: Matrix Multiplication</vt:lpstr>
      <vt:lpstr>Application of Arrays: Character String Operation</vt:lpstr>
      <vt:lpstr>Application of Arrays: Character String Operation</vt:lpstr>
      <vt:lpstr>Row Major Order</vt:lpstr>
      <vt:lpstr>Column Major Order</vt:lpstr>
      <vt:lpstr>Question based on RMO and CMO</vt:lpstr>
      <vt:lpstr>Static vs Dynamic Arrays</vt:lpstr>
      <vt:lpstr>Program 1: Static vs Dynamic Arrays</vt:lpstr>
      <vt:lpstr>Program 2: 2D Array</vt:lpstr>
      <vt:lpstr>Program 3: 2D Array</vt:lpstr>
      <vt:lpstr>Question: 1</vt:lpstr>
      <vt:lpstr>Solution: 1</vt:lpstr>
      <vt:lpstr>Quiz: 1</vt:lpstr>
      <vt:lpstr>Quiz: 1: Solution</vt:lpstr>
      <vt:lpstr>Quiz: 2</vt:lpstr>
      <vt:lpstr>Quiz: 2: Solution</vt:lpstr>
      <vt:lpstr>Quiz: 3</vt:lpstr>
      <vt:lpstr>Quiz: 3: Solution</vt:lpstr>
      <vt:lpstr>Thanking you !!!!</vt:lpstr>
      <vt:lpstr>Slide 31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84</cp:revision>
  <dcterms:created xsi:type="dcterms:W3CDTF">2024-10-06T15:26:34Z</dcterms:created>
  <dcterms:modified xsi:type="dcterms:W3CDTF">2026-03-14T16:38:59Z</dcterms:modified>
</cp:coreProperties>
</file>