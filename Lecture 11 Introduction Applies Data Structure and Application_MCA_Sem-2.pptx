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99" r:id="rId5"/>
    <p:sldId id="375" r:id="rId6"/>
    <p:sldId id="366" r:id="rId7"/>
    <p:sldId id="376" r:id="rId8"/>
    <p:sldId id="368" r:id="rId9"/>
    <p:sldId id="377" r:id="rId10"/>
    <p:sldId id="379" r:id="rId11"/>
    <p:sldId id="380" r:id="rId12"/>
    <p:sldId id="369" r:id="rId13"/>
    <p:sldId id="283" r:id="rId14"/>
    <p:sldId id="25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B05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036" autoAdjust="0"/>
    <p:restoredTop sz="94660"/>
  </p:normalViewPr>
  <p:slideViewPr>
    <p:cSldViewPr snapToGrid="0">
      <p:cViewPr>
        <p:scale>
          <a:sx n="75" d="100"/>
          <a:sy n="75" d="100"/>
        </p:scale>
        <p:origin x="-379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60860F-C340-F964-8711-B70D18F2D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0316" y="2997171"/>
            <a:ext cx="5911368" cy="863658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Video Title</a:t>
            </a:r>
            <a:endParaRPr lang="en-IN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="" xmlns:a16="http://schemas.microsoft.com/office/drawing/2014/main" id="{F41921D5-B2A7-423B-B9D7-CEB7266C8AC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1EEF7B5-2005-487C-A335-E2554B8F2C0F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61038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0942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3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917112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9" name="Text Placeholder 4">
            <a:extLst>
              <a:ext uri="{FF2B5EF4-FFF2-40B4-BE49-F238E27FC236}">
                <a16:creationId xmlns="" xmlns:a16="http://schemas.microsoft.com/office/drawing/2014/main" id="{9E4CB4B1-306A-4384-AC34-AB499A6C72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1718085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="" xmlns:a16="http://schemas.microsoft.com/office/drawing/2014/main" id="{47040CAB-B54D-4828-9A04-3A7C3AC3E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107653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610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419" y="1308691"/>
            <a:ext cx="6341163" cy="4856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5896" y="2438947"/>
            <a:ext cx="4432852" cy="199390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0449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272" y="1757411"/>
            <a:ext cx="4642371" cy="3555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57735" y="2353091"/>
            <a:ext cx="2927443" cy="232209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="" xmlns:a16="http://schemas.microsoft.com/office/drawing/2014/main" id="{6B93A7B1-FE5F-4D38-90BD-226BB1FA14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8997" y="1579545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53D03DA-6A09-453B-8E92-DDE6238E616E}"/>
              </a:ext>
            </a:extLst>
          </p:cNvPr>
          <p:cNvGrpSpPr/>
          <p:nvPr userDrawn="1"/>
        </p:nvGrpSpPr>
        <p:grpSpPr>
          <a:xfrm rot="10800000">
            <a:off x="831850" y="4257656"/>
            <a:ext cx="1289304" cy="1289304"/>
            <a:chOff x="9611350" y="1273785"/>
            <a:chExt cx="1289304" cy="128930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="" xmlns:a16="http://schemas.microsoft.com/office/drawing/2014/main" id="{787947E2-03B1-49D1-8F29-87DF3EFE5CE2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="" xmlns:a16="http://schemas.microsoft.com/office/drawing/2014/main" id="{538E91B5-064A-42BF-8C2B-298B665E358A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B255699C-CFB9-49D1-9C35-50A5F279595C}"/>
              </a:ext>
            </a:extLst>
          </p:cNvPr>
          <p:cNvGrpSpPr/>
          <p:nvPr userDrawn="1"/>
        </p:nvGrpSpPr>
        <p:grpSpPr>
          <a:xfrm>
            <a:off x="3372568" y="1527159"/>
            <a:ext cx="1289304" cy="1289304"/>
            <a:chOff x="9611350" y="1273785"/>
            <a:chExt cx="1289304" cy="12893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="" xmlns:a16="http://schemas.microsoft.com/office/drawing/2014/main" id="{C9B84DFC-6D56-44C0-897B-40A729BF74DC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="" xmlns:a16="http://schemas.microsoft.com/office/drawing/2014/main" id="{E49F67E5-6A93-438F-84F1-2E440D2ECFBF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219314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647537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5" name="Text Placeholder 4">
            <a:extLst>
              <a:ext uri="{FF2B5EF4-FFF2-40B4-BE49-F238E27FC236}">
                <a16:creationId xmlns="" xmlns:a16="http://schemas.microsoft.com/office/drawing/2014/main" id="{13B55745-1481-41BE-9233-B21F4F00BA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3082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3147" y="1640436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2DD83F17-A635-4F57-9358-97F743C3216F}"/>
              </a:ext>
            </a:extLst>
          </p:cNvPr>
          <p:cNvGrpSpPr/>
          <p:nvPr userDrawn="1"/>
        </p:nvGrpSpPr>
        <p:grpSpPr>
          <a:xfrm rot="10800000">
            <a:off x="6096000" y="4318547"/>
            <a:ext cx="1289304" cy="1289304"/>
            <a:chOff x="9611350" y="1273785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E4E50DDF-0C10-4989-911A-32DB07DC9F52}"/>
              </a:ext>
            </a:extLst>
          </p:cNvPr>
          <p:cNvGrpSpPr/>
          <p:nvPr userDrawn="1"/>
        </p:nvGrpSpPr>
        <p:grpSpPr>
          <a:xfrm>
            <a:off x="8636718" y="1588050"/>
            <a:ext cx="1289304" cy="1289304"/>
            <a:chOff x="9611350" y="1273785"/>
            <a:chExt cx="1289304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4943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64964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6" name="Text Placeholder 4">
            <a:extLst>
              <a:ext uri="{FF2B5EF4-FFF2-40B4-BE49-F238E27FC236}">
                <a16:creationId xmlns="" xmlns:a16="http://schemas.microsoft.com/office/drawing/2014/main" id="{6DCD2EC6-4AE2-4605-9670-EE79E1A4BD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="" xmlns:a16="http://schemas.microsoft.com/office/drawing/2014/main" id="{54CB8A54-9CBD-40B9-88A7-3B0B2FB6BA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82242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207944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93955"/>
            <a:ext cx="9137444" cy="4190687"/>
          </a:xfrm>
          <a:prstGeom prst="rect">
            <a:avLst/>
          </a:prstGeo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0519280C-517B-4F4A-AD31-E885447E1D7D}"/>
              </a:ext>
            </a:extLst>
          </p:cNvPr>
          <p:cNvSpPr/>
          <p:nvPr userDrawn="1"/>
        </p:nvSpPr>
        <p:spPr>
          <a:xfrm>
            <a:off x="358917" y="416162"/>
            <a:ext cx="2183611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Summary</a:t>
            </a:r>
            <a:endParaRPr lang="en-IN" sz="3600" b="1" kern="12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+mj-cs"/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4C789902-3498-444F-888A-CD8E960A75D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770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A Logo start and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7B14931-B1C9-481D-A12E-67817E6ECD19}"/>
              </a:ext>
            </a:extLst>
          </p:cNvPr>
          <p:cNvSpPr/>
          <p:nvPr userDrawn="1"/>
        </p:nvSpPr>
        <p:spPr>
          <a:xfrm>
            <a:off x="0" y="0"/>
            <a:ext cx="12192000" cy="6697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B8C40B09-EF0A-40AA-B833-35019707AD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6" y="3017519"/>
            <a:ext cx="3810008" cy="82296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47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BC1B16E8-8992-B39B-527E-7E2267D2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94E762-59DB-4A56-B671-6707C2ACF63B}" type="datetimeFigureOut">
              <a:rPr lang="en-IN" smtClean="0"/>
              <a:pPr/>
              <a:t>26-04-2026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24BA001-1173-3B81-16E7-A1CABA0F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E1E256B-6739-E4D3-25B2-A3D4670D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0CE178-C5E0-487A-BEDA-02254E864867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E5C22FAF-F747-40D1-9697-6B119C1E0E5B}"/>
              </a:ext>
            </a:extLst>
          </p:cNvPr>
          <p:cNvSpPr/>
          <p:nvPr userDrawn="1"/>
        </p:nvSpPr>
        <p:spPr>
          <a:xfrm>
            <a:off x="-99391" y="-45719"/>
            <a:ext cx="12423913" cy="6903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62ADEEB-5BA3-4C4B-BD02-E7EDE90FF541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6746F02-3F1E-4264-B2CD-33C59ED11B12}"/>
              </a:ext>
            </a:extLst>
          </p:cNvPr>
          <p:cNvSpPr/>
          <p:nvPr userDrawn="1"/>
        </p:nvSpPr>
        <p:spPr>
          <a:xfrm>
            <a:off x="1557130" y="10590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Video Title: Roboto, Bold, 44</a:t>
            </a:r>
          </a:p>
          <a:p>
            <a:r>
              <a:rPr lang="en-US" dirty="0"/>
              <a:t>Top Heading 1: Roboto, Bold, 36</a:t>
            </a:r>
          </a:p>
          <a:p>
            <a:r>
              <a:rPr lang="en-US" dirty="0"/>
              <a:t>Sub- Heading 2: Roboto, Bold, 20</a:t>
            </a:r>
          </a:p>
          <a:p>
            <a:r>
              <a:rPr lang="en-US" dirty="0"/>
              <a:t>Body Text: Roboto, 18</a:t>
            </a:r>
          </a:p>
        </p:txBody>
      </p:sp>
    </p:spTree>
    <p:extLst>
      <p:ext uri="{BB962C8B-B14F-4D97-AF65-F5344CB8AC3E}">
        <p14:creationId xmlns="" xmlns:p14="http://schemas.microsoft.com/office/powerpoint/2010/main" val="62476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89EBD0A-0020-4F1B-8C0B-2A6D21CB67FA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94" y="430902"/>
            <a:ext cx="2282687" cy="49306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2356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2" r:id="rId3"/>
    <p:sldLayoutId id="2147483680" r:id="rId4"/>
    <p:sldLayoutId id="2147483676" r:id="rId5"/>
    <p:sldLayoutId id="2147483677" r:id="rId6"/>
    <p:sldLayoutId id="2147483661" r:id="rId7"/>
    <p:sldLayoutId id="2147483678" r:id="rId8"/>
    <p:sldLayoutId id="2147483673" r:id="rId9"/>
    <p:sldLayoutId id="2147483674" r:id="rId10"/>
    <p:sldLayoutId id="2147483679" r:id="rId11"/>
    <p:sldLayoutId id="2147483675" r:id="rId12"/>
    <p:sldLayoutId id="2147483664" r:id="rId13"/>
    <p:sldLayoutId id="2147483671" r:id="rId14"/>
    <p:sldLayoutId id="214748365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chin365123/Applies-Data-Structure-and-Application-GLA-Online-Sessions-Jan---Jun-2026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2265" y="492257"/>
            <a:ext cx="808747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Roboto"/>
              </a:rPr>
              <a:t>Applies Data Structure and Application</a:t>
            </a:r>
          </a:p>
          <a:p>
            <a:pPr algn="ctr"/>
            <a:endParaRPr lang="en-US" sz="3600" dirty="0" smtClean="0">
              <a:latin typeface="Roboto"/>
            </a:endParaRPr>
          </a:p>
          <a:p>
            <a:pPr algn="ctr"/>
            <a:r>
              <a:rPr lang="en-US" b="1" dirty="0" smtClean="0">
                <a:solidFill>
                  <a:srgbClr val="00B050"/>
                </a:solidFill>
              </a:rPr>
              <a:t>Dr </a:t>
            </a:r>
            <a:r>
              <a:rPr lang="en-US" b="1" dirty="0" err="1" smtClean="0">
                <a:solidFill>
                  <a:srgbClr val="00B050"/>
                </a:solidFill>
              </a:rPr>
              <a:t>Sachin</a:t>
            </a:r>
            <a:r>
              <a:rPr lang="en-US" b="1" dirty="0" smtClean="0">
                <a:solidFill>
                  <a:srgbClr val="00B050"/>
                </a:solidFill>
              </a:rPr>
              <a:t> K </a:t>
            </a:r>
            <a:r>
              <a:rPr lang="en-US" b="1" dirty="0" err="1" smtClean="0">
                <a:solidFill>
                  <a:srgbClr val="00B050"/>
                </a:solidFill>
              </a:rPr>
              <a:t>Saxena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Sr</a:t>
            </a:r>
            <a:r>
              <a:rPr lang="en-US" dirty="0" smtClean="0"/>
              <a:t> Data Analyst, Portugal, MNC</a:t>
            </a:r>
          </a:p>
          <a:p>
            <a:pPr algn="ctr"/>
            <a:r>
              <a:rPr lang="en-US" dirty="0" smtClean="0"/>
              <a:t>Ex-</a:t>
            </a:r>
            <a:r>
              <a:rPr lang="en-US" dirty="0" err="1" smtClean="0"/>
              <a:t>Sr</a:t>
            </a:r>
            <a:r>
              <a:rPr lang="en-US" dirty="0" smtClean="0"/>
              <a:t> Software Engineer - Data Scientist</a:t>
            </a:r>
          </a:p>
          <a:p>
            <a:pPr algn="ctr"/>
            <a:endParaRPr lang="en-US" sz="3600" dirty="0">
              <a:latin typeface="Roboto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8080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316" y="2817845"/>
            <a:ext cx="5911368" cy="1042984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37757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b="1" smtClean="0"/>
              <a:t> </a:t>
            </a:r>
            <a:r>
              <a:rPr b="1" smtClean="0"/>
              <a:t> </a:t>
            </a:r>
            <a:r>
              <a:rPr b="1" smtClean="0"/>
              <a:t>Types </a:t>
            </a:r>
            <a:r>
              <a:rPr b="1" smtClean="0"/>
              <a:t>of Tress: </a:t>
            </a:r>
            <a:endParaRPr b="1" smtClean="0"/>
          </a:p>
          <a:p>
            <a:pPr>
              <a:buFont typeface="Arial" pitchFamily="34" charset="0"/>
              <a:buChar char="•"/>
            </a:pPr>
            <a:r>
              <a:rPr b="1" smtClean="0"/>
              <a:t> </a:t>
            </a:r>
            <a:r>
              <a:rPr b="1" smtClean="0"/>
              <a:t> </a:t>
            </a:r>
            <a:r>
              <a:rPr smtClean="0"/>
              <a:t>Threaded </a:t>
            </a:r>
            <a:r>
              <a:rPr smtClean="0"/>
              <a:t>Binary </a:t>
            </a:r>
            <a:r>
              <a:rPr smtClean="0"/>
              <a:t>trees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 </a:t>
            </a:r>
            <a:r>
              <a:rPr smtClean="0"/>
              <a:t>AVL </a:t>
            </a:r>
            <a:r>
              <a:rPr smtClean="0"/>
              <a:t>Trees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Introduction </a:t>
            </a:r>
            <a:r>
              <a:rPr smtClean="0"/>
              <a:t>to Multi-way Search </a:t>
            </a:r>
            <a:r>
              <a:rPr smtClean="0"/>
              <a:t>trees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B-tree</a:t>
            </a:r>
            <a:endParaRPr smtClean="0"/>
          </a:p>
          <a:p>
            <a:pPr>
              <a:buFont typeface="Arial" pitchFamily="34" charset="0"/>
              <a:buChar char="•"/>
            </a:pPr>
            <a:endParaRPr smtClean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Threaded Binary </a:t>
            </a:r>
            <a:r>
              <a:rPr lang="en-US" dirty="0" smtClean="0"/>
              <a:t>trees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4757235" cy="4175125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A threaded binary tree is the same as that of a binary tree but with a difference in storing the NULL pointers.</a:t>
            </a:r>
            <a:endParaRPr smtClean="0"/>
          </a:p>
          <a:p>
            <a:pPr>
              <a:buFont typeface="Arial" pitchFamily="34" charset="0"/>
              <a:buChar char="•"/>
            </a:pPr>
            <a:endParaRPr smtClean="0"/>
          </a:p>
          <a:p>
            <a:r>
              <a:rPr smtClean="0">
                <a:solidFill>
                  <a:srgbClr val="002060"/>
                </a:solidFill>
              </a:rPr>
              <a:t>For example, the NULL entries can be replaced to store a pointer to the in-order predecessor or the in order successor of the node. </a:t>
            </a:r>
            <a:endParaRPr smtClean="0">
              <a:solidFill>
                <a:srgbClr val="002060"/>
              </a:solidFill>
            </a:endParaRPr>
          </a:p>
          <a:p>
            <a:r>
              <a:rPr smtClean="0"/>
              <a:t>These </a:t>
            </a:r>
            <a:r>
              <a:rPr smtClean="0"/>
              <a:t>special pointers are called threads and binary trees containing threads are called threaded trees</a:t>
            </a:r>
            <a:r>
              <a:rPr smtClean="0"/>
              <a:t>.</a:t>
            </a:r>
          </a:p>
          <a:p>
            <a:r>
              <a:rPr smtClean="0">
                <a:solidFill>
                  <a:schemeClr val="accent6">
                    <a:lumMod val="50000"/>
                  </a:schemeClr>
                </a:solidFill>
              </a:rPr>
              <a:t>A Threaded Binary Tree lets us perform inorder traversal without the use of recursion or stack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2530" name="AutoShape 2" descr="frame_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54572" y="1473641"/>
            <a:ext cx="481965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Threaded Binary </a:t>
            </a:r>
            <a:r>
              <a:rPr lang="en-US" dirty="0" smtClean="0"/>
              <a:t>trees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4977154" cy="4175125"/>
          </a:xfrm>
        </p:spPr>
        <p:txBody>
          <a:bodyPr/>
          <a:lstStyle/>
          <a:p>
            <a:r>
              <a:rPr smtClean="0"/>
              <a:t> </a:t>
            </a:r>
            <a:r>
              <a:rPr b="1" smtClean="0"/>
              <a:t>Single Threaded</a:t>
            </a:r>
            <a:endParaRPr smtClean="0"/>
          </a:p>
          <a:p>
            <a:r>
              <a:rPr smtClean="0"/>
              <a:t>Diagramatic Representation of Single Threaded Binary Tree As we can see from the diagram, only the right pointer which is NULL point to the successor node in a single-threaded binary tree</a:t>
            </a:r>
          </a:p>
          <a:p>
            <a:r>
              <a:rPr b="1" smtClean="0"/>
              <a:t>Double Threaded</a:t>
            </a:r>
            <a:endParaRPr smtClean="0"/>
          </a:p>
          <a:p>
            <a:r>
              <a:rPr smtClean="0"/>
              <a:t>Diagramatic Representation of Double Threaded Binary Tree In a double threaded Binary tree, the left pointer also points to its predecessor node</a:t>
            </a:r>
          </a:p>
          <a:p>
            <a:pPr>
              <a:buFont typeface="Arial" pitchFamily="34" charset="0"/>
              <a:buChar char="•"/>
            </a:pPr>
            <a:endParaRPr smtClean="0"/>
          </a:p>
          <a:p>
            <a:pPr>
              <a:buFont typeface="Arial" pitchFamily="34" charset="0"/>
              <a:buChar char="•"/>
            </a:pPr>
            <a:endParaRPr smtClean="0"/>
          </a:p>
          <a:p>
            <a:endParaRPr lang="en-US" dirty="0"/>
          </a:p>
        </p:txBody>
      </p:sp>
      <p:sp>
        <p:nvSpPr>
          <p:cNvPr id="22530" name="AutoShape 2" descr="frame_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2" name="AutoShape 2" descr="types-of-threaded-binary-tre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24" name="AutoShape 4" descr="data:image/png;base64,iVBORw0KGgoAAAANSUhEUgAAAUMAAACcCAMAAADS8jl7AAABQVBMVEX/////5ekAAAD/6Oz/6+//7O//6ez/5uv/5+r/6u//6+3t7e3//f+enp7///7/6e7l5eXMzMy0tLTV1dX78PP/4uepqalCQkKPj49+fn7Gxsbi4uL99/nad4m8vLz19fVXV1dMTEznsrvaiJellpjy1tzkl6T4ztbtr7rrwMjwztXOvL9kZGSSkpKIiIjzw8vWe4vQX3PgoKuHe37y29/Ta3/xucLQXXPkusM+OTlxcXHiAGTdlqL4y9PpprLXf5Gyo6bhzM8eGxvNM1OLf4DDsbXUK0zNRmDXMFDVV27Yl6HepK/hjp7OeYkaGRmomJsuLSwxN0NdYWoAAB1DR1FwdHoeJjUKFSoAAA7c0tznW5flPIXwpcX01eXxxNjaAG7thLDqbZ/rkrfiAFnhQIbxt9DsirLzocfaAGDYAE/rYpj9GHWFAAAMb0lEQVR4nO2dCWPaRhaAB2nEYUE4JGEOccqcwRyxhB0bG5Mm2WygzdFmu/VFnMZpdv//D9gRSMJIGtsCIvB2viblEJbevHnvzZunhwMAgUAgEAgEAoFAIBAIBAKBQCAQCAQCYX3IxZ7UG9aDaxSBOehJ0rOauEYRlqGolFsVQTg+USR+TSLUFKmLRKhUM215TSIsg7zfDUDa4/H4vUxFKa5DBF45oSHtRyLQjNCW1iHCUtQyfq9Hxw9P+u6LIO8L0BDBA1vKI3Poepvx3CbQdd0MYEc1wRl0peO2CEvBd6BnHubEbXfuCPS8CHTrUblzpuT3mJXosis963otIkiPaGGRpa2p1D7I6AZJt565KUJQ0YMJZAL6hAptN0VYjl5Fk1reK+zoSoQKeOKeCLVqeLqc0S8Lez5dhPa6kiznKJre4OHLAXWqhSXvyOuiCJKgmf9pY7B9qNkk3a25KMJSiMaiHIDM3qGm0LCrA8gYMQTC0xe6PKWeJuHGpznMaBbOGcMO6eOqizJkZrkV39jTFOoXpitz7SfGRVEWIlw2dMi/NGyAPh66KMNMh/AVJXt0HU5SfeX1m4OD+hDWXZTHKbykOxJzSsn6c2/rwEUZDB0GBtRTRl9UhNFEvtFrlOQEg7WAxG+oUz8Bel5Bn1J773b0NeWk5KIQbU1t9IDKn+5ohki3tERf1tdn+cBNoZzQNxbFHYTm2DDjZg1s2JqmV/QrJEFC02G4bE2ya/JmmmLtRNObd2trS4+NgqtlB6av+wLc2jJCi2LzSbiWmtL9WLbL7m+02oJFBLpqr66fXRXsodTLZiXSFZerX7wCffMi+ARM4UbczAVa6s7Xvmhh320RiuV5ETywg8sKN9Sb2104p0JFcn2bNZxTopfOlHFVD9HVcshDCWakkcfIDJmqwgPJ7dmWRhlha5pY+WnmeF8GB7gC4ibWxETkNiWlXKEZhoFCdXo7pefmPgVl2XXAZKRjH1RF6GZ6amZVwwTlDcwS+c4khy31MiqGFw/ddBllohb4rK2K0C9qSWAdU0HcOEPkO5i0tVh2S4SggtFKyS5FBGDTAiKNr/rXXLqjISoQd0hW7LZL9c3arMj2Mz0F50urRezcUa+Gdl5S2qgCN8ZZHnh4JfD7d1qVXaiRNynNNhuaRVx7X1olXlMssYhgY6Yi1vfdxxzwgv+waOyOcLkSLJO0b1lexA5teifY+4ESOaNoFqX4xpqRYZftlWAJFqU3/7R8yLpsb4wdWhLA4E9vXlv3eHeG/CWxLlrKm9c2RqaYsupNaYHoWXZzov09CxG7+18Wm+RJtl9z25u0ihjYbogPbAeATYGXxBJLVEr2Gzn3iyD307eVicGswmZfWglD25WBx0QOq9usG4xvvMWtH5nV+xKmqFHD2bzLRRAb4LA/2c1PQxvOrvCrB/IleVIRkA4WXaf5ooR+vv1sqqQRxq7wTQ1oDWQmo5CK67hpL2eklgBhQGj1M/Id8e2OOwAdtTgGAwGhm1moYZuXMl1VBM9xWanfEd/e4k9e3pdanuko3G/Y7vUFZtJm6qeh0O5lsNMYxh0QMydh77RCSjMVxXmALyoVrcJKQ2+5L2Fjg4ztN+uNjFEEhLbLtZvM3O0SpprBfZDHxW1+v8LM+jxpOHI6gl6ZuXXPCVb2sVtI7BZEmbtfwVRd7U5st+Zv28EWzmWxxrEvhG+fwQ/LzlbJ4YnpplcJ122NLcm0W/OnYNzsGS+a5EeXL2N8EddiIx2bmqU9UHES1uWMWQS6hbE33Pd7iieWnnHcKFZPsGO+c4vMyN4KhhgbkCWzCjwewUlVTDFLgDSQsY29dYwriIpVBMa1bw4UW0ZrnGFM3q6dKzLm8ojOrAkhDPVzMKOHr4ylWXcerf+8v2TniiLupENjFHRAPwVtO4ofgWJcHD41Ovt8dsvKEONGotGlKr/bkbUR+CsPrz9JJcN0BgNdAwG7pqgD3DTq/c4e3+nOYEt/jl0cVwuvdwrTA4p6alhRxqovbB9LXe9pgi/29ihZW5/hwweQCeg6pCijaZ62ac6TcPk139f0FjjM71CvaF0Ed+6ryCe63uTBTId0z+w0dXzLZlFfUfw0zxsDYNoPrXDPGr49g/c7syZRsyfCt9hTlIxR+Blx+6XeM27TXPcjqHX1q/vCMx16q/OxW/z5jhntGa4YPs0X9FNArNGY4WcN3/xzQ4c+c7OyxOMnpVY0Zv/p3gs9ntiZ8o+gVjVWEh9Gh1757Z114ZkO6Xf553pMhf2H69DwZQajQ75+cGdR45YOXx3+MnC5V3fmyzSyQyMYTbwgCGR+KL+l79n+Gr6M9qozR1rIl2/ZoX/qy0EvP2T6/D1OOfNlCPmX29r5vC75stjWhPaheHgqz0XjoXwgPqB8YKwpnj2PTL3Tg5GDNcVY1wfv93QjosuqEdXqdf4B2bqxpsC9ASw09Gl0q99Z0XZp3p1CvvBSm0FHWYGe2/j8exSlf3mEruBXADMjLRjQT7fz+bz+raxZkv7k/m+1Kbrmdygqr4cTt3IbUNQXFah2dWn67Dr64oTe9I5OweuhjZFwqZwVeaTnVzMR6MpooVFsMbweGbxV1zZ7Nt3WAWe7JF/fegrBiQ0o1m5riC/A2RHsWPd6mB3rj6Bm6bZmRg4r+6OW+dvFUHFSh4WW3a636/A2e83ca+yDTkexOE8s3dZM1ZEbqXQq80pkHN5mM3dbeyuOG3mkrqmCV3W12aFfnavBnjgvvImd47kabN/pbn84grfKZ0xrgTae9tKjWIpnGYHxasMvKQvdH+uPfAztQ2mdx8scd5x7Ua1TYaYZghd6pIXGr46C9qhTSTMLjmIZYLvdFXxhn9DNLPrl9JIyagl02FeqKr1F0jKxp1RLnjAttKRF71ZPRkEvNYql4A9G7XZbqi1x7XBRQqfoLfzLrMRaTxWhGFhcBP5AFWFk345BIBAIBAKBQCAQCH9rcgBEZq+ys6fRnPmjXMT6qVWQnX/KcraHzO+sWIgl2G4UQHP2sqA9pmMgyZo/G09pT/IrlmH2VD0zt6u9CLG3D5mvbT20JtJJ9L8YiMUbERBPZHN5EEmqE3xYiDazSIuxZC6VTIM4esolk1EQQvqOJQr3ndYJoZB60RiIosuAfCgEuBBQrwlyzw9zjVgTzWdSvS6bSEyvnWvGAdiN51cpxFKEtrPI+PKRSBNNf37yXwLJH42BZizXAO/B5O1ILp9D9srtcmwylQDPVyhAM4UsahuEsnH1yXs0nVwonZiYW5MF79lYLJoECS6HZjEbz+6iazdy2VSSy610IpfkMJ0HDcAmQaEZAnm2EApFEqHoxJfVA/FkKJQ7TDS4OIhxjdBuKsGid1cHcsl8JAHYZiyKJlMVJB2KoWummymkwwKIxqOqee5mucNkfHLtX9DBwizsrJ1oI7XNIjtEorPNdA6NqJCOove5ZC4ZUQ0UpBssF4tHC2CbzUfjoUga+Rm1QgkS8eh7sB055FKJ6AtApQ+jXJNtsKoQiSySB+kwBNB1I/nIbmhy7QbHgWQ2tTHxEKTjEZACUZDj0rvZBpfKaStHluNykwMgEk8jC2TRI5tDI0J/s5bVZhmyURbk4px6SRawWfXJ5JqIOJsCbJpVY0s8l4uz7PTaMRSxVYk2j+hhvGFJZwgO2cSZJRAIBAKBQCAQCAQCgUAgEAgEghlSD1+GOEWlwQfqI0hRHGh+Aujx10856tff1i3YI+LjpwgIqQr79FsTJJJIh//iciwFqPS6JXtE7FKpXWR+gPr0O0g0kQ5/T3As9evHdcv1iPi4+yGepnY/RX+PUunEh2Y09e/dOEtxq7wl/f8Oq96eZuN//MGBaCSdjaVz2WwUZEE2cv/PEmaIZ+dnRxfai8vN+nX+j4PgxdEZDy6vtJfjqzs/TTATHH++Hl8f3f4GnW6Gbv4LfY+by4srcPHZ9KYogsD5d+LTDji/vPUCefLNeAzGl1+JIT6cwHj6yF9cjr9cnYPLo8vrmz+/EBU64OYagIvxX+B6/PXi7PMF+HoD+HHg89m65XpMXN8g7/18ND4ai1++nAdu/hQvxxfn19/WLddjYnyJ/vi+ikdXwaPA0V9nZ+OvAXBFMhwHBL+Lwe/g283l0c34YrJGL/HrBv6mqEvK9y9jcHP+7fL+TxPsCI/VLFEEny/u/yzBHv4/U9/9L4mAi3M1zQS/Ek9emnPfuiV4/JwTX16abzfrloBAIBAIBAKBQCAQCAQCgUAgEAiER87/AHs9RaUHBnko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6" name="Picture 6" descr="Threaded Binary Tree (TBT) IN Data Structure Explanation- SINGLE &amp; DOUBLE  THREADED BINARY TREE"/>
          <p:cNvPicPr>
            <a:picLocks noChangeAspect="1" noChangeArrowheads="1"/>
          </p:cNvPicPr>
          <p:nvPr/>
        </p:nvPicPr>
        <p:blipFill>
          <a:blip r:embed="rId2"/>
          <a:srcRect t="32144" b="11504"/>
          <a:stretch>
            <a:fillRect/>
          </a:stretch>
        </p:blipFill>
        <p:spPr bwMode="auto">
          <a:xfrm>
            <a:off x="5155837" y="2106593"/>
            <a:ext cx="6534150" cy="20718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dirty="0" smtClean="0"/>
              <a:t>AVL Trees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4653063" cy="417512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smtClean="0"/>
              <a:t>An AVL tree is a self-balancing Binary Search Tree (BST). 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Due </a:t>
            </a:r>
            <a:r>
              <a:rPr smtClean="0"/>
              <a:t>to being a Binary Search Tree, an AVL tree can have at most two child nodes for any node, 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and </a:t>
            </a:r>
            <a:r>
              <a:rPr smtClean="0"/>
              <a:t>all nodes in the left subtree of a node are smaller than the node, while all nodes in the right subtree are greater than the node.</a:t>
            </a:r>
            <a:endParaRPr lang="en-US" dirty="0"/>
          </a:p>
        </p:txBody>
      </p:sp>
      <p:sp>
        <p:nvSpPr>
          <p:cNvPr id="15362" name="AutoShape 2" descr="AVL Tree Data Structure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364" name="Picture 4" descr="How to insert Strings into an AVL Tree - GeeksforGeek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5367" y="1842746"/>
            <a:ext cx="4829175" cy="4095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dirty="0" smtClean="0"/>
              <a:t>AVL Trees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6007301" cy="4175125"/>
          </a:xfrm>
        </p:spPr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smtClean="0"/>
              <a:t>In an AVL tree, each node maintains a data called Balance Factor, which represents the difference in heights between the left and right subtrees. 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The </a:t>
            </a:r>
            <a:r>
              <a:rPr smtClean="0"/>
              <a:t>tree is considered balanced when the Balance Factor is -1, 0, or 1, and no rebalancing is required. 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However</a:t>
            </a:r>
            <a:r>
              <a:rPr smtClean="0"/>
              <a:t>, if the Balance Factor deviates from these three values, the tree needs to be rebalanced. 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There </a:t>
            </a:r>
            <a:r>
              <a:rPr smtClean="0"/>
              <a:t>are four ways to perform these rebalancing </a:t>
            </a:r>
            <a:r>
              <a:rPr smtClean="0"/>
              <a:t>operations</a:t>
            </a:r>
            <a:r>
              <a:rPr smtClean="0"/>
              <a:t>: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1. </a:t>
            </a:r>
            <a:r>
              <a:rPr b="1" smtClean="0"/>
              <a:t>Left </a:t>
            </a:r>
            <a:r>
              <a:rPr b="1" smtClean="0"/>
              <a:t>Rotation</a:t>
            </a:r>
          </a:p>
          <a:p>
            <a:pPr>
              <a:buFont typeface="Arial" pitchFamily="34" charset="0"/>
              <a:buChar char="•"/>
            </a:pPr>
            <a:r>
              <a:rPr b="1" smtClean="0"/>
              <a:t>2. R</a:t>
            </a:r>
            <a:r>
              <a:rPr b="1" smtClean="0"/>
              <a:t>ight Rotation</a:t>
            </a:r>
          </a:p>
          <a:p>
            <a:pPr>
              <a:buFont typeface="Arial" pitchFamily="34" charset="0"/>
              <a:buChar char="•"/>
            </a:pPr>
            <a:r>
              <a:rPr b="1" smtClean="0"/>
              <a:t>3. </a:t>
            </a:r>
            <a:r>
              <a:rPr smtClean="0"/>
              <a:t>Left-Right </a:t>
            </a:r>
            <a:r>
              <a:rPr smtClean="0"/>
              <a:t>Rotation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4. </a:t>
            </a:r>
            <a:r>
              <a:rPr smtClean="0"/>
              <a:t>Right-Left </a:t>
            </a:r>
            <a:r>
              <a:rPr smtClean="0"/>
              <a:t>Rotation</a:t>
            </a:r>
            <a:endParaRPr lang="en-US" dirty="0"/>
          </a:p>
        </p:txBody>
      </p:sp>
      <p:pic>
        <p:nvPicPr>
          <p:cNvPr id="4098" name="Picture 2" descr="https://miro.medium.com/v2/resize:fit:755/1*hDsJqL54FF9IhFhuHaMv3Q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38900" y="1388922"/>
            <a:ext cx="5753100" cy="30670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Multi-way Search </a:t>
            </a:r>
            <a:r>
              <a:rPr lang="en-US" dirty="0" smtClean="0"/>
              <a:t>trees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6366116" cy="417512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Multi-way search trees are a generalized version of binary trees that allow for efficient data searching and sorting. In contrast to binary search trees, which can only have two children per node, multi-way search trees can have multiple children per node</a:t>
            </a:r>
            <a:r>
              <a:rPr smtClean="0"/>
              <a:t>.</a:t>
            </a:r>
          </a:p>
          <a:p>
            <a:pPr>
              <a:buFont typeface="Arial" pitchFamily="34" charset="0"/>
              <a:buChar char="•"/>
            </a:pPr>
            <a:endParaRPr smtClean="0"/>
          </a:p>
          <a:p>
            <a:r>
              <a:rPr b="1" smtClean="0"/>
              <a:t>Types of Multi-way Search Trees</a:t>
            </a:r>
          </a:p>
          <a:p>
            <a:r>
              <a:rPr smtClean="0"/>
              <a:t>There are several types of multi-way search trees, each with unique features and use cases. The two common types are 2-3 and B-tree.</a:t>
            </a:r>
          </a:p>
          <a:p>
            <a:pPr>
              <a:buFont typeface="Arial" pitchFamily="34" charset="0"/>
              <a:buChar char="•"/>
            </a:pPr>
            <a:endParaRPr smtClean="0"/>
          </a:p>
        </p:txBody>
      </p:sp>
      <p:pic>
        <p:nvPicPr>
          <p:cNvPr id="14338" name="Picture 2" descr="https://www.baeldung.com/wp-content/uploads/sites/4/2023/03/Multi-way-search-tree-inser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4188" y="1399250"/>
            <a:ext cx="4031544" cy="34042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Multi-way Search </a:t>
            </a:r>
            <a:r>
              <a:rPr lang="en-US" dirty="0" smtClean="0"/>
              <a:t>trees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5822106" cy="417512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b="1" smtClean="0"/>
              <a:t>2-3 Tree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2-3 trees are multi-way search trees with two or three children per node.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The nodes in a 2-3 tree are sorted so that the smallest key is always in the leftmost child and the largest key is always in the rightmost child. 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They’re </a:t>
            </a:r>
            <a:r>
              <a:rPr smtClean="0"/>
              <a:t>often used in applications that require moderate amounts of data, such as compilers and interpreters. </a:t>
            </a:r>
            <a:br>
              <a:rPr smtClean="0"/>
            </a:br>
            <a:endParaRPr smtClean="0"/>
          </a:p>
        </p:txBody>
      </p:sp>
      <p:pic>
        <p:nvPicPr>
          <p:cNvPr id="3074" name="Picture 2" descr="2-3 Tree Examp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38570" y="1593905"/>
            <a:ext cx="5518150" cy="2607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Multi-way Search </a:t>
            </a:r>
            <a:r>
              <a:rPr lang="en-US" dirty="0" smtClean="0"/>
              <a:t>trees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5822106" cy="417512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b="1" smtClean="0"/>
              <a:t>B-Trees</a:t>
            </a:r>
            <a:endParaRPr b="1" smtClean="0"/>
          </a:p>
          <a:p>
            <a:pPr>
              <a:buFont typeface="Arial" pitchFamily="34" charset="0"/>
              <a:buChar char="•"/>
            </a:pPr>
            <a:r>
              <a:rPr smtClean="0"/>
              <a:t>B-trees have a variable number of children per node, typically ranging from 2 to hundreds.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Like 2-3 trees, B-trees are sorted so that keys are ordered from left to right. 2-3 trees are designed to optimize disk reads by ensuring that each node takes up a fixed amount of space on the disk.</a:t>
            </a:r>
          </a:p>
          <a:p>
            <a:r>
              <a:rPr smtClean="0"/>
              <a:t/>
            </a:r>
            <a:br>
              <a:rPr smtClean="0"/>
            </a:br>
            <a:endParaRPr smtClean="0"/>
          </a:p>
        </p:txBody>
      </p:sp>
      <p:pic>
        <p:nvPicPr>
          <p:cNvPr id="35842" name="Picture 2" descr="B-Tree examp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23684" y="1508760"/>
            <a:ext cx="5523132" cy="26708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Multi-way Search </a:t>
            </a:r>
            <a:r>
              <a:rPr lang="en-US" dirty="0" smtClean="0"/>
              <a:t>trees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6866" name="Picture 2" descr="https://www.baeldung.com/wp-content/uploads/sites/4/2023/03/Multi-way-search-tree-inser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455" y="1489934"/>
            <a:ext cx="5190115" cy="43825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B-tree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841865" cy="4175125"/>
          </a:xfrm>
        </p:spPr>
        <p:txBody>
          <a:bodyPr/>
          <a:lstStyle/>
          <a:p>
            <a:r>
              <a:rPr smtClean="0"/>
              <a:t> </a:t>
            </a:r>
            <a:r>
              <a:rPr smtClean="0"/>
              <a:t>A B-tree is essentially a balanced tree where each node can contain multiple keys, leading to fewer levels or “</a:t>
            </a:r>
            <a:r>
              <a:rPr b="1" smtClean="0"/>
              <a:t>depth</a:t>
            </a:r>
            <a:r>
              <a:rPr smtClean="0"/>
              <a:t>” in the tree, which translates to faster data access.</a:t>
            </a:r>
            <a:endParaRPr smtClean="0"/>
          </a:p>
          <a:p>
            <a:endParaRPr lang="en-US" dirty="0"/>
          </a:p>
        </p:txBody>
      </p:sp>
      <p:pic>
        <p:nvPicPr>
          <p:cNvPr id="13314" name="Picture 2" descr="Introduction of B Tree - GeeksforGeek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7895" y="3150552"/>
            <a:ext cx="8524875" cy="20955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Thanking you !!!!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mtClean="0"/>
              <a:t>Any question !!!!!</a:t>
            </a:r>
          </a:p>
          <a:p>
            <a:endParaRPr smtClean="0"/>
          </a:p>
          <a:p>
            <a:r>
              <a:rPr smtClean="0"/>
              <a:t>Download PPT : </a:t>
            </a:r>
            <a:r>
              <a:rPr smtClean="0">
                <a:hlinkClick r:id="rId2"/>
              </a:rPr>
              <a:t>https://github.com/sachin365123/Applies-Data-Structure-and-Application-GLA-Online-Sessions-Jan---Jun-2026</a:t>
            </a:r>
            <a:endParaRPr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9200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9196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</TotalTime>
  <Words>472</Words>
  <Application>Microsoft Office PowerPoint</Application>
  <PresentationFormat>Custom</PresentationFormat>
  <Paragraphs>58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 </vt:lpstr>
      <vt:lpstr>Content</vt:lpstr>
      <vt:lpstr> Threaded Binary trees</vt:lpstr>
      <vt:lpstr> Threaded Binary trees</vt:lpstr>
      <vt:lpstr>   AVL Trees</vt:lpstr>
      <vt:lpstr>   AVL Trees</vt:lpstr>
      <vt:lpstr>Introduction to Multi-way Search trees</vt:lpstr>
      <vt:lpstr>Introduction to Multi-way Search trees</vt:lpstr>
      <vt:lpstr>Introduction to Multi-way Search trees</vt:lpstr>
      <vt:lpstr>Introduction to Multi-way Search trees</vt:lpstr>
      <vt:lpstr> B-tree</vt:lpstr>
      <vt:lpstr>Thanking you !!!!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231</cp:revision>
  <dcterms:created xsi:type="dcterms:W3CDTF">2024-10-06T15:26:34Z</dcterms:created>
  <dcterms:modified xsi:type="dcterms:W3CDTF">2026-04-26T09:21:40Z</dcterms:modified>
</cp:coreProperties>
</file>