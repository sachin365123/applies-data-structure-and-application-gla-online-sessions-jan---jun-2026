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84" r:id="rId7"/>
    <p:sldId id="262" r:id="rId8"/>
    <p:sldId id="285" r:id="rId9"/>
    <p:sldId id="286" r:id="rId10"/>
    <p:sldId id="287" r:id="rId11"/>
    <p:sldId id="297" r:id="rId12"/>
    <p:sldId id="288" r:id="rId13"/>
    <p:sldId id="289" r:id="rId14"/>
    <p:sldId id="290" r:id="rId15"/>
    <p:sldId id="291" r:id="rId16"/>
    <p:sldId id="292" r:id="rId17"/>
    <p:sldId id="263" r:id="rId18"/>
    <p:sldId id="264" r:id="rId19"/>
    <p:sldId id="294" r:id="rId20"/>
    <p:sldId id="293" r:id="rId21"/>
    <p:sldId id="266" r:id="rId22"/>
    <p:sldId id="296" r:id="rId23"/>
    <p:sldId id="295" r:id="rId24"/>
    <p:sldId id="267" r:id="rId25"/>
    <p:sldId id="268" r:id="rId26"/>
    <p:sldId id="269" r:id="rId27"/>
    <p:sldId id="298" r:id="rId28"/>
    <p:sldId id="299" r:id="rId29"/>
    <p:sldId id="2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B05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891" autoAdjust="0"/>
    <p:restoredTop sz="94660"/>
  </p:normalViewPr>
  <p:slideViewPr>
    <p:cSldViewPr snapToGrid="0">
      <p:cViewPr>
        <p:scale>
          <a:sx n="66" d="100"/>
          <a:sy n="66" d="100"/>
        </p:scale>
        <p:origin x="-864" y="-2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960860F-C340-F964-8711-B70D18F2D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0316" y="2997171"/>
            <a:ext cx="5911368" cy="863658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b="1" dirty="0">
                <a:solidFill>
                  <a:srgbClr val="00B050"/>
                </a:solidFill>
              </a:rPr>
              <a:t>Video Title</a:t>
            </a:r>
            <a:endParaRPr lang="en-IN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="" xmlns:a16="http://schemas.microsoft.com/office/drawing/2014/main" id="{F41921D5-B2A7-423B-B9D7-CEB7266C8A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51EEF7B5-2005-487C-A335-E2554B8F2C0F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610388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0942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3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00188"/>
            <a:ext cx="9137444" cy="417512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9171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9" name="Text Placeholder 4">
            <a:extLst>
              <a:ext uri="{FF2B5EF4-FFF2-40B4-BE49-F238E27FC236}">
                <a16:creationId xmlns="" xmlns:a16="http://schemas.microsoft.com/office/drawing/2014/main" id="{9E4CB4B1-306A-4384-AC34-AB499A6C72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1718085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="" xmlns:a16="http://schemas.microsoft.com/office/drawing/2014/main" id="{47040CAB-B54D-4828-9A04-3A7C3AC3ED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107653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610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419" y="1308691"/>
            <a:ext cx="6341163" cy="4856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5896" y="2438947"/>
            <a:ext cx="4432852" cy="1993905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0449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ly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C7AB3E3-1439-42FC-80BD-2A21307FA1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272" y="1757411"/>
            <a:ext cx="4642371" cy="35556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For Quotations Only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1256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7735" y="2353091"/>
            <a:ext cx="2927443" cy="232209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>
                  <a:lumMod val="75000"/>
                </a:schemeClr>
              </a:buClr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 </a:t>
            </a: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9822BFC8-E641-4409-BC51-E828D2291B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1" name="Picture Placeholder 8">
            <a:extLst>
              <a:ext uri="{FF2B5EF4-FFF2-40B4-BE49-F238E27FC236}">
                <a16:creationId xmlns="" xmlns:a16="http://schemas.microsoft.com/office/drawing/2014/main" id="{6B93A7B1-FE5F-4D38-90BD-226BB1FA1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88997" y="1579545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953D03DA-6A09-453B-8E92-DDE6238E616E}"/>
              </a:ext>
            </a:extLst>
          </p:cNvPr>
          <p:cNvGrpSpPr/>
          <p:nvPr userDrawn="1"/>
        </p:nvGrpSpPr>
        <p:grpSpPr>
          <a:xfrm rot="10800000">
            <a:off x="831850" y="4257656"/>
            <a:ext cx="1289304" cy="1289304"/>
            <a:chOff x="9611350" y="1273785"/>
            <a:chExt cx="1289304" cy="1289304"/>
          </a:xfrm>
        </p:grpSpPr>
        <p:cxnSp>
          <p:nvCxnSpPr>
            <p:cNvPr id="13" name="Straight Connector 12">
              <a:extLst>
                <a:ext uri="{FF2B5EF4-FFF2-40B4-BE49-F238E27FC236}">
                  <a16:creationId xmlns="" xmlns:a16="http://schemas.microsoft.com/office/drawing/2014/main" id="{787947E2-03B1-49D1-8F29-87DF3EFE5CE2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="" xmlns:a16="http://schemas.microsoft.com/office/drawing/2014/main" id="{538E91B5-064A-42BF-8C2B-298B665E358A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B255699C-CFB9-49D1-9C35-50A5F279595C}"/>
              </a:ext>
            </a:extLst>
          </p:cNvPr>
          <p:cNvGrpSpPr/>
          <p:nvPr userDrawn="1"/>
        </p:nvGrpSpPr>
        <p:grpSpPr>
          <a:xfrm>
            <a:off x="3372568" y="1527159"/>
            <a:ext cx="1289304" cy="1289304"/>
            <a:chOff x="9611350" y="1273785"/>
            <a:chExt cx="1289304" cy="1289304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C9B84DFC-6D56-44C0-897B-40A729BF74DC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E49F67E5-6A93-438F-84F1-2E440D2ECFBF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19314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47537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AE22F721-DD17-46CD-B07A-480AE5C6FBF5}"/>
              </a:ext>
            </a:extLst>
          </p:cNvPr>
          <p:cNvCxnSpPr/>
          <p:nvPr userDrawn="1"/>
        </p:nvCxnSpPr>
        <p:spPr>
          <a:xfrm>
            <a:off x="8636718" y="1614243"/>
            <a:ext cx="1289304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7" y="1640436"/>
            <a:ext cx="3715711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431854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79819D75-3C3B-47C6-AF1A-F45AC9C64A90}"/>
              </a:ext>
            </a:extLst>
          </p:cNvPr>
          <p:cNvCxnSpPr>
            <a:cxnSpLocks/>
          </p:cNvCxnSpPr>
          <p:nvPr userDrawn="1"/>
        </p:nvCxnSpPr>
        <p:spPr>
          <a:xfrm>
            <a:off x="9897448" y="1588050"/>
            <a:ext cx="0" cy="1289304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5" name="Text Placeholder 4">
            <a:extLst>
              <a:ext uri="{FF2B5EF4-FFF2-40B4-BE49-F238E27FC236}">
                <a16:creationId xmlns="" xmlns:a16="http://schemas.microsoft.com/office/drawing/2014/main" id="{13B55745-1481-41BE-9233-B21F4F00BA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73082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V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3147" y="1640436"/>
            <a:ext cx="3713165" cy="39150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="" xmlns:a16="http://schemas.microsoft.com/office/drawing/2014/main" id="{2DD83F17-A635-4F57-9358-97F743C3216F}"/>
              </a:ext>
            </a:extLst>
          </p:cNvPr>
          <p:cNvGrpSpPr/>
          <p:nvPr userDrawn="1"/>
        </p:nvGrpSpPr>
        <p:grpSpPr>
          <a:xfrm rot="10800000">
            <a:off x="6096000" y="4318547"/>
            <a:ext cx="1289304" cy="1289304"/>
            <a:chOff x="9611350" y="1273785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="" xmlns:a16="http://schemas.microsoft.com/office/drawing/2014/main" id="{E4E50DDF-0C10-4989-911A-32DB07DC9F52}"/>
              </a:ext>
            </a:extLst>
          </p:cNvPr>
          <p:cNvGrpSpPr/>
          <p:nvPr userDrawn="1"/>
        </p:nvGrpSpPr>
        <p:grpSpPr>
          <a:xfrm>
            <a:off x="8636718" y="1588050"/>
            <a:ext cx="1289304" cy="1289304"/>
            <a:chOff x="9611350" y="1273785"/>
            <a:chExt cx="1289304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611350" y="129997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/>
            <p:nvPr userDrawn="1"/>
          </p:nvCxnSpPr>
          <p:spPr>
            <a:xfrm>
              <a:off x="10872080" y="1273785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353632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49435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64964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ragraph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6DCD2EC6-4AE2-4605-9670-EE79E1A4BD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121" y="2353632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lang="en-US" sz="20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="" xmlns:a16="http://schemas.microsoft.com/office/drawing/2014/main" id="{54CB8A54-9CBD-40B9-88A7-3B0B2FB6BA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121" y="2743200"/>
            <a:ext cx="5400675" cy="38956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lang="en-US" sz="1800" b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18224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with H-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A79CA459-DE5F-4F1A-AAFC-B0824B0DB5E3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153148" y="1883836"/>
            <a:ext cx="4322692" cy="28059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to add pictures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12EC6F-E89D-0AC7-A761-B1023C3E8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121" y="453875"/>
            <a:ext cx="9137098" cy="58750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Header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-7314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D6056BB0-9A3C-4DD1-9BAE-C7F27161A882}"/>
              </a:ext>
            </a:extLst>
          </p:cNvPr>
          <p:cNvGrpSpPr/>
          <p:nvPr userDrawn="1"/>
        </p:nvGrpSpPr>
        <p:grpSpPr>
          <a:xfrm>
            <a:off x="6096000" y="3461297"/>
            <a:ext cx="1289304" cy="1289304"/>
            <a:chOff x="6096000" y="4318547"/>
            <a:chExt cx="1289304" cy="128930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="" xmlns:a16="http://schemas.microsoft.com/office/drawing/2014/main" id="{96FDE5DC-6184-4385-813D-B8E965370C55}"/>
                </a:ext>
              </a:extLst>
            </p:cNvPr>
            <p:cNvCxnSpPr/>
            <p:nvPr userDrawn="1"/>
          </p:nvCxnSpPr>
          <p:spPr>
            <a:xfrm rot="10800000">
              <a:off x="6096000" y="5581658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6B610643-B9D7-47CE-A7CB-B9CCD3CD8FA8}"/>
                </a:ext>
              </a:extLst>
            </p:cNvPr>
            <p:cNvCxnSpPr/>
            <p:nvPr userDrawn="1"/>
          </p:nvCxnSpPr>
          <p:spPr>
            <a:xfrm rot="10800000">
              <a:off x="6124574" y="4318547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FD5A3C11-7D7D-4F56-AD42-B05E22605450}"/>
              </a:ext>
            </a:extLst>
          </p:cNvPr>
          <p:cNvGrpSpPr/>
          <p:nvPr userDrawn="1"/>
        </p:nvGrpSpPr>
        <p:grpSpPr>
          <a:xfrm>
            <a:off x="9186536" y="1826589"/>
            <a:ext cx="1317195" cy="1289304"/>
            <a:chOff x="9186536" y="1826589"/>
            <a:chExt cx="1317195" cy="1289304"/>
          </a:xfrm>
        </p:grpSpPr>
        <p:cxnSp>
          <p:nvCxnSpPr>
            <p:cNvPr id="22" name="Straight Connector 21">
              <a:extLst>
                <a:ext uri="{FF2B5EF4-FFF2-40B4-BE49-F238E27FC236}">
                  <a16:creationId xmlns="" xmlns:a16="http://schemas.microsoft.com/office/drawing/2014/main" id="{AE22F721-DD17-46CD-B07A-480AE5C6FBF5}"/>
                </a:ext>
              </a:extLst>
            </p:cNvPr>
            <p:cNvCxnSpPr/>
            <p:nvPr userDrawn="1"/>
          </p:nvCxnSpPr>
          <p:spPr>
            <a:xfrm>
              <a:off x="9186536" y="1852994"/>
              <a:ext cx="1289304" cy="0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9819D75-3C3B-47C6-AF1A-F45AC9C64A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503731" y="1826589"/>
              <a:ext cx="0" cy="1289304"/>
            </a:xfrm>
            <a:prstGeom prst="line">
              <a:avLst/>
            </a:prstGeom>
            <a:ln w="571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12EA0C0-1545-44A5-BA07-302622F2047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59121" y="2035843"/>
            <a:ext cx="5400675" cy="250190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endParaRPr lang="en-US" dirty="0"/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r>
              <a:rPr lang="en-US" dirty="0"/>
              <a:t>Lorem ipsum</a:t>
            </a:r>
          </a:p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89934E0-CD8C-4C82-BB51-48A9619AC13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207944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B91498-2249-4872-68A4-05066A2D0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5991166"/>
            <a:ext cx="10515600" cy="676762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Do not type anything in this area, as it is reserved for the caption.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67928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D0FF8217-211C-4647-A5FC-232CD898B9F8}"/>
              </a:ext>
            </a:extLst>
          </p:cNvPr>
          <p:cNvCxnSpPr>
            <a:cxnSpLocks/>
          </p:cNvCxnSpPr>
          <p:nvPr userDrawn="1"/>
        </p:nvCxnSpPr>
        <p:spPr>
          <a:xfrm>
            <a:off x="0" y="1284270"/>
            <a:ext cx="984264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="" xmlns:a16="http://schemas.microsoft.com/office/drawing/2014/main" id="{60EFD52D-71BD-4D6E-8493-A06A442AF56E}"/>
              </a:ext>
            </a:extLst>
          </p:cNvPr>
          <p:cNvSpPr txBox="1">
            <a:spLocks/>
          </p:cNvSpPr>
          <p:nvPr userDrawn="1"/>
        </p:nvSpPr>
        <p:spPr>
          <a:xfrm>
            <a:off x="0" y="32442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58775"/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2E3162AD-7B7B-4601-A7F5-13C4577052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8775" y="1593955"/>
            <a:ext cx="9137444" cy="4190687"/>
          </a:xfrm>
          <a:prstGeom prst="rect">
            <a:avLst/>
          </a:prstGeom>
        </p:spPr>
        <p:txBody>
          <a:bodyPr>
            <a:normAutofit/>
          </a:bodyPr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 lang="en-US" sz="1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0519280C-517B-4F4A-AD31-E885447E1D7D}"/>
              </a:ext>
            </a:extLst>
          </p:cNvPr>
          <p:cNvSpPr/>
          <p:nvPr userDrawn="1"/>
        </p:nvSpPr>
        <p:spPr>
          <a:xfrm>
            <a:off x="358917" y="416162"/>
            <a:ext cx="2183611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3600" b="1" kern="120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Summary</a:t>
            </a:r>
            <a:endParaRPr lang="en-IN" sz="3600" b="1" kern="1200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10" name="Picture Placeholder 22">
            <a:extLst>
              <a:ext uri="{FF2B5EF4-FFF2-40B4-BE49-F238E27FC236}">
                <a16:creationId xmlns="" xmlns:a16="http://schemas.microsoft.com/office/drawing/2014/main" id="{4C789902-3498-444F-888A-CD8E960A75D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185400" y="4768850"/>
            <a:ext cx="1770063" cy="1222375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Area Reserved for inset video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7704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A Logo start and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4D008F4-334F-453F-AFA1-C8D15F2524EA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77B14931-B1C9-481D-A12E-67817E6ECD19}"/>
              </a:ext>
            </a:extLst>
          </p:cNvPr>
          <p:cNvSpPr/>
          <p:nvPr userDrawn="1"/>
        </p:nvSpPr>
        <p:spPr>
          <a:xfrm>
            <a:off x="0" y="0"/>
            <a:ext cx="12192000" cy="6697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8C40B09-EF0A-40AA-B833-35019707AD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0996" y="3017519"/>
            <a:ext cx="3810008" cy="82296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478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BC1B16E8-8992-B39B-527E-7E2267D245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94E762-59DB-4A56-B671-6707C2ACF63B}" type="datetimeFigureOut">
              <a:rPr lang="en-IN" smtClean="0"/>
              <a:pPr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4BA001-1173-3B81-16E7-A1CABA0F4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E1E256B-6739-E4D3-25B2-A3D4670D3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0CE178-C5E0-487A-BEDA-02254E864867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5C22FAF-F747-40D1-9697-6B119C1E0E5B}"/>
              </a:ext>
            </a:extLst>
          </p:cNvPr>
          <p:cNvSpPr/>
          <p:nvPr userDrawn="1"/>
        </p:nvSpPr>
        <p:spPr>
          <a:xfrm>
            <a:off x="-99391" y="-45719"/>
            <a:ext cx="12423913" cy="6903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62ADEEB-5BA3-4C4B-BD02-E7EDE90FF541}"/>
              </a:ext>
            </a:extLst>
          </p:cNvPr>
          <p:cNvSpPr/>
          <p:nvPr userDrawn="1"/>
        </p:nvSpPr>
        <p:spPr>
          <a:xfrm>
            <a:off x="0" y="6697746"/>
            <a:ext cx="12192000" cy="1900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6746F02-3F1E-4264-B2CD-33C59ED11B12}"/>
              </a:ext>
            </a:extLst>
          </p:cNvPr>
          <p:cNvSpPr/>
          <p:nvPr userDrawn="1"/>
        </p:nvSpPr>
        <p:spPr>
          <a:xfrm>
            <a:off x="1557130" y="10590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Video Title: Roboto, Bold, 44</a:t>
            </a:r>
          </a:p>
          <a:p>
            <a:r>
              <a:rPr lang="en-US" dirty="0"/>
              <a:t>Top Heading 1: Roboto, Bold, 36</a:t>
            </a:r>
          </a:p>
          <a:p>
            <a:r>
              <a:rPr lang="en-US" dirty="0"/>
              <a:t>Sub- Heading 2: Roboto, Bold, 20</a:t>
            </a:r>
          </a:p>
          <a:p>
            <a:r>
              <a:rPr lang="en-US" dirty="0"/>
              <a:t>Body Text: Roboto, 18</a:t>
            </a:r>
          </a:p>
        </p:txBody>
      </p:sp>
    </p:spTree>
    <p:extLst>
      <p:ext uri="{BB962C8B-B14F-4D97-AF65-F5344CB8AC3E}">
        <p14:creationId xmlns="" xmlns:p14="http://schemas.microsoft.com/office/powerpoint/2010/main" val="62476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89EBD0A-0020-4F1B-8C0B-2A6D21CB67FA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94" y="430902"/>
            <a:ext cx="2282687" cy="4930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356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2" r:id="rId3"/>
    <p:sldLayoutId id="2147483680" r:id="rId4"/>
    <p:sldLayoutId id="2147483676" r:id="rId5"/>
    <p:sldLayoutId id="2147483677" r:id="rId6"/>
    <p:sldLayoutId id="2147483661" r:id="rId7"/>
    <p:sldLayoutId id="2147483678" r:id="rId8"/>
    <p:sldLayoutId id="2147483673" r:id="rId9"/>
    <p:sldLayoutId id="2147483674" r:id="rId10"/>
    <p:sldLayoutId id="2147483679" r:id="rId11"/>
    <p:sldLayoutId id="2147483675" r:id="rId12"/>
    <p:sldLayoutId id="2147483664" r:id="rId13"/>
    <p:sldLayoutId id="2147483671" r:id="rId14"/>
    <p:sldLayoutId id="214748365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-visualizer-wheat.vercel.app/" TargetMode="External"/><Relationship Id="rId2" Type="http://schemas.openxmlformats.org/officeDocument/2006/relationships/hyperlink" Target="https://www.cs.usfca.edu/~galles/visualization/StackArra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sualgo.net/en/list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chin365123/Applies-Data-Structure-and-Application-GLA-Online-Sessions-Jan---Jun-2026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2265" y="492257"/>
            <a:ext cx="808747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Roboto"/>
              </a:rPr>
              <a:t>Applies Data Structure and Application</a:t>
            </a:r>
          </a:p>
          <a:p>
            <a:pPr algn="ctr"/>
            <a:endParaRPr lang="en-US" sz="3600" dirty="0" smtClean="0">
              <a:latin typeface="Roboto"/>
            </a:endParaRPr>
          </a:p>
          <a:p>
            <a:pPr algn="ctr"/>
            <a:r>
              <a:rPr lang="en-US" b="1" dirty="0" smtClean="0">
                <a:solidFill>
                  <a:srgbClr val="00B050"/>
                </a:solidFill>
              </a:rPr>
              <a:t>Dr </a:t>
            </a:r>
            <a:r>
              <a:rPr lang="en-US" b="1" dirty="0" err="1" smtClean="0">
                <a:solidFill>
                  <a:srgbClr val="00B050"/>
                </a:solidFill>
              </a:rPr>
              <a:t>Sachin</a:t>
            </a:r>
            <a:r>
              <a:rPr lang="en-US" b="1" dirty="0" smtClean="0">
                <a:solidFill>
                  <a:srgbClr val="00B050"/>
                </a:solidFill>
              </a:rPr>
              <a:t> K </a:t>
            </a:r>
            <a:r>
              <a:rPr lang="en-US" b="1" dirty="0" err="1" smtClean="0">
                <a:solidFill>
                  <a:srgbClr val="00B050"/>
                </a:solidFill>
              </a:rPr>
              <a:t>Saxena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Sr</a:t>
            </a:r>
            <a:r>
              <a:rPr lang="en-US" dirty="0" smtClean="0"/>
              <a:t> Data Analyst, Portugal, MNC</a:t>
            </a:r>
          </a:p>
          <a:p>
            <a:pPr algn="ctr"/>
            <a:r>
              <a:rPr lang="en-US" dirty="0" smtClean="0"/>
              <a:t>Ex-</a:t>
            </a:r>
            <a:r>
              <a:rPr lang="en-US" dirty="0" err="1" smtClean="0"/>
              <a:t>Sr</a:t>
            </a:r>
            <a:r>
              <a:rPr lang="en-US" dirty="0" smtClean="0"/>
              <a:t> Software Engineer - Data Scientist</a:t>
            </a:r>
          </a:p>
          <a:p>
            <a:pPr algn="ctr"/>
            <a:endParaRPr lang="en-US" sz="3600" dirty="0">
              <a:latin typeface="Roboto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0809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316" y="2817845"/>
            <a:ext cx="5911368" cy="1042984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3775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b="1" smtClean="0"/>
              <a:t> Stacks: </a:t>
            </a:r>
            <a:r>
              <a:rPr smtClean="0"/>
              <a:t>Array Representation and Implementation of Stack, 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 Stacks Operations 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 Industry example of Stack </a:t>
            </a:r>
          </a:p>
          <a:p>
            <a:pPr>
              <a:buFont typeface="Wingdings" pitchFamily="2" charset="2"/>
              <a:buChar char="Ø"/>
            </a:pPr>
            <a:r>
              <a:rPr smtClean="0"/>
              <a:t>Evaluation of Postfix Expression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 descr="Array-Based Stack in C: Push, Pop &amp; Peek Explained"/>
          <p:cNvPicPr>
            <a:picLocks noChangeAspect="1" noChangeArrowheads="1"/>
          </p:cNvPicPr>
          <p:nvPr/>
        </p:nvPicPr>
        <p:blipFill>
          <a:blip r:embed="rId2"/>
          <a:srcRect t="4140"/>
          <a:stretch>
            <a:fillRect/>
          </a:stretch>
        </p:blipFill>
        <p:spPr bwMode="auto">
          <a:xfrm>
            <a:off x="4859037" y="2176041"/>
            <a:ext cx="6171638" cy="24891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to study so many data structures?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3109802-316C-721A-8025-47A0C1B11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/>
            <a:r>
              <a:rPr lang="en-US" dirty="0" smtClean="0"/>
              <a:t>Answer: C</a:t>
            </a:r>
            <a:r>
              <a:rPr smtClean="0"/>
              <a:t>hoice of data structure and efficient problem solving</a:t>
            </a:r>
          </a:p>
          <a:p>
            <a:pPr marL="342900" indent="-342900"/>
            <a:endParaRPr smtClean="0"/>
          </a:p>
          <a:p>
            <a:pPr marL="342900" indent="-342900"/>
            <a:r>
              <a:rPr smtClean="0"/>
              <a:t>The importance of algorithms and data structures:</a:t>
            </a:r>
          </a:p>
          <a:p>
            <a:pPr marL="342900" indent="-342900"/>
            <a:endParaRPr smtClean="0"/>
          </a:p>
          <a:p>
            <a:pPr marL="342900" indent="-342900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6"/>
          <p:cNvSpPr txBox="1"/>
          <p:nvPr/>
        </p:nvSpPr>
        <p:spPr>
          <a:xfrm>
            <a:off x="511390" y="2986147"/>
            <a:ext cx="9055735" cy="2318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2185035" indent="-368935">
              <a:lnSpc>
                <a:spcPct val="126400"/>
              </a:lnSpc>
              <a:spcBef>
                <a:spcPts val="95"/>
              </a:spcBef>
            </a:pPr>
            <a:r>
              <a:rPr sz="2550" b="1" dirty="0">
                <a:solidFill>
                  <a:srgbClr val="04182D"/>
                </a:solidFill>
                <a:latin typeface="Roboto"/>
                <a:cs typeface="Tahoma"/>
              </a:rPr>
              <a:t>Data</a:t>
            </a:r>
            <a:r>
              <a:rPr sz="2550" b="1" spc="-2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spc="-80" dirty="0">
                <a:solidFill>
                  <a:srgbClr val="04182D"/>
                </a:solidFill>
                <a:latin typeface="Roboto"/>
                <a:cs typeface="Tahoma"/>
              </a:rPr>
              <a:t>structures</a:t>
            </a:r>
            <a:r>
              <a:rPr sz="2550" b="1" spc="-30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Roboto"/>
                <a:cs typeface="Tahoma"/>
              </a:rPr>
              <a:t>and</a:t>
            </a:r>
            <a:r>
              <a:rPr sz="2550" spc="-7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spc="-70" dirty="0">
                <a:solidFill>
                  <a:srgbClr val="04182D"/>
                </a:solidFill>
                <a:latin typeface="Roboto"/>
                <a:cs typeface="Tahoma"/>
              </a:rPr>
              <a:t>algorithms</a:t>
            </a:r>
            <a:r>
              <a:rPr sz="2550" b="1" spc="-30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Roboto"/>
                <a:cs typeface="Tahoma"/>
              </a:rPr>
              <a:t>enable</a:t>
            </a:r>
            <a:r>
              <a:rPr sz="2550" spc="-80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Roboto"/>
                <a:cs typeface="Tahoma"/>
              </a:rPr>
              <a:t>us</a:t>
            </a:r>
            <a:r>
              <a:rPr sz="2550" spc="-7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Roboto"/>
                <a:cs typeface="Tahoma"/>
              </a:rPr>
              <a:t>to </a:t>
            </a:r>
            <a:r>
              <a:rPr sz="2550" spc="75" dirty="0">
                <a:solidFill>
                  <a:srgbClr val="04182D"/>
                </a:solidFill>
                <a:latin typeface="Roboto"/>
                <a:cs typeface="Tahoma"/>
              </a:rPr>
              <a:t>solve</a:t>
            </a:r>
            <a:r>
              <a:rPr sz="2550" spc="-114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Roboto"/>
                <a:cs typeface="Tahoma"/>
              </a:rPr>
              <a:t>everyday</a:t>
            </a:r>
            <a:r>
              <a:rPr sz="2550" b="1" spc="-60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Roboto"/>
                <a:cs typeface="Tahoma"/>
              </a:rPr>
              <a:t>problems</a:t>
            </a:r>
            <a:endParaRPr sz="2550">
              <a:latin typeface="Roboto"/>
              <a:cs typeface="Tahoma"/>
            </a:endParaRPr>
          </a:p>
          <a:p>
            <a:pPr marL="381000">
              <a:lnSpc>
                <a:spcPct val="100000"/>
              </a:lnSpc>
              <a:spcBef>
                <a:spcPts val="2095"/>
              </a:spcBef>
            </a:pPr>
            <a:r>
              <a:rPr sz="2550" spc="75" dirty="0">
                <a:solidFill>
                  <a:srgbClr val="04182D"/>
                </a:solidFill>
                <a:latin typeface="Roboto"/>
                <a:cs typeface="Tahoma"/>
              </a:rPr>
              <a:t>using</a:t>
            </a:r>
            <a:r>
              <a:rPr sz="2550" spc="-100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spc="-45" dirty="0">
                <a:solidFill>
                  <a:srgbClr val="04182D"/>
                </a:solidFill>
                <a:latin typeface="Roboto"/>
                <a:cs typeface="Tahoma"/>
              </a:rPr>
              <a:t>efficient </a:t>
            </a:r>
            <a:r>
              <a:rPr sz="2550" b="1" spc="-20" dirty="0">
                <a:solidFill>
                  <a:srgbClr val="04182D"/>
                </a:solidFill>
                <a:latin typeface="Roboto"/>
                <a:cs typeface="Tahoma"/>
              </a:rPr>
              <a:t>code</a:t>
            </a:r>
            <a:endParaRPr sz="2550">
              <a:latin typeface="Roboto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Roboto"/>
                <a:cs typeface="Tahoma"/>
              </a:rPr>
              <a:t>The</a:t>
            </a:r>
            <a:r>
              <a:rPr sz="2550" spc="-4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Roboto"/>
                <a:cs typeface="Tahoma"/>
              </a:rPr>
              <a:t>course</a:t>
            </a:r>
            <a:r>
              <a:rPr sz="2550" spc="-4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Roboto"/>
                <a:cs typeface="Tahoma"/>
              </a:rPr>
              <a:t>could</a:t>
            </a:r>
            <a:r>
              <a:rPr sz="2550" spc="-4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Roboto"/>
                <a:cs typeface="Tahoma"/>
              </a:rPr>
              <a:t>be</a:t>
            </a:r>
            <a:r>
              <a:rPr sz="2550" spc="-40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Roboto"/>
                <a:cs typeface="Tahoma"/>
              </a:rPr>
              <a:t>taught</a:t>
            </a:r>
            <a:r>
              <a:rPr sz="2550" spc="-4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Roboto"/>
                <a:cs typeface="Tahoma"/>
              </a:rPr>
              <a:t>in</a:t>
            </a:r>
            <a:r>
              <a:rPr sz="2550" spc="-4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dirty="0">
                <a:solidFill>
                  <a:srgbClr val="04182D"/>
                </a:solidFill>
                <a:latin typeface="Roboto"/>
                <a:cs typeface="Tahoma"/>
              </a:rPr>
              <a:t>any</a:t>
            </a:r>
            <a:r>
              <a:rPr sz="2550" b="1" spc="15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spc="-65" dirty="0">
                <a:solidFill>
                  <a:srgbClr val="04182D"/>
                </a:solidFill>
                <a:latin typeface="Roboto"/>
                <a:cs typeface="Tahoma"/>
              </a:rPr>
              <a:t>programming</a:t>
            </a:r>
            <a:r>
              <a:rPr sz="2550" b="1" spc="10" dirty="0">
                <a:solidFill>
                  <a:srgbClr val="04182D"/>
                </a:solidFill>
                <a:latin typeface="Roboto"/>
                <a:cs typeface="Tahoma"/>
              </a:rPr>
              <a:t> </a:t>
            </a:r>
            <a:r>
              <a:rPr sz="2550" b="1" spc="-10" dirty="0">
                <a:solidFill>
                  <a:srgbClr val="04182D"/>
                </a:solidFill>
                <a:latin typeface="Roboto"/>
                <a:cs typeface="Tahoma"/>
              </a:rPr>
              <a:t>language</a:t>
            </a:r>
            <a:endParaRPr sz="2550">
              <a:latin typeface="Roboto"/>
              <a:cs typeface="Tahoma"/>
            </a:endParaRPr>
          </a:p>
        </p:txBody>
      </p:sp>
      <p:pic>
        <p:nvPicPr>
          <p:cNvPr id="7" name="Picture 2" descr="Harvest Gold Brown Bread 400gm - Vrinda Super Ma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28659" y="1499583"/>
            <a:ext cx="3373412" cy="26029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 descr="Harvest Gold Brown Bread 400gm - Vrinda Super Mar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218" y="3143188"/>
            <a:ext cx="3373412" cy="2602942"/>
          </a:xfrm>
          <a:prstGeom prst="rect">
            <a:avLst/>
          </a:prstGeom>
          <a:noFill/>
        </p:spPr>
      </p:pic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86" name="Picture 10" descr="Pile Of Plates PNG Transparent Images Free Download | Vector Files | Pngtre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58198" y="1354239"/>
            <a:ext cx="2674210" cy="2674210"/>
          </a:xfrm>
          <a:prstGeom prst="rect">
            <a:avLst/>
          </a:prstGeom>
          <a:noFill/>
        </p:spPr>
      </p:pic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4598" name="Picture 22" descr="en one chair | en Series | Spaceform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69702" y="2144692"/>
            <a:ext cx="2667000" cy="3743325"/>
          </a:xfrm>
          <a:prstGeom prst="rect">
            <a:avLst/>
          </a:prstGeom>
          <a:noFill/>
        </p:spPr>
      </p:pic>
      <p:pic>
        <p:nvPicPr>
          <p:cNvPr id="24600" name="Picture 24" descr="A tall stack of vintage books arranged neatly on a transparent background  showcasing a variety of colors and textures, up a stack of books on  transparent backgroundfile 57171288 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14022" y="1445147"/>
            <a:ext cx="4012478" cy="40124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478" y="1527859"/>
            <a:ext cx="9335154" cy="380579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object 2" descr="$PPTXTitle"/>
          <p:cNvSpPr txBox="1">
            <a:spLocks/>
          </p:cNvSpPr>
          <p:nvPr/>
        </p:nvSpPr>
        <p:spPr>
          <a:xfrm>
            <a:off x="293394" y="401207"/>
            <a:ext cx="13187680" cy="713740"/>
          </a:xfrm>
          <a:prstGeom prst="rect">
            <a:avLst/>
          </a:prstGeom>
        </p:spPr>
        <p:txBody>
          <a:bodyPr vert="horz" wrap="square" lIns="0" tIns="13970" rIns="0" bIns="0" rtlCol="0" anchor="b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-229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Algorithms</a:t>
            </a:r>
            <a:r>
              <a:rPr kumimoji="0" lang="en-IN" sz="3600" b="1" i="0" u="none" strike="noStrike" kern="1200" cap="none" spc="-145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 </a:t>
            </a:r>
            <a:r>
              <a:rPr kumimoji="0" lang="en-IN" sz="3600" b="1" i="0" u="none" strike="noStrike" kern="1200" cap="none" spc="-15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and</a:t>
            </a:r>
            <a:r>
              <a:rPr kumimoji="0" lang="en-IN" sz="3600" b="1" i="0" u="none" strike="noStrike" kern="1200" cap="none" spc="-14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 </a:t>
            </a:r>
            <a:r>
              <a:rPr kumimoji="0" lang="en-IN" sz="3600" b="1" i="0" u="none" strike="noStrike" kern="1200" cap="none" spc="-12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data</a:t>
            </a:r>
            <a:r>
              <a:rPr kumimoji="0" lang="en-IN" sz="3600" b="1" i="0" u="none" strike="noStrike" kern="1200" cap="none" spc="-145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 </a:t>
            </a:r>
            <a:r>
              <a:rPr kumimoji="0" lang="en-IN" sz="3600" b="1" i="0" u="none" strike="noStrike" kern="1200" cap="none" spc="-195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j-cs"/>
              </a:rPr>
              <a:t>structures</a:t>
            </a:r>
            <a:endParaRPr kumimoji="0" lang="en-IN" sz="3600" b="1" i="0" u="none" strike="noStrike" kern="1200" cap="none" spc="-195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370390" y="1423563"/>
            <a:ext cx="6372860" cy="1501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b="1" spc="-85" dirty="0">
                <a:solidFill>
                  <a:srgbClr val="04182D"/>
                </a:solidFill>
                <a:latin typeface="Tahoma"/>
                <a:cs typeface="Tahoma"/>
              </a:rPr>
              <a:t>Algorithm</a:t>
            </a: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: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set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of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Tahoma"/>
                <a:cs typeface="Tahoma"/>
              </a:rPr>
              <a:t>instructions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Tahoma"/>
                <a:cs typeface="Tahoma"/>
              </a:rPr>
              <a:t>that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solve</a:t>
            </a:r>
            <a:r>
              <a:rPr sz="2550" spc="-5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75" dirty="0">
                <a:solidFill>
                  <a:srgbClr val="04182D"/>
                </a:solidFill>
                <a:latin typeface="Tahoma"/>
                <a:cs typeface="Tahoma"/>
              </a:rPr>
              <a:t>a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problem</a:t>
            </a:r>
            <a:endParaRPr sz="2550">
              <a:latin typeface="Tahoma"/>
              <a:cs typeface="Tahoma"/>
            </a:endParaRPr>
          </a:p>
          <a:p>
            <a:pPr marL="93980">
              <a:lnSpc>
                <a:spcPct val="100000"/>
              </a:lnSpc>
              <a:spcBef>
                <a:spcPts val="705"/>
              </a:spcBef>
              <a:tabLst>
                <a:tab pos="462915" algn="l"/>
              </a:tabLst>
            </a:pPr>
            <a:r>
              <a:rPr sz="2550" spc="-400" dirty="0">
                <a:solidFill>
                  <a:srgbClr val="04182D"/>
                </a:solidFill>
                <a:latin typeface="Tahoma"/>
                <a:cs typeface="Tahoma"/>
              </a:rPr>
              <a:t>1.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650" i="1" spc="50" dirty="0">
                <a:solidFill>
                  <a:srgbClr val="04182D"/>
                </a:solidFill>
                <a:latin typeface="Tahoma"/>
                <a:cs typeface="Tahoma"/>
              </a:rPr>
              <a:t>Design</a:t>
            </a:r>
            <a:endParaRPr sz="2650">
              <a:latin typeface="Tahoma"/>
              <a:cs typeface="Tahoma"/>
            </a:endParaRPr>
          </a:p>
        </p:txBody>
      </p:sp>
      <p:pic>
        <p:nvPicPr>
          <p:cNvPr id="8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5757" y="2655898"/>
            <a:ext cx="1735627" cy="1461840"/>
          </a:xfrm>
          <a:prstGeom prst="rect">
            <a:avLst/>
          </a:prstGeom>
        </p:spPr>
      </p:pic>
      <p:sp>
        <p:nvSpPr>
          <p:cNvPr id="9" name="object 6"/>
          <p:cNvSpPr txBox="1"/>
          <p:nvPr/>
        </p:nvSpPr>
        <p:spPr>
          <a:xfrm>
            <a:off x="531860" y="4407718"/>
            <a:ext cx="128524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1959" algn="l"/>
              </a:tabLst>
            </a:pPr>
            <a:r>
              <a:rPr sz="2550" spc="-25" dirty="0">
                <a:solidFill>
                  <a:srgbClr val="04182D"/>
                </a:solidFill>
                <a:latin typeface="Tahoma"/>
                <a:cs typeface="Tahoma"/>
              </a:rPr>
              <a:t>2.</a:t>
            </a:r>
            <a:r>
              <a:rPr sz="2550" dirty="0">
                <a:solidFill>
                  <a:srgbClr val="04182D"/>
                </a:solidFill>
                <a:latin typeface="Tahoma"/>
                <a:cs typeface="Tahoma"/>
              </a:rPr>
              <a:t>	</a:t>
            </a:r>
            <a:r>
              <a:rPr sz="2650" i="1" spc="130" dirty="0">
                <a:solidFill>
                  <a:srgbClr val="04182D"/>
                </a:solidFill>
                <a:latin typeface="Tahoma"/>
                <a:cs typeface="Tahoma"/>
              </a:rPr>
              <a:t>Code</a:t>
            </a:r>
            <a:endParaRPr sz="2650">
              <a:latin typeface="Tahoma"/>
              <a:cs typeface="Tahoma"/>
            </a:endParaRPr>
          </a:p>
        </p:txBody>
      </p:sp>
      <p:pic>
        <p:nvPicPr>
          <p:cNvPr id="10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3869" y="4348850"/>
            <a:ext cx="1799229" cy="1518337"/>
          </a:xfrm>
          <a:prstGeom prst="rect">
            <a:avLst/>
          </a:prstGeom>
        </p:spPr>
      </p:pic>
      <p:sp>
        <p:nvSpPr>
          <p:cNvPr id="11" name="object 10"/>
          <p:cNvSpPr txBox="1"/>
          <p:nvPr/>
        </p:nvSpPr>
        <p:spPr>
          <a:xfrm>
            <a:off x="5099808" y="2326389"/>
            <a:ext cx="6618605" cy="1990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b="1" spc="-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b="1" spc="-95" dirty="0">
                <a:solidFill>
                  <a:srgbClr val="04182D"/>
                </a:solidFill>
                <a:latin typeface="Tahoma"/>
                <a:cs typeface="Tahoma"/>
              </a:rPr>
              <a:t>structures:</a:t>
            </a:r>
            <a:r>
              <a:rPr sz="2550" b="1" spc="-1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hold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Tahoma"/>
                <a:cs typeface="Tahoma"/>
              </a:rPr>
              <a:t>and</a:t>
            </a:r>
            <a:r>
              <a:rPr sz="2550" spc="-6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manipulate</a:t>
            </a:r>
            <a:r>
              <a:rPr sz="2550" spc="-5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Tahoma"/>
                <a:cs typeface="Tahoma"/>
              </a:rPr>
              <a:t>data </a:t>
            </a:r>
            <a:r>
              <a:rPr sz="2550" spc="75" dirty="0">
                <a:solidFill>
                  <a:srgbClr val="04182D"/>
                </a:solidFill>
                <a:latin typeface="Tahoma"/>
                <a:cs typeface="Tahoma"/>
              </a:rPr>
              <a:t>when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Tahoma"/>
                <a:cs typeface="Tahoma"/>
              </a:rPr>
              <a:t>we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Tahoma"/>
                <a:cs typeface="Tahoma"/>
              </a:rPr>
              <a:t>execute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Tahoma"/>
                <a:cs typeface="Tahoma"/>
              </a:rPr>
              <a:t>an</a:t>
            </a:r>
            <a:r>
              <a:rPr sz="2550" spc="-4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Tahoma"/>
                <a:cs typeface="Tahoma"/>
              </a:rPr>
              <a:t>algorithm</a:t>
            </a:r>
            <a:endParaRPr sz="2550">
              <a:latin typeface="Tahoma"/>
              <a:cs typeface="Tahoma"/>
            </a:endParaRPr>
          </a:p>
          <a:p>
            <a:pPr marL="381000" marR="374650">
              <a:lnSpc>
                <a:spcPct val="126400"/>
              </a:lnSpc>
            </a:pPr>
            <a:r>
              <a:rPr sz="2550" b="1" dirty="0">
                <a:solidFill>
                  <a:srgbClr val="04182D"/>
                </a:solidFill>
                <a:latin typeface="Tahoma"/>
                <a:cs typeface="Tahoma"/>
              </a:rPr>
              <a:t>Advanced</a:t>
            </a:r>
            <a:r>
              <a:rPr sz="2550" b="1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Tahoma"/>
                <a:cs typeface="Tahoma"/>
              </a:rPr>
              <a:t>data</a:t>
            </a: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Tahoma"/>
                <a:cs typeface="Tahoma"/>
              </a:rPr>
              <a:t>structures:</a:t>
            </a: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Tahoma"/>
                <a:cs typeface="Tahoma"/>
              </a:rPr>
              <a:t>linked</a:t>
            </a:r>
            <a:r>
              <a:rPr sz="2550" spc="-85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lists, </a:t>
            </a:r>
            <a:r>
              <a:rPr sz="2550" spc="80" dirty="0">
                <a:solidFill>
                  <a:srgbClr val="04182D"/>
                </a:solidFill>
                <a:latin typeface="Tahoma"/>
                <a:cs typeface="Tahoma"/>
              </a:rPr>
              <a:t>stacks,</a:t>
            </a:r>
            <a:r>
              <a:rPr sz="2550" spc="-40" dirty="0">
                <a:solidFill>
                  <a:srgbClr val="04182D"/>
                </a:solidFill>
                <a:latin typeface="Tahoma"/>
                <a:cs typeface="Tahoma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Tahoma"/>
                <a:cs typeface="Tahoma"/>
              </a:rPr>
              <a:t>queues...</a:t>
            </a:r>
            <a:endParaRPr sz="255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722774" cy="4175125"/>
          </a:xfrm>
        </p:spPr>
        <p:txBody>
          <a:bodyPr/>
          <a:lstStyle/>
          <a:p>
            <a:r>
              <a:rPr smtClean="0"/>
              <a:t>A Stack is a linear data structure that only allows inserting,  deleting and querying elements at one of its ends, which we call the top.</a:t>
            </a:r>
          </a:p>
          <a:p>
            <a:endParaRPr smtClean="0"/>
          </a:p>
          <a:p>
            <a:r>
              <a:rPr smtClean="0">
                <a:solidFill>
                  <a:srgbClr val="FF0000"/>
                </a:solidFill>
              </a:rPr>
              <a:t>LIFO </a:t>
            </a:r>
            <a:r>
              <a:rPr smtClean="0"/>
              <a:t> type  structure  (Last  In,  First  Out),  in  which  the  last element   that   enters   is   the   first   element   that   leaves.</a:t>
            </a:r>
          </a:p>
          <a:p>
            <a:endParaRPr smtClean="0"/>
          </a:p>
          <a:p>
            <a:r>
              <a:rPr smtClean="0"/>
              <a:t>In </a:t>
            </a:r>
            <a:r>
              <a:rPr smtClean="0">
                <a:solidFill>
                  <a:srgbClr val="FF0000"/>
                </a:solidFill>
              </a:rPr>
              <a:t>C++</a:t>
            </a:r>
            <a:r>
              <a:rPr smtClean="0"/>
              <a:t> we declare a stack using stack&lt;T&gt; where T is a defined 	type.</a:t>
            </a:r>
          </a:p>
          <a:p>
            <a:endParaRPr lang="en-US" dirty="0"/>
          </a:p>
        </p:txBody>
      </p:sp>
      <p:pic>
        <p:nvPicPr>
          <p:cNvPr id="15" name="Picture 10" descr="Pile Of Plates PNG Transparent Images Free Download | Vector Files | Pngtre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657" y="3194614"/>
            <a:ext cx="2674210" cy="26742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object 3"/>
          <p:cNvSpPr txBox="1"/>
          <p:nvPr/>
        </p:nvSpPr>
        <p:spPr>
          <a:xfrm>
            <a:off x="689907" y="2522960"/>
            <a:ext cx="1037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60" dirty="0">
                <a:latin typeface="Cambria"/>
                <a:cs typeface="Cambria"/>
              </a:rPr>
              <a:t>Insert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4"/>
          <p:cNvSpPr txBox="1"/>
          <p:nvPr/>
        </p:nvSpPr>
        <p:spPr>
          <a:xfrm>
            <a:off x="1960106" y="2511385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"/>
                <a:cs typeface="Cambria"/>
              </a:rPr>
              <a:t>is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6" name="object 5"/>
          <p:cNvSpPr txBox="1"/>
          <p:nvPr/>
        </p:nvSpPr>
        <p:spPr>
          <a:xfrm>
            <a:off x="2313791" y="2522960"/>
            <a:ext cx="670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latin typeface="Cambria"/>
                <a:cs typeface="Cambria"/>
              </a:rPr>
              <a:t>called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7" name="object 6"/>
          <p:cNvSpPr txBox="1"/>
          <p:nvPr/>
        </p:nvSpPr>
        <p:spPr>
          <a:xfrm>
            <a:off x="3195876" y="2511385"/>
            <a:ext cx="624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solidFill>
                  <a:srgbClr val="7F6000"/>
                </a:solidFill>
                <a:latin typeface="Cambria"/>
                <a:cs typeface="Cambria"/>
              </a:rPr>
              <a:t>push</a:t>
            </a:r>
            <a:r>
              <a:rPr sz="1800" spc="95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7"/>
          <p:cNvSpPr txBox="1"/>
          <p:nvPr/>
        </p:nvSpPr>
        <p:spPr>
          <a:xfrm>
            <a:off x="689907" y="3071601"/>
            <a:ext cx="1488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sz="1800" spc="90" dirty="0">
                <a:latin typeface="Cambria"/>
                <a:cs typeface="Cambria"/>
              </a:rPr>
              <a:t>Removing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9" name="object 8"/>
          <p:cNvSpPr txBox="1"/>
          <p:nvPr/>
        </p:nvSpPr>
        <p:spPr>
          <a:xfrm>
            <a:off x="2640148" y="3071601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Cambria"/>
                <a:cs typeface="Cambria"/>
              </a:rPr>
              <a:t>the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0" name="object 9"/>
          <p:cNvSpPr txBox="1"/>
          <p:nvPr/>
        </p:nvSpPr>
        <p:spPr>
          <a:xfrm>
            <a:off x="3475568" y="3071601"/>
            <a:ext cx="377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5" dirty="0">
                <a:latin typeface="Cambria"/>
                <a:cs typeface="Cambria"/>
              </a:rPr>
              <a:t>top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10"/>
          <p:cNvSpPr txBox="1"/>
          <p:nvPr/>
        </p:nvSpPr>
        <p:spPr>
          <a:xfrm>
            <a:off x="4315367" y="3071601"/>
            <a:ext cx="907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0" dirty="0">
                <a:latin typeface="Cambria"/>
                <a:cs typeface="Cambria"/>
              </a:rPr>
              <a:t>element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2" name="object 11"/>
          <p:cNvSpPr txBox="1"/>
          <p:nvPr/>
        </p:nvSpPr>
        <p:spPr>
          <a:xfrm>
            <a:off x="5684696" y="3071601"/>
            <a:ext cx="20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"/>
                <a:cs typeface="Cambria"/>
              </a:rPr>
              <a:t>is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3" name="object 12"/>
          <p:cNvSpPr txBox="1"/>
          <p:nvPr/>
        </p:nvSpPr>
        <p:spPr>
          <a:xfrm>
            <a:off x="6348471" y="3071601"/>
            <a:ext cx="670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latin typeface="Cambria"/>
                <a:cs typeface="Cambria"/>
              </a:rPr>
              <a:t>called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4" name="object 13"/>
          <p:cNvSpPr txBox="1"/>
          <p:nvPr/>
        </p:nvSpPr>
        <p:spPr>
          <a:xfrm>
            <a:off x="7483872" y="3071601"/>
            <a:ext cx="503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pop</a:t>
            </a:r>
            <a:r>
              <a:rPr sz="1800" spc="85" dirty="0">
                <a:latin typeface="Cambria"/>
                <a:cs typeface="Cambria"/>
              </a:rPr>
              <a:t>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25" name="Picture 10" descr="Pile Of Plates PNG Transparent Images Free Download | Vector Files | Pngtre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3559" y="1574157"/>
            <a:ext cx="2674210" cy="26742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 Operations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02" name="Picture 2" descr="Stack Operations in Data Structure - Naukri Code 36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851" y="2257068"/>
            <a:ext cx="6532212" cy="23911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 Operations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bject 3"/>
          <p:cNvSpPr txBox="1"/>
          <p:nvPr/>
        </p:nvSpPr>
        <p:spPr>
          <a:xfrm>
            <a:off x="2480461" y="2403510"/>
            <a:ext cx="8972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0000FF"/>
                </a:solidFill>
                <a:latin typeface="Arial"/>
                <a:cs typeface="Arial"/>
              </a:rPr>
              <a:t>push(5)</a:t>
            </a:r>
            <a:endParaRPr sz="1900">
              <a:latin typeface="Arial"/>
              <a:cs typeface="Arial"/>
            </a:endParaRPr>
          </a:p>
        </p:txBody>
      </p:sp>
      <p:sp>
        <p:nvSpPr>
          <p:cNvPr id="26" name="object 4"/>
          <p:cNvSpPr txBox="1"/>
          <p:nvPr/>
        </p:nvSpPr>
        <p:spPr>
          <a:xfrm>
            <a:off x="4104862" y="3650124"/>
            <a:ext cx="1024890" cy="396240"/>
          </a:xfrm>
          <a:prstGeom prst="rect">
            <a:avLst/>
          </a:prstGeom>
          <a:ln w="9524">
            <a:solidFill>
              <a:srgbClr val="9E9E9E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sz="1400" spc="-50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5"/>
          <p:cNvGrpSpPr/>
          <p:nvPr/>
        </p:nvGrpSpPr>
        <p:grpSpPr>
          <a:xfrm>
            <a:off x="5345236" y="3842804"/>
            <a:ext cx="568960" cy="41275"/>
            <a:chOff x="5345236" y="3842804"/>
            <a:chExt cx="568960" cy="41275"/>
          </a:xfrm>
        </p:grpSpPr>
        <p:sp>
          <p:nvSpPr>
            <p:cNvPr id="28" name="object 6"/>
            <p:cNvSpPr/>
            <p:nvPr/>
          </p:nvSpPr>
          <p:spPr>
            <a:xfrm>
              <a:off x="5393224" y="3863299"/>
              <a:ext cx="520700" cy="0"/>
            </a:xfrm>
            <a:custGeom>
              <a:avLst/>
              <a:gdLst/>
              <a:ahLst/>
              <a:cxnLst/>
              <a:rect l="l" t="t" r="r" b="b"/>
              <a:pathLst>
                <a:path w="520700">
                  <a:moveTo>
                    <a:pt x="520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5349999" y="3847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8"/>
            <p:cNvSpPr/>
            <p:nvPr/>
          </p:nvSpPr>
          <p:spPr>
            <a:xfrm>
              <a:off x="5349999" y="38475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9"/>
          <p:cNvSpPr txBox="1"/>
          <p:nvPr/>
        </p:nvSpPr>
        <p:spPr>
          <a:xfrm>
            <a:off x="6083672" y="3697571"/>
            <a:ext cx="339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30" dirty="0">
                <a:latin typeface="Cambria"/>
                <a:cs typeface="Cambria"/>
              </a:rPr>
              <a:t>top</a:t>
            </a:r>
            <a:endParaRPr sz="16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 Operations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object 3"/>
          <p:cNvSpPr txBox="1"/>
          <p:nvPr/>
        </p:nvSpPr>
        <p:spPr>
          <a:xfrm>
            <a:off x="1380866" y="1743753"/>
            <a:ext cx="8972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0000FF"/>
                </a:solidFill>
                <a:latin typeface="Arial"/>
                <a:cs typeface="Arial"/>
              </a:rPr>
              <a:t>push(8)</a:t>
            </a:r>
            <a:endParaRPr sz="1900">
              <a:latin typeface="Arial"/>
              <a:cs typeface="Arial"/>
            </a:endParaRPr>
          </a:p>
        </p:txBody>
      </p:sp>
      <p:graphicFrame>
        <p:nvGraphicFramePr>
          <p:cNvPr id="20" name="object 4"/>
          <p:cNvGraphicFramePr>
            <a:graphicFrameLocks noGrp="1"/>
          </p:cNvGraphicFramePr>
          <p:nvPr/>
        </p:nvGraphicFramePr>
        <p:xfrm>
          <a:off x="4076950" y="3955218"/>
          <a:ext cx="1024890" cy="791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890"/>
              </a:tblGrid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1" name="object 5"/>
          <p:cNvGrpSpPr/>
          <p:nvPr/>
        </p:nvGrpSpPr>
        <p:grpSpPr>
          <a:xfrm>
            <a:off x="5310762" y="4152660"/>
            <a:ext cx="568960" cy="41275"/>
            <a:chOff x="5333912" y="3446604"/>
            <a:chExt cx="568960" cy="41275"/>
          </a:xfrm>
        </p:grpSpPr>
        <p:sp>
          <p:nvSpPr>
            <p:cNvPr id="22" name="object 6"/>
            <p:cNvSpPr/>
            <p:nvPr/>
          </p:nvSpPr>
          <p:spPr>
            <a:xfrm>
              <a:off x="5381900" y="3467099"/>
              <a:ext cx="520700" cy="0"/>
            </a:xfrm>
            <a:custGeom>
              <a:avLst/>
              <a:gdLst/>
              <a:ahLst/>
              <a:cxnLst/>
              <a:rect l="l" t="t" r="r" b="b"/>
              <a:pathLst>
                <a:path w="520700">
                  <a:moveTo>
                    <a:pt x="520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7"/>
            <p:cNvSpPr/>
            <p:nvPr/>
          </p:nvSpPr>
          <p:spPr>
            <a:xfrm>
              <a:off x="5338674" y="34513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8"/>
            <p:cNvSpPr/>
            <p:nvPr/>
          </p:nvSpPr>
          <p:spPr>
            <a:xfrm>
              <a:off x="5338674" y="34513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9"/>
          <p:cNvSpPr txBox="1"/>
          <p:nvPr/>
        </p:nvSpPr>
        <p:spPr>
          <a:xfrm>
            <a:off x="6049197" y="4007428"/>
            <a:ext cx="339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30" dirty="0">
                <a:latin typeface="Cambria"/>
                <a:cs typeface="Cambria"/>
              </a:rPr>
              <a:t>top</a:t>
            </a:r>
            <a:endParaRPr sz="16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 Operations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object 3"/>
          <p:cNvSpPr txBox="1"/>
          <p:nvPr/>
        </p:nvSpPr>
        <p:spPr>
          <a:xfrm>
            <a:off x="1526614" y="1651155"/>
            <a:ext cx="6286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FF0000"/>
                </a:solidFill>
                <a:latin typeface="Arial"/>
                <a:cs typeface="Arial"/>
              </a:rPr>
              <a:t>pop()</a:t>
            </a:r>
            <a:endParaRPr sz="1900">
              <a:latin typeface="Arial"/>
              <a:cs typeface="Arial"/>
            </a:endParaRPr>
          </a:p>
        </p:txBody>
      </p:sp>
      <p:graphicFrame>
        <p:nvGraphicFramePr>
          <p:cNvPr id="25" name="object 4"/>
          <p:cNvGraphicFramePr>
            <a:graphicFrameLocks noGrp="1"/>
          </p:cNvGraphicFramePr>
          <p:nvPr/>
        </p:nvGraphicFramePr>
        <p:xfrm>
          <a:off x="4088526" y="3464045"/>
          <a:ext cx="1024890" cy="1189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890"/>
              </a:tblGrid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12700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8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12700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5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81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6" name="object 5"/>
          <p:cNvGrpSpPr/>
          <p:nvPr/>
        </p:nvGrpSpPr>
        <p:grpSpPr>
          <a:xfrm>
            <a:off x="5310987" y="3661487"/>
            <a:ext cx="568960" cy="41275"/>
            <a:chOff x="5322561" y="3048029"/>
            <a:chExt cx="568960" cy="41275"/>
          </a:xfrm>
        </p:grpSpPr>
        <p:sp>
          <p:nvSpPr>
            <p:cNvPr id="28" name="object 6"/>
            <p:cNvSpPr/>
            <p:nvPr/>
          </p:nvSpPr>
          <p:spPr>
            <a:xfrm>
              <a:off x="5370549" y="3068524"/>
              <a:ext cx="520700" cy="0"/>
            </a:xfrm>
            <a:custGeom>
              <a:avLst/>
              <a:gdLst/>
              <a:ahLst/>
              <a:cxnLst/>
              <a:rect l="l" t="t" r="r" b="b"/>
              <a:pathLst>
                <a:path w="520700">
                  <a:moveTo>
                    <a:pt x="5206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/>
            <p:cNvSpPr/>
            <p:nvPr/>
          </p:nvSpPr>
          <p:spPr>
            <a:xfrm>
              <a:off x="5327324" y="30527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31465"/>
                  </a:moveTo>
                  <a:lnTo>
                    <a:pt x="0" y="15732"/>
                  </a:lnTo>
                  <a:lnTo>
                    <a:pt x="43225" y="0"/>
                  </a:lnTo>
                  <a:lnTo>
                    <a:pt x="43225" y="31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8"/>
            <p:cNvSpPr/>
            <p:nvPr/>
          </p:nvSpPr>
          <p:spPr>
            <a:xfrm>
              <a:off x="5327324" y="30527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5" y="0"/>
                  </a:moveTo>
                  <a:lnTo>
                    <a:pt x="0" y="15732"/>
                  </a:lnTo>
                  <a:lnTo>
                    <a:pt x="43225" y="31465"/>
                  </a:lnTo>
                  <a:lnTo>
                    <a:pt x="43225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9"/>
          <p:cNvSpPr txBox="1"/>
          <p:nvPr/>
        </p:nvSpPr>
        <p:spPr>
          <a:xfrm>
            <a:off x="6049423" y="3516255"/>
            <a:ext cx="3390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30" dirty="0">
                <a:latin typeface="Cambria"/>
                <a:cs typeface="Cambria"/>
              </a:rPr>
              <a:t>top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7073" y="1804908"/>
            <a:ext cx="240030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 </a:t>
            </a:r>
            <a:r>
              <a:rPr lang="en-US" dirty="0" err="1" smtClean="0"/>
              <a:t>vs</a:t>
            </a:r>
            <a:r>
              <a:rPr lang="en-US" dirty="0" smtClean="0"/>
              <a:t> Queue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1514475"/>
            <a:ext cx="5943600" cy="4295775"/>
          </a:xfrm>
          <a:prstGeom prst="rect">
            <a:avLst/>
          </a:prstGeom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0612" y="1712310"/>
            <a:ext cx="240030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 </a:t>
            </a:r>
            <a:r>
              <a:rPr lang="en-US" dirty="0" err="1" smtClean="0"/>
              <a:t>vs</a:t>
            </a:r>
            <a:r>
              <a:rPr lang="en-US" dirty="0" smtClean="0"/>
              <a:t> Queue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704" y="1836275"/>
            <a:ext cx="5943600" cy="3467100"/>
          </a:xfrm>
          <a:prstGeom prst="rect">
            <a:avLst/>
          </a:prstGeom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72592" y="1955379"/>
            <a:ext cx="240030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Stacks: LIFO/FILO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582" name="AutoShape 6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4" name="AutoShape 8" descr="Dams Taurus Black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8" name="AutoShape 12" descr="Box of Four Dams Taurus Chrome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0" name="AutoShape 14" descr="Dams Taurus Chrome Frame Stacking Chair - Pack of 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2" name="AutoShape 16" descr="https://static.office-furniture-direct.co.uk/Cache/Images/stack-4-chairs-blue-CHROME-01-400x400.png.webp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4" name="AutoShape 18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96" name="AutoShape 20" descr="Box of Four Dams Taurus Black Frame Stacking Chairs - Office Furniture  Direc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r>
              <a:rPr smtClean="0"/>
              <a:t>LIFO/FILO: Element which is put up last will be the first one out.</a:t>
            </a:r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 l="4274" t="2061"/>
          <a:stretch>
            <a:fillRect/>
          </a:stretch>
        </p:blipFill>
        <p:spPr bwMode="auto">
          <a:xfrm>
            <a:off x="520861" y="2361235"/>
            <a:ext cx="2872129" cy="3181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89686" y="2001678"/>
            <a:ext cx="240030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Industry example of Stack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="" xmlns:a16="http://schemas.microsoft.com/office/drawing/2014/main" id="{E3109802-316C-721A-8025-47A0C1B111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8775" y="1500188"/>
            <a:ext cx="9137444" cy="4175125"/>
          </a:xfrm>
        </p:spPr>
        <p:txBody>
          <a:bodyPr/>
          <a:lstStyle/>
          <a:p>
            <a:pPr>
              <a:buFont typeface="Wingdings"/>
              <a:buChar char="à"/>
            </a:pPr>
            <a:r>
              <a:rPr lang="en-US" dirty="0" smtClean="0">
                <a:sym typeface="Wingdings" pitchFamily="2" charset="2"/>
              </a:rPr>
              <a:t>Undo/redo operations</a:t>
            </a:r>
          </a:p>
          <a:p>
            <a:pPr>
              <a:buFont typeface="Wingdings"/>
              <a:buChar char="à"/>
            </a:pPr>
            <a:r>
              <a:rPr smtClean="0">
                <a:sym typeface="Wingdings" pitchFamily="2" charset="2"/>
              </a:rPr>
              <a:t>Call stack in programming</a:t>
            </a:r>
          </a:p>
          <a:p>
            <a:pPr>
              <a:buFont typeface="Wingdings"/>
              <a:buChar char="à"/>
            </a:pPr>
            <a:r>
              <a:rPr smtClean="0">
                <a:sym typeface="Wingdings" pitchFamily="2" charset="2"/>
              </a:rPr>
              <a:t>Matching HTML tags/branches</a:t>
            </a:r>
          </a:p>
          <a:p>
            <a:pPr>
              <a:buFont typeface="Wingdings"/>
              <a:buChar char="à"/>
            </a:pPr>
            <a:r>
              <a:rPr smtClean="0">
                <a:sym typeface="Wingdings" pitchFamily="2" charset="2"/>
              </a:rPr>
              <a:t>In back tracking algorithm</a:t>
            </a:r>
          </a:p>
          <a:p>
            <a:pPr>
              <a:buFont typeface="Wingdings"/>
              <a:buChar char="à"/>
            </a:pPr>
            <a:r>
              <a:rPr smtClean="0">
                <a:sym typeface="Wingdings" pitchFamily="2" charset="2"/>
              </a:rPr>
              <a:t>Decimal to Binary conversion</a:t>
            </a:r>
          </a:p>
          <a:p>
            <a:pPr>
              <a:buFont typeface="Wingdings"/>
              <a:buChar char="à"/>
            </a:pPr>
            <a:r>
              <a:rPr smtClean="0">
                <a:sym typeface="Wingdings" pitchFamily="2" charset="2"/>
              </a:rPr>
              <a:t>Reversing a string</a:t>
            </a:r>
          </a:p>
          <a:p>
            <a:pPr>
              <a:buFont typeface="Wingdings"/>
              <a:buChar char="à"/>
            </a:pPr>
            <a:r>
              <a:rPr smtClean="0">
                <a:sym typeface="Wingdings" pitchFamily="2" charset="2"/>
              </a:rPr>
              <a:t>Evaluating a Postfix Expression</a:t>
            </a:r>
          </a:p>
          <a:p>
            <a:endParaRPr lang="en-US" dirty="0"/>
          </a:p>
        </p:txBody>
      </p:sp>
      <p:pic>
        <p:nvPicPr>
          <p:cNvPr id="22530" name="Picture 2" descr="Basic HTML Tag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91034" y="1593921"/>
            <a:ext cx="7802153" cy="23183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Representation using 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https://i.ytimg.com/vi/gT6s56XdeGA/maxresdefault.jpg"/>
          <p:cNvPicPr>
            <a:picLocks noChangeAspect="1" noChangeArrowheads="1"/>
          </p:cNvPicPr>
          <p:nvPr/>
        </p:nvPicPr>
        <p:blipFill>
          <a:blip r:embed="rId2"/>
          <a:srcRect b="8792"/>
          <a:stretch>
            <a:fillRect/>
          </a:stretch>
        </p:blipFill>
        <p:spPr bwMode="auto">
          <a:xfrm>
            <a:off x="559442" y="1562522"/>
            <a:ext cx="7693308" cy="39470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Representation using 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7346" name="Picture 2" descr="Stack | Application of stack in data structure | Stack program in c | Stack  using arra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133" y="1336466"/>
            <a:ext cx="7410370" cy="45676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Representation using array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8370" name="AutoShape 2" descr="Stack in Data Structure: Examples, Uses, Implementation, M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372" name="AutoShape 4" descr="Stack in Data Structure: Examples, Uses, Implementation, M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374" name="AutoShape 6" descr="Data Structure ARRAY REPRESENTATION OF STACKS | PPTX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376" name="AutoShape 8" descr="Stack - Linked List Implementation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378" name="AutoShape 10" descr="Stack - Linked List Implementation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8380" name="Picture 12" descr="Array Data Struct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5728"/>
            <a:ext cx="7892302" cy="35033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Representation using Linked List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Stack Representation using Arrays and Linked List ~ TUTORIALTPOINT- Java  Tutorial, C Tutorial, DBMS Tutorial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2927" y="1568049"/>
            <a:ext cx="6527078" cy="40482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Representation using Linked List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5298" name="Picture 2" descr="How to implement stack using using linked list in C++ - CodeSpeed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0689" y="1553379"/>
            <a:ext cx="9020175" cy="41052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Representation using Linked List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6322" name="Picture 2" descr="Linked List Representation of Stack » CS Talee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6998" y="1579450"/>
            <a:ext cx="7662602" cy="36877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DCBC1EE-8DE7-F8C6-2532-F1D6FA7B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of stack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39A056E-EB1C-0D34-9A78-7C519852A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986177A-9A0A-F174-FF1B-DBD9E85D24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smtClean="0"/>
              <a:t>Array Stack Visualization: </a:t>
            </a:r>
            <a:r>
              <a:rPr smtClean="0">
                <a:hlinkClick r:id="rId2"/>
              </a:rPr>
              <a:t>https://www.cs.usfca.edu/~galles/visualization/StackArray.html</a:t>
            </a:r>
            <a:endParaRPr smtClean="0"/>
          </a:p>
          <a:p>
            <a:pPr marL="342900" indent="-342900">
              <a:buAutoNum type="arabicPeriod"/>
            </a:pPr>
            <a:endParaRPr smtClean="0"/>
          </a:p>
          <a:p>
            <a:pPr marL="342900" indent="-342900"/>
            <a:endParaRPr smtClean="0"/>
          </a:p>
          <a:p>
            <a:pPr marL="342900" indent="-342900"/>
            <a:r>
              <a:rPr smtClean="0"/>
              <a:t>2.	Stack Visualizer: </a:t>
            </a:r>
            <a:r>
              <a:rPr smtClean="0">
                <a:hlinkClick r:id="rId3"/>
              </a:rPr>
              <a:t>https://stack-visualizer-wheat.vercel.app/</a:t>
            </a:r>
            <a:endParaRPr smtClean="0"/>
          </a:p>
          <a:p>
            <a:pPr marL="342900" indent="-342900">
              <a:buAutoNum type="arabicPeriod"/>
            </a:pPr>
            <a:endParaRPr smtClean="0"/>
          </a:p>
          <a:p>
            <a:pPr marL="342900" indent="-342900"/>
            <a:endParaRPr smtClean="0"/>
          </a:p>
          <a:p>
            <a:pPr marL="342900" indent="-342900"/>
            <a:r>
              <a:rPr smtClean="0"/>
              <a:t>3.	Linked List (Single, Doubly), Stack, Queue, Deque </a:t>
            </a:r>
            <a:r>
              <a:rPr lang="en-US" dirty="0" smtClean="0"/>
              <a:t>–</a:t>
            </a:r>
            <a:r>
              <a:rPr smtClean="0"/>
              <a:t> VisuAlgo:  </a:t>
            </a:r>
            <a:r>
              <a:rPr smtClean="0">
                <a:hlinkClick r:id="rId4"/>
              </a:rPr>
              <a:t>https://visualgo.net/en/list</a:t>
            </a:r>
            <a:endParaRPr smtClean="0"/>
          </a:p>
          <a:p>
            <a:pPr marL="342900" indent="-342900"/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515D149A-6DDC-75C8-A31D-A129A9CCF4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36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74BF57-85B6-88C6-779E-A93F6274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Example: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B6594B7-8A7B-2F44-881F-09966EFB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B71A4659-D503-43A9-464A-B59CFADE5D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Valid Brackets – Part 2 | Stack Metho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9208" y="1440460"/>
            <a:ext cx="7706448" cy="43702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1887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of Postfix Expression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3623" y="1608882"/>
            <a:ext cx="7646160" cy="4063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DB2212-65DC-A038-57AF-A0DD7E70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of Postfix Expression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748FE8E-7936-F0CD-D01E-A1C3609B4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42C748F-E808-44A6-3F66-FDFF2F2001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0418" name="Picture 2" descr="81. Evaluation of Postfix (Hindi)"/>
          <p:cNvPicPr>
            <a:picLocks noChangeAspect="1" noChangeArrowheads="1"/>
          </p:cNvPicPr>
          <p:nvPr/>
        </p:nvPicPr>
        <p:blipFill>
          <a:blip r:embed="rId2"/>
          <a:srcRect t="11802" r="24973"/>
          <a:stretch>
            <a:fillRect/>
          </a:stretch>
        </p:blipFill>
        <p:spPr bwMode="auto">
          <a:xfrm>
            <a:off x="200738" y="1875099"/>
            <a:ext cx="5494006" cy="36328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55739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CDBEEA-19FC-7C8E-BE8A-62DE5DFFE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Thanking you !!!!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3B0904C-599A-0B75-79E7-2B34161C7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97C0724-35FE-DFD8-FDEA-773DEA7A68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mtClean="0"/>
              <a:t>Any question !!!!!</a:t>
            </a:r>
          </a:p>
          <a:p>
            <a:endParaRPr smtClean="0"/>
          </a:p>
          <a:p>
            <a:r>
              <a:rPr smtClean="0"/>
              <a:t>Download PPT </a:t>
            </a:r>
            <a:r>
              <a:rPr smtClean="0"/>
              <a:t>: </a:t>
            </a:r>
            <a:r>
              <a:rPr smtClean="0">
                <a:hlinkClick r:id="rId2"/>
              </a:rPr>
              <a:t>https://github.com/sachin365123/Applies-Data-Structure-and-Application-GLA-Online-Sessions-Jan---</a:t>
            </a:r>
            <a:r>
              <a:rPr smtClean="0">
                <a:hlinkClick r:id="rId2"/>
              </a:rPr>
              <a:t>Jun-2026</a:t>
            </a:r>
            <a:endParaRPr smtClean="0"/>
          </a:p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3E443BCA-8AB4-30D1-72CB-AD2B2F943B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92004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9196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1497</TotalTime>
  <Words>346</Words>
  <Application>Microsoft Office PowerPoint</Application>
  <PresentationFormat>Custom</PresentationFormat>
  <Paragraphs>92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Slide 1</vt:lpstr>
      <vt:lpstr> </vt:lpstr>
      <vt:lpstr>Content</vt:lpstr>
      <vt:lpstr>Why to study so many data structures?</vt:lpstr>
      <vt:lpstr>Stacks</vt:lpstr>
      <vt:lpstr>Stacks</vt:lpstr>
      <vt:lpstr>Slide 7</vt:lpstr>
      <vt:lpstr>Stacks</vt:lpstr>
      <vt:lpstr>Stacks</vt:lpstr>
      <vt:lpstr>Stacks Operations</vt:lpstr>
      <vt:lpstr>Stacks Operations</vt:lpstr>
      <vt:lpstr>Stacks Operations</vt:lpstr>
      <vt:lpstr>Stacks Operations</vt:lpstr>
      <vt:lpstr>Stacks vs Queue</vt:lpstr>
      <vt:lpstr>Stacks vs Queue</vt:lpstr>
      <vt:lpstr>Stacks: LIFO/FILO</vt:lpstr>
      <vt:lpstr>Industry example of Stack</vt:lpstr>
      <vt:lpstr>Stack Representation using array</vt:lpstr>
      <vt:lpstr>Stack Representation using array</vt:lpstr>
      <vt:lpstr>Stack Representation using array</vt:lpstr>
      <vt:lpstr>Stack Representation using Linked List </vt:lpstr>
      <vt:lpstr>Stack Representation using Linked List </vt:lpstr>
      <vt:lpstr>Stack Representation using Linked List </vt:lpstr>
      <vt:lpstr>Visualization of stack</vt:lpstr>
      <vt:lpstr>Stack Example:</vt:lpstr>
      <vt:lpstr>Evaluation of Postfix Expression</vt:lpstr>
      <vt:lpstr>Evaluation of Postfix Expression</vt:lpstr>
      <vt:lpstr>Thanking you !!!!</vt:lpstr>
      <vt:lpstr>Slide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91</cp:revision>
  <dcterms:created xsi:type="dcterms:W3CDTF">2024-10-06T15:26:34Z</dcterms:created>
  <dcterms:modified xsi:type="dcterms:W3CDTF">2026-03-14T16:43:16Z</dcterms:modified>
</cp:coreProperties>
</file>