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5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Default Extension="gif" ContentType="image/gif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84" r:id="rId7"/>
    <p:sldId id="262" r:id="rId8"/>
    <p:sldId id="285" r:id="rId9"/>
    <p:sldId id="286" r:id="rId10"/>
    <p:sldId id="287" r:id="rId11"/>
    <p:sldId id="297" r:id="rId12"/>
    <p:sldId id="288" r:id="rId13"/>
    <p:sldId id="289" r:id="rId14"/>
    <p:sldId id="290" r:id="rId15"/>
    <p:sldId id="291" r:id="rId16"/>
    <p:sldId id="292" r:id="rId17"/>
    <p:sldId id="263" r:id="rId18"/>
    <p:sldId id="264" r:id="rId19"/>
    <p:sldId id="294" r:id="rId20"/>
    <p:sldId id="293" r:id="rId21"/>
    <p:sldId id="266" r:id="rId22"/>
    <p:sldId id="296" r:id="rId23"/>
    <p:sldId id="295" r:id="rId24"/>
    <p:sldId id="267" r:id="rId25"/>
    <p:sldId id="268" r:id="rId26"/>
    <p:sldId id="269" r:id="rId27"/>
    <p:sldId id="298" r:id="rId28"/>
    <p:sldId id="299" r:id="rId29"/>
    <p:sldId id="257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clrMru>
    <a:srgbClr val="00B050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891" autoAdjust="0"/>
    <p:restoredTop sz="94660"/>
  </p:normalViewPr>
  <p:slideViewPr>
    <p:cSldViewPr snapToGrid="0">
      <p:cViewPr>
        <p:scale>
          <a:sx n="66" d="100"/>
          <a:sy n="66" d="100"/>
        </p:scale>
        <p:origin x="-864" y="-29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960860F-C340-F964-8711-B70D18F2D6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0316" y="2997171"/>
            <a:ext cx="5911368" cy="863658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44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b="1" dirty="0">
                <a:solidFill>
                  <a:srgbClr val="00B050"/>
                </a:solidFill>
              </a:rPr>
              <a:t>Video Title</a:t>
            </a:r>
            <a:endParaRPr lang="en-IN" dirty="0"/>
          </a:p>
        </p:txBody>
      </p:sp>
      <p:sp>
        <p:nvSpPr>
          <p:cNvPr id="4" name="Picture Placeholder 22">
            <a:extLst>
              <a:ext uri="{FF2B5EF4-FFF2-40B4-BE49-F238E27FC236}">
                <a16:creationId xmlns:a16="http://schemas.microsoft.com/office/drawing/2014/main" xmlns="" id="{F41921D5-B2A7-423B-B9D7-CEB7266C8AC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51EEF7B5-2005-487C-A335-E2554B8F2C0F}"/>
              </a:ext>
            </a:extLst>
          </p:cNvPr>
          <p:cNvSpPr/>
          <p:nvPr userDrawn="1"/>
        </p:nvSpPr>
        <p:spPr>
          <a:xfrm>
            <a:off x="0" y="6697746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26103884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xmlns="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8775" y="1500188"/>
            <a:ext cx="9137444" cy="41751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xmlns="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10942096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3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xmlns="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8775" y="1500188"/>
            <a:ext cx="9137444" cy="4175125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xmlns="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917112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xmlns="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xmlns="" id="{9E4CB4B1-306A-4384-AC34-AB499A6C72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121" y="1718085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20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xmlns="" id="{47040CAB-B54D-4828-9A04-3A7C3AC3ED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121" y="2107653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lang="en-US" sz="1800" b="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4161086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BC7AB3E3-1439-42FC-80BD-2A21307FA1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2925419" y="1308691"/>
            <a:ext cx="6341163" cy="48568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For Quotations Only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xmlns="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35896" y="2438947"/>
            <a:ext cx="4432852" cy="1993905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xmlns="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4044912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BC7AB3E3-1439-42FC-80BD-2A21307FA1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5200272" y="1757411"/>
            <a:ext cx="4642371" cy="35556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For Quotations Only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xmlns="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57735" y="2353091"/>
            <a:ext cx="2927443" cy="2322098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 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xmlns="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xmlns="" id="{6B93A7B1-FE5F-4D38-90BD-226BB1FA14D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88997" y="1579545"/>
            <a:ext cx="3713165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xmlns="" id="{953D03DA-6A09-453B-8E92-DDE6238E616E}"/>
              </a:ext>
            </a:extLst>
          </p:cNvPr>
          <p:cNvGrpSpPr/>
          <p:nvPr userDrawn="1"/>
        </p:nvGrpSpPr>
        <p:grpSpPr>
          <a:xfrm rot="10800000">
            <a:off x="831850" y="4257656"/>
            <a:ext cx="1289304" cy="1289304"/>
            <a:chOff x="9611350" y="1273785"/>
            <a:chExt cx="1289304" cy="128930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xmlns="" id="{787947E2-03B1-49D1-8F29-87DF3EFE5CE2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xmlns="" id="{538E91B5-064A-42BF-8C2B-298B665E358A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xmlns="" id="{B255699C-CFB9-49D1-9C35-50A5F279595C}"/>
              </a:ext>
            </a:extLst>
          </p:cNvPr>
          <p:cNvGrpSpPr/>
          <p:nvPr userDrawn="1"/>
        </p:nvGrpSpPr>
        <p:grpSpPr>
          <a:xfrm>
            <a:off x="3372568" y="1527159"/>
            <a:ext cx="1289304" cy="1289304"/>
            <a:chOff x="9611350" y="1273785"/>
            <a:chExt cx="1289304" cy="12893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xmlns="" id="{C9B84DFC-6D56-44C0-897B-40A729BF74DC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E49F67E5-6A93-438F-84F1-2E440D2ECFBF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xmlns="" val="21931473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agraph with V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xmlns="" id="{AE22F721-DD17-46CD-B07A-480AE5C6FBF5}"/>
              </a:ext>
            </a:extLst>
          </p:cNvPr>
          <p:cNvCxnSpPr/>
          <p:nvPr userDrawn="1"/>
        </p:nvCxnSpPr>
        <p:spPr>
          <a:xfrm>
            <a:off x="8636718" y="1614243"/>
            <a:ext cx="1289304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xmlns="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7" y="1640436"/>
            <a:ext cx="3715711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D6056BB0-9A3C-4DD1-9BAE-C7F27161A882}"/>
              </a:ext>
            </a:extLst>
          </p:cNvPr>
          <p:cNvGrpSpPr/>
          <p:nvPr userDrawn="1"/>
        </p:nvGrpSpPr>
        <p:grpSpPr>
          <a:xfrm>
            <a:off x="6096000" y="431854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xmlns="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xmlns="" id="{79819D75-3C3B-47C6-AF1A-F45AC9C64A90}"/>
              </a:ext>
            </a:extLst>
          </p:cNvPr>
          <p:cNvCxnSpPr>
            <a:cxnSpLocks/>
          </p:cNvCxnSpPr>
          <p:nvPr userDrawn="1"/>
        </p:nvCxnSpPr>
        <p:spPr>
          <a:xfrm>
            <a:off x="9897448" y="1588050"/>
            <a:ext cx="0" cy="1289304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353632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xmlns="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6475374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ragraph with V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xmlns="" id="{AE22F721-DD17-46CD-B07A-480AE5C6FBF5}"/>
              </a:ext>
            </a:extLst>
          </p:cNvPr>
          <p:cNvCxnSpPr/>
          <p:nvPr userDrawn="1"/>
        </p:nvCxnSpPr>
        <p:spPr>
          <a:xfrm>
            <a:off x="8636718" y="1614243"/>
            <a:ext cx="1289304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xmlns="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7" y="1640436"/>
            <a:ext cx="3715711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D6056BB0-9A3C-4DD1-9BAE-C7F27161A882}"/>
              </a:ext>
            </a:extLst>
          </p:cNvPr>
          <p:cNvGrpSpPr/>
          <p:nvPr userDrawn="1"/>
        </p:nvGrpSpPr>
        <p:grpSpPr>
          <a:xfrm>
            <a:off x="6096000" y="431854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xmlns="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xmlns="" id="{79819D75-3C3B-47C6-AF1A-F45AC9C64A90}"/>
              </a:ext>
            </a:extLst>
          </p:cNvPr>
          <p:cNvCxnSpPr>
            <a:cxnSpLocks/>
          </p:cNvCxnSpPr>
          <p:nvPr userDrawn="1"/>
        </p:nvCxnSpPr>
        <p:spPr>
          <a:xfrm>
            <a:off x="9897448" y="1588050"/>
            <a:ext cx="0" cy="1289304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353632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20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xmlns="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xmlns="" id="{13B55745-1481-41BE-9233-B21F4F00BA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121" y="2743200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lang="en-US" sz="1800" b="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730820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with V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xmlns="" id="{A79CA459-DE5F-4F1A-AAFC-B0824B0DB5E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153147" y="1640436"/>
            <a:ext cx="3713165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32442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2DD83F17-A635-4F57-9358-97F743C3216F}"/>
              </a:ext>
            </a:extLst>
          </p:cNvPr>
          <p:cNvGrpSpPr/>
          <p:nvPr userDrawn="1"/>
        </p:nvGrpSpPr>
        <p:grpSpPr>
          <a:xfrm rot="10800000">
            <a:off x="6096000" y="4318547"/>
            <a:ext cx="1289304" cy="1289304"/>
            <a:chOff x="9611350" y="1273785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96FDE5DC-6184-4385-813D-B8E965370C55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xmlns="" id="{6B610643-B9D7-47CE-A7CB-B9CCD3CD8FA8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xmlns="" id="{E4E50DDF-0C10-4989-911A-32DB07DC9F52}"/>
              </a:ext>
            </a:extLst>
          </p:cNvPr>
          <p:cNvGrpSpPr/>
          <p:nvPr userDrawn="1"/>
        </p:nvGrpSpPr>
        <p:grpSpPr>
          <a:xfrm>
            <a:off x="8636718" y="1588050"/>
            <a:ext cx="1289304" cy="1289304"/>
            <a:chOff x="9611350" y="1273785"/>
            <a:chExt cx="1289304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xmlns="" id="{AE22F721-DD17-46CD-B07A-480AE5C6FBF5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xmlns="" id="{79819D75-3C3B-47C6-AF1A-F45AC9C64A90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353632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</p:txBody>
      </p: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xmlns="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19494352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agraph with H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xmlns="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8" y="1883836"/>
            <a:ext cx="4322692" cy="280591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D6056BB0-9A3C-4DD1-9BAE-C7F27161A882}"/>
              </a:ext>
            </a:extLst>
          </p:cNvPr>
          <p:cNvGrpSpPr/>
          <p:nvPr userDrawn="1"/>
        </p:nvGrpSpPr>
        <p:grpSpPr>
          <a:xfrm>
            <a:off x="6096000" y="346129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xmlns="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FD5A3C11-7D7D-4F56-AD42-B05E22605450}"/>
              </a:ext>
            </a:extLst>
          </p:cNvPr>
          <p:cNvGrpSpPr/>
          <p:nvPr userDrawn="1"/>
        </p:nvGrpSpPr>
        <p:grpSpPr>
          <a:xfrm>
            <a:off x="9186536" y="1826589"/>
            <a:ext cx="1317195" cy="1289304"/>
            <a:chOff x="9186536" y="1826589"/>
            <a:chExt cx="1317195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xmlns="" id="{AE22F721-DD17-46CD-B07A-480AE5C6FBF5}"/>
                </a:ext>
              </a:extLst>
            </p:cNvPr>
            <p:cNvCxnSpPr/>
            <p:nvPr userDrawn="1"/>
          </p:nvCxnSpPr>
          <p:spPr>
            <a:xfrm>
              <a:off x="9186536" y="1852994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xmlns="" id="{79819D75-3C3B-47C6-AF1A-F45AC9C64A9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503731" y="1826589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035843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xmlns="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3649648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ragraph with H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xmlns="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8" y="1883836"/>
            <a:ext cx="4322692" cy="280591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D6056BB0-9A3C-4DD1-9BAE-C7F27161A882}"/>
              </a:ext>
            </a:extLst>
          </p:cNvPr>
          <p:cNvGrpSpPr/>
          <p:nvPr userDrawn="1"/>
        </p:nvGrpSpPr>
        <p:grpSpPr>
          <a:xfrm>
            <a:off x="6096000" y="346129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xmlns="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FD5A3C11-7D7D-4F56-AD42-B05E22605450}"/>
              </a:ext>
            </a:extLst>
          </p:cNvPr>
          <p:cNvGrpSpPr/>
          <p:nvPr userDrawn="1"/>
        </p:nvGrpSpPr>
        <p:grpSpPr>
          <a:xfrm>
            <a:off x="9186536" y="1826589"/>
            <a:ext cx="1317195" cy="1289304"/>
            <a:chOff x="9186536" y="1826589"/>
            <a:chExt cx="1317195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xmlns="" id="{AE22F721-DD17-46CD-B07A-480AE5C6FBF5}"/>
                </a:ext>
              </a:extLst>
            </p:cNvPr>
            <p:cNvCxnSpPr/>
            <p:nvPr userDrawn="1"/>
          </p:nvCxnSpPr>
          <p:spPr>
            <a:xfrm>
              <a:off x="9186536" y="1852994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xmlns="" id="{79819D75-3C3B-47C6-AF1A-F45AC9C64A9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503731" y="1826589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xmlns="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xmlns="" id="{6DCD2EC6-4AE2-4605-9670-EE79E1A4BD8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121" y="2353632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20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xmlns="" id="{54CB8A54-9CBD-40B9-88A7-3B0B2FB6BA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121" y="2743200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lang="en-US" sz="1800" b="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1822424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with H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xmlns="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8" y="1883836"/>
            <a:ext cx="4322692" cy="280591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D6056BB0-9A3C-4DD1-9BAE-C7F27161A882}"/>
              </a:ext>
            </a:extLst>
          </p:cNvPr>
          <p:cNvGrpSpPr/>
          <p:nvPr userDrawn="1"/>
        </p:nvGrpSpPr>
        <p:grpSpPr>
          <a:xfrm>
            <a:off x="6096000" y="346129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xmlns="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FD5A3C11-7D7D-4F56-AD42-B05E22605450}"/>
              </a:ext>
            </a:extLst>
          </p:cNvPr>
          <p:cNvGrpSpPr/>
          <p:nvPr userDrawn="1"/>
        </p:nvGrpSpPr>
        <p:grpSpPr>
          <a:xfrm>
            <a:off x="9186536" y="1826589"/>
            <a:ext cx="1317195" cy="1289304"/>
            <a:chOff x="9186536" y="1826589"/>
            <a:chExt cx="1317195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xmlns="" id="{AE22F721-DD17-46CD-B07A-480AE5C6FBF5}"/>
                </a:ext>
              </a:extLst>
            </p:cNvPr>
            <p:cNvCxnSpPr/>
            <p:nvPr userDrawn="1"/>
          </p:nvCxnSpPr>
          <p:spPr>
            <a:xfrm>
              <a:off x="9186536" y="1852994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xmlns="" id="{79819D75-3C3B-47C6-AF1A-F45AC9C64A9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503731" y="1826589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035843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xmlns="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22079442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32442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xmlns="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8775" y="1593955"/>
            <a:ext cx="9137444" cy="4190687"/>
          </a:xfrm>
          <a:prstGeom prst="rect">
            <a:avLst/>
          </a:prstGeom>
        </p:spPr>
        <p:txBody>
          <a:bodyPr>
            <a:normAutofit/>
          </a:bodyPr>
          <a:lstStyle>
            <a:lvl1pPr marL="285750" marR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B050"/>
              </a:buClr>
              <a:buSzTx/>
              <a:buFont typeface="Wingdings" panose="05000000000000000000" pitchFamily="2" charset="2"/>
              <a:buChar char="§"/>
              <a:tabLst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endParaRPr lang="en-US" dirty="0"/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B05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endParaRPr lang="en-US" dirty="0"/>
          </a:p>
          <a:p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xmlns="" id="{0519280C-517B-4F4A-AD31-E885447E1D7D}"/>
              </a:ext>
            </a:extLst>
          </p:cNvPr>
          <p:cNvSpPr/>
          <p:nvPr userDrawn="1"/>
        </p:nvSpPr>
        <p:spPr>
          <a:xfrm>
            <a:off x="358917" y="416162"/>
            <a:ext cx="2183611" cy="5909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</a:pPr>
            <a:r>
              <a:rPr lang="en-US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rPr>
              <a:t>Summary</a:t>
            </a:r>
            <a:endParaRPr lang="en-IN" sz="3600" b="1" kern="1200" dirty="0">
              <a:solidFill>
                <a:srgbClr val="00B050"/>
              </a:solidFill>
              <a:latin typeface="Roboto" panose="02000000000000000000" pitchFamily="2" charset="0"/>
              <a:ea typeface="Roboto" panose="02000000000000000000" pitchFamily="2" charset="0"/>
              <a:cs typeface="+mj-cs"/>
            </a:endParaRP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xmlns="" id="{4C789902-3498-444F-888A-CD8E960A75D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187704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build="p">
        <p:tmplLst>
          <p:tmpl lvl="1">
            <p:tnLst>
              <p:par>
                <p:cTn presetID="10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9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0" grpId="0"/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A Logo start and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97746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77B14931-B1C9-481D-A12E-67817E6ECD19}"/>
              </a:ext>
            </a:extLst>
          </p:cNvPr>
          <p:cNvSpPr/>
          <p:nvPr userDrawn="1"/>
        </p:nvSpPr>
        <p:spPr>
          <a:xfrm>
            <a:off x="0" y="0"/>
            <a:ext cx="12192000" cy="66977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B8C40B09-EF0A-40AA-B833-35019707AD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4190996" y="3017519"/>
            <a:ext cx="3810008" cy="822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42264780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BC1B16E8-8992-B39B-527E-7E2267D245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B94E762-59DB-4A56-B671-6707C2ACF63B}" type="datetimeFigureOut">
              <a:rPr lang="en-IN" smtClean="0"/>
              <a:pPr/>
              <a:t>14-03-2026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624BA001-1173-3B81-16E7-A1CABA0F4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E1E256B-6739-E4D3-25B2-A3D4670D3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30CE178-C5E0-487A-BEDA-02254E864867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E5C22FAF-F747-40D1-9697-6B119C1E0E5B}"/>
              </a:ext>
            </a:extLst>
          </p:cNvPr>
          <p:cNvSpPr/>
          <p:nvPr userDrawn="1"/>
        </p:nvSpPr>
        <p:spPr>
          <a:xfrm>
            <a:off x="-99391" y="-45719"/>
            <a:ext cx="12423913" cy="6903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562ADEEB-5BA3-4C4B-BD02-E7EDE90FF541}"/>
              </a:ext>
            </a:extLst>
          </p:cNvPr>
          <p:cNvSpPr/>
          <p:nvPr userDrawn="1"/>
        </p:nvSpPr>
        <p:spPr>
          <a:xfrm>
            <a:off x="0" y="6697746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16746F02-3F1E-4264-B2CD-33C59ED11B12}"/>
              </a:ext>
            </a:extLst>
          </p:cNvPr>
          <p:cNvSpPr/>
          <p:nvPr userDrawn="1"/>
        </p:nvSpPr>
        <p:spPr>
          <a:xfrm>
            <a:off x="1557130" y="1059022"/>
            <a:ext cx="6096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Video Title: Roboto, Bold, 44</a:t>
            </a:r>
          </a:p>
          <a:p>
            <a:r>
              <a:rPr lang="en-US" dirty="0"/>
              <a:t>Top Heading 1: Roboto, Bold, 36</a:t>
            </a:r>
          </a:p>
          <a:p>
            <a:r>
              <a:rPr lang="en-US" dirty="0"/>
              <a:t>Sub- Heading 2: Roboto, Bold, 20</a:t>
            </a:r>
          </a:p>
          <a:p>
            <a:r>
              <a:rPr lang="en-US" dirty="0"/>
              <a:t>Body Text: Roboto, 18</a:t>
            </a:r>
          </a:p>
        </p:txBody>
      </p:sp>
    </p:spTree>
    <p:extLst>
      <p:ext uri="{BB962C8B-B14F-4D97-AF65-F5344CB8AC3E}">
        <p14:creationId xmlns:p14="http://schemas.microsoft.com/office/powerpoint/2010/main" xmlns="" val="6247619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D89EBD0A-0020-4F1B-8C0B-2A6D21CB67FA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9780094" y="430902"/>
            <a:ext cx="2282687" cy="493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523562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63" r:id="rId2"/>
    <p:sldLayoutId id="2147483672" r:id="rId3"/>
    <p:sldLayoutId id="2147483680" r:id="rId4"/>
    <p:sldLayoutId id="2147483676" r:id="rId5"/>
    <p:sldLayoutId id="2147483677" r:id="rId6"/>
    <p:sldLayoutId id="2147483661" r:id="rId7"/>
    <p:sldLayoutId id="2147483678" r:id="rId8"/>
    <p:sldLayoutId id="2147483673" r:id="rId9"/>
    <p:sldLayoutId id="2147483674" r:id="rId10"/>
    <p:sldLayoutId id="2147483679" r:id="rId11"/>
    <p:sldLayoutId id="2147483675" r:id="rId12"/>
    <p:sldLayoutId id="2147483664" r:id="rId13"/>
    <p:sldLayoutId id="2147483671" r:id="rId14"/>
    <p:sldLayoutId id="2147483655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gi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stack-visualizer-wheat.vercel.app/" TargetMode="External"/><Relationship Id="rId2" Type="http://schemas.openxmlformats.org/officeDocument/2006/relationships/hyperlink" Target="https://www.cs.usfca.edu/~galles/visualization/StackArray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visualgo.net/en/list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chin365123/Applies-Data-Structure-and-Application-GLA-Online-Sessions-Jan---Jun-2026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52265" y="492257"/>
            <a:ext cx="8087470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 smtClean="0">
                <a:latin typeface="Roboto"/>
              </a:rPr>
              <a:t>Applies Data Structure and Application</a:t>
            </a:r>
          </a:p>
          <a:p>
            <a:pPr algn="ctr"/>
            <a:endParaRPr lang="en-US" sz="3600" dirty="0" smtClean="0">
              <a:latin typeface="Roboto"/>
            </a:endParaRPr>
          </a:p>
          <a:p>
            <a:pPr algn="ctr"/>
            <a:r>
              <a:rPr lang="en-US" b="1" dirty="0" smtClean="0">
                <a:solidFill>
                  <a:srgbClr val="00B050"/>
                </a:solidFill>
              </a:rPr>
              <a:t>Dr </a:t>
            </a:r>
            <a:r>
              <a:rPr lang="en-US" b="1" dirty="0" err="1" smtClean="0">
                <a:solidFill>
                  <a:srgbClr val="00B050"/>
                </a:solidFill>
              </a:rPr>
              <a:t>Sachin</a:t>
            </a:r>
            <a:r>
              <a:rPr lang="en-US" b="1" dirty="0" smtClean="0">
                <a:solidFill>
                  <a:srgbClr val="00B050"/>
                </a:solidFill>
              </a:rPr>
              <a:t> K </a:t>
            </a:r>
            <a:r>
              <a:rPr lang="en-US" b="1" dirty="0" err="1" smtClean="0">
                <a:solidFill>
                  <a:srgbClr val="00B050"/>
                </a:solidFill>
              </a:rPr>
              <a:t>Saxena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err="1" smtClean="0"/>
              <a:t>Sr</a:t>
            </a:r>
            <a:r>
              <a:rPr lang="en-US" dirty="0" smtClean="0"/>
              <a:t> Data Analyst, Portugal, MNC</a:t>
            </a:r>
          </a:p>
          <a:p>
            <a:pPr algn="ctr"/>
            <a:r>
              <a:rPr lang="en-US" dirty="0" smtClean="0"/>
              <a:t>Ex-</a:t>
            </a:r>
            <a:r>
              <a:rPr lang="en-US" dirty="0" err="1" smtClean="0"/>
              <a:t>Sr</a:t>
            </a:r>
            <a:r>
              <a:rPr lang="en-US" dirty="0" smtClean="0"/>
              <a:t> Software Engineer - Data Scientist</a:t>
            </a:r>
          </a:p>
          <a:p>
            <a:pPr algn="ctr"/>
            <a:endParaRPr lang="en-US" sz="3600" dirty="0"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2808090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0316" y="2817845"/>
            <a:ext cx="5911368" cy="1042984"/>
          </a:xfrm>
        </p:spPr>
        <p:txBody>
          <a:bodyPr>
            <a:normAutofit fontScale="90000"/>
          </a:bodyPr>
          <a:lstStyle/>
          <a:p>
            <a:r>
              <a:rPr lang="en-US" dirty="0"/>
              <a:t/>
            </a:r>
            <a:br>
              <a:rPr lang="en-US" dirty="0"/>
            </a:br>
            <a:endParaRPr lang="en-IN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4377571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8986177A-9A0A-F174-FF1B-DBD9E85D24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buFont typeface="Wingdings" pitchFamily="2" charset="2"/>
              <a:buChar char="Ø"/>
            </a:pPr>
            <a:r>
              <a:rPr b="1" smtClean="0"/>
              <a:t> Stacks: </a:t>
            </a:r>
            <a:r>
              <a:rPr smtClean="0"/>
              <a:t>Array Representation and Implementation of Stack, </a:t>
            </a:r>
          </a:p>
          <a:p>
            <a:pPr>
              <a:buFont typeface="Wingdings" pitchFamily="2" charset="2"/>
              <a:buChar char="Ø"/>
            </a:pPr>
            <a:r>
              <a:rPr smtClean="0"/>
              <a:t> Stacks Operations </a:t>
            </a:r>
          </a:p>
          <a:p>
            <a:pPr>
              <a:buFont typeface="Wingdings" pitchFamily="2" charset="2"/>
              <a:buChar char="Ø"/>
            </a:pPr>
            <a:r>
              <a:rPr smtClean="0"/>
              <a:t> Industry example of Stack </a:t>
            </a:r>
          </a:p>
          <a:p>
            <a:pPr>
              <a:buFont typeface="Wingdings" pitchFamily="2" charset="2"/>
              <a:buChar char="Ø"/>
            </a:pPr>
            <a:r>
              <a:rPr smtClean="0"/>
              <a:t>Evaluation of Postfix Expression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6626" name="Picture 2" descr="Array-Based Stack in C: Push, Pop &amp; Peek Explained"/>
          <p:cNvPicPr>
            <a:picLocks noChangeAspect="1" noChangeArrowheads="1"/>
          </p:cNvPicPr>
          <p:nvPr/>
        </p:nvPicPr>
        <p:blipFill>
          <a:blip r:embed="rId2"/>
          <a:srcRect t="4140"/>
          <a:stretch>
            <a:fillRect/>
          </a:stretch>
        </p:blipFill>
        <p:spPr bwMode="auto">
          <a:xfrm>
            <a:off x="4859037" y="2176041"/>
            <a:ext cx="6171638" cy="248910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29736485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to study so many data structures?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E3109802-316C-721A-8025-47A0C1B111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/>
            <a:r>
              <a:rPr lang="en-US" dirty="0" smtClean="0"/>
              <a:t>Answer: C</a:t>
            </a:r>
            <a:r>
              <a:rPr smtClean="0"/>
              <a:t>hoice of data structure and efficient problem solving</a:t>
            </a:r>
          </a:p>
          <a:p>
            <a:pPr marL="342900" indent="-342900"/>
            <a:endParaRPr smtClean="0"/>
          </a:p>
          <a:p>
            <a:pPr marL="342900" indent="-342900"/>
            <a:r>
              <a:rPr smtClean="0"/>
              <a:t>The importance of algorithms and data structures:</a:t>
            </a:r>
          </a:p>
          <a:p>
            <a:pPr marL="342900" indent="-342900"/>
            <a:endParaRPr smtClean="0"/>
          </a:p>
          <a:p>
            <a:pPr marL="342900" indent="-342900"/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object 6"/>
          <p:cNvSpPr txBox="1"/>
          <p:nvPr/>
        </p:nvSpPr>
        <p:spPr>
          <a:xfrm>
            <a:off x="511390" y="2986147"/>
            <a:ext cx="9055735" cy="2318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0" marR="2185035" indent="-368935">
              <a:lnSpc>
                <a:spcPct val="126400"/>
              </a:lnSpc>
              <a:spcBef>
                <a:spcPts val="95"/>
              </a:spcBef>
            </a:pPr>
            <a:r>
              <a:rPr sz="2550" b="1" dirty="0">
                <a:solidFill>
                  <a:srgbClr val="04182D"/>
                </a:solidFill>
                <a:latin typeface="Roboto"/>
                <a:cs typeface="Tahoma"/>
              </a:rPr>
              <a:t>Data</a:t>
            </a:r>
            <a:r>
              <a:rPr sz="2550" b="1" spc="-25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b="1" spc="-80" dirty="0">
                <a:solidFill>
                  <a:srgbClr val="04182D"/>
                </a:solidFill>
                <a:latin typeface="Roboto"/>
                <a:cs typeface="Tahoma"/>
              </a:rPr>
              <a:t>structures</a:t>
            </a:r>
            <a:r>
              <a:rPr sz="2550" b="1" spc="-30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spc="150" dirty="0">
                <a:solidFill>
                  <a:srgbClr val="04182D"/>
                </a:solidFill>
                <a:latin typeface="Roboto"/>
                <a:cs typeface="Tahoma"/>
              </a:rPr>
              <a:t>and</a:t>
            </a:r>
            <a:r>
              <a:rPr sz="2550" spc="-75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b="1" spc="-70" dirty="0">
                <a:solidFill>
                  <a:srgbClr val="04182D"/>
                </a:solidFill>
                <a:latin typeface="Roboto"/>
                <a:cs typeface="Tahoma"/>
              </a:rPr>
              <a:t>algorithms</a:t>
            </a:r>
            <a:r>
              <a:rPr sz="2550" b="1" spc="-30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spc="120" dirty="0">
                <a:solidFill>
                  <a:srgbClr val="04182D"/>
                </a:solidFill>
                <a:latin typeface="Roboto"/>
                <a:cs typeface="Tahoma"/>
              </a:rPr>
              <a:t>enable</a:t>
            </a:r>
            <a:r>
              <a:rPr sz="2550" spc="-80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spc="60" dirty="0">
                <a:solidFill>
                  <a:srgbClr val="04182D"/>
                </a:solidFill>
                <a:latin typeface="Roboto"/>
                <a:cs typeface="Tahoma"/>
              </a:rPr>
              <a:t>us</a:t>
            </a:r>
            <a:r>
              <a:rPr sz="2550" spc="-75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spc="55" dirty="0">
                <a:solidFill>
                  <a:srgbClr val="04182D"/>
                </a:solidFill>
                <a:latin typeface="Roboto"/>
                <a:cs typeface="Tahoma"/>
              </a:rPr>
              <a:t>to </a:t>
            </a:r>
            <a:r>
              <a:rPr sz="2550" spc="75" dirty="0">
                <a:solidFill>
                  <a:srgbClr val="04182D"/>
                </a:solidFill>
                <a:latin typeface="Roboto"/>
                <a:cs typeface="Tahoma"/>
              </a:rPr>
              <a:t>solve</a:t>
            </a:r>
            <a:r>
              <a:rPr sz="2550" spc="-114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b="1" spc="-10" dirty="0">
                <a:solidFill>
                  <a:srgbClr val="04182D"/>
                </a:solidFill>
                <a:latin typeface="Roboto"/>
                <a:cs typeface="Tahoma"/>
              </a:rPr>
              <a:t>everyday</a:t>
            </a:r>
            <a:r>
              <a:rPr sz="2550" b="1" spc="-60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b="1" spc="-10" dirty="0">
                <a:solidFill>
                  <a:srgbClr val="04182D"/>
                </a:solidFill>
                <a:latin typeface="Roboto"/>
                <a:cs typeface="Tahoma"/>
              </a:rPr>
              <a:t>problems</a:t>
            </a:r>
            <a:endParaRPr sz="2550">
              <a:latin typeface="Roboto"/>
              <a:cs typeface="Tahoma"/>
            </a:endParaRPr>
          </a:p>
          <a:p>
            <a:pPr marL="381000">
              <a:lnSpc>
                <a:spcPct val="100000"/>
              </a:lnSpc>
              <a:spcBef>
                <a:spcPts val="2095"/>
              </a:spcBef>
            </a:pPr>
            <a:r>
              <a:rPr sz="2550" spc="75" dirty="0">
                <a:solidFill>
                  <a:srgbClr val="04182D"/>
                </a:solidFill>
                <a:latin typeface="Roboto"/>
                <a:cs typeface="Tahoma"/>
              </a:rPr>
              <a:t>using</a:t>
            </a:r>
            <a:r>
              <a:rPr sz="2550" spc="-100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b="1" spc="-45" dirty="0">
                <a:solidFill>
                  <a:srgbClr val="04182D"/>
                </a:solidFill>
                <a:latin typeface="Roboto"/>
                <a:cs typeface="Tahoma"/>
              </a:rPr>
              <a:t>efficient </a:t>
            </a:r>
            <a:r>
              <a:rPr sz="2550" b="1" spc="-20" dirty="0">
                <a:solidFill>
                  <a:srgbClr val="04182D"/>
                </a:solidFill>
                <a:latin typeface="Roboto"/>
                <a:cs typeface="Tahoma"/>
              </a:rPr>
              <a:t>code</a:t>
            </a:r>
            <a:endParaRPr sz="2550">
              <a:latin typeface="Roboto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2100"/>
              </a:spcBef>
            </a:pPr>
            <a:r>
              <a:rPr sz="2550" dirty="0">
                <a:solidFill>
                  <a:srgbClr val="04182D"/>
                </a:solidFill>
                <a:latin typeface="Roboto"/>
                <a:cs typeface="Tahoma"/>
              </a:rPr>
              <a:t>The</a:t>
            </a:r>
            <a:r>
              <a:rPr sz="2550" spc="-45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spc="100" dirty="0">
                <a:solidFill>
                  <a:srgbClr val="04182D"/>
                </a:solidFill>
                <a:latin typeface="Roboto"/>
                <a:cs typeface="Tahoma"/>
              </a:rPr>
              <a:t>course</a:t>
            </a:r>
            <a:r>
              <a:rPr sz="2550" spc="-45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spc="120" dirty="0">
                <a:solidFill>
                  <a:srgbClr val="04182D"/>
                </a:solidFill>
                <a:latin typeface="Roboto"/>
                <a:cs typeface="Tahoma"/>
              </a:rPr>
              <a:t>could</a:t>
            </a:r>
            <a:r>
              <a:rPr sz="2550" spc="-45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spc="155" dirty="0">
                <a:solidFill>
                  <a:srgbClr val="04182D"/>
                </a:solidFill>
                <a:latin typeface="Roboto"/>
                <a:cs typeface="Tahoma"/>
              </a:rPr>
              <a:t>be</a:t>
            </a:r>
            <a:r>
              <a:rPr sz="2550" spc="-40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spc="100" dirty="0">
                <a:solidFill>
                  <a:srgbClr val="04182D"/>
                </a:solidFill>
                <a:latin typeface="Roboto"/>
                <a:cs typeface="Tahoma"/>
              </a:rPr>
              <a:t>taught</a:t>
            </a:r>
            <a:r>
              <a:rPr sz="2550" spc="-45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spc="50" dirty="0">
                <a:solidFill>
                  <a:srgbClr val="04182D"/>
                </a:solidFill>
                <a:latin typeface="Roboto"/>
                <a:cs typeface="Tahoma"/>
              </a:rPr>
              <a:t>in</a:t>
            </a:r>
            <a:r>
              <a:rPr sz="2550" spc="-45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b="1" dirty="0">
                <a:solidFill>
                  <a:srgbClr val="04182D"/>
                </a:solidFill>
                <a:latin typeface="Roboto"/>
                <a:cs typeface="Tahoma"/>
              </a:rPr>
              <a:t>any</a:t>
            </a:r>
            <a:r>
              <a:rPr sz="2550" b="1" spc="15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b="1" spc="-65" dirty="0">
                <a:solidFill>
                  <a:srgbClr val="04182D"/>
                </a:solidFill>
                <a:latin typeface="Roboto"/>
                <a:cs typeface="Tahoma"/>
              </a:rPr>
              <a:t>programming</a:t>
            </a:r>
            <a:r>
              <a:rPr sz="2550" b="1" spc="10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b="1" spc="-10" dirty="0">
                <a:solidFill>
                  <a:srgbClr val="04182D"/>
                </a:solidFill>
                <a:latin typeface="Roboto"/>
                <a:cs typeface="Tahoma"/>
              </a:rPr>
              <a:t>language</a:t>
            </a:r>
            <a:endParaRPr sz="2550">
              <a:latin typeface="Roboto"/>
              <a:cs typeface="Tahoma"/>
            </a:endParaRPr>
          </a:p>
        </p:txBody>
      </p:sp>
      <p:pic>
        <p:nvPicPr>
          <p:cNvPr id="7" name="Picture 2" descr="Harvest Gold Brown Bread 400gm - Vrinda Super Mart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928659" y="1499583"/>
            <a:ext cx="3373412" cy="260294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2618870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4578" name="Picture 2" descr="Harvest Gold Brown Bread 400gm - Vrinda Super Mart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66218" y="3143188"/>
            <a:ext cx="3373412" cy="2602942"/>
          </a:xfrm>
          <a:prstGeom prst="rect">
            <a:avLst/>
          </a:prstGeom>
          <a:noFill/>
        </p:spPr>
      </p:pic>
      <p:sp>
        <p:nvSpPr>
          <p:cNvPr id="24582" name="AutoShape 6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4" name="AutoShape 8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4586" name="Picture 10" descr="Pile Of Plates PNG Transparent Images Free Download | Vector Files | Pngtree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958198" y="1354239"/>
            <a:ext cx="2674210" cy="2674210"/>
          </a:xfrm>
          <a:prstGeom prst="rect">
            <a:avLst/>
          </a:prstGeom>
          <a:noFill/>
        </p:spPr>
      </p:pic>
      <p:sp>
        <p:nvSpPr>
          <p:cNvPr id="24588" name="AutoShape 12" descr="Box of Four Dams Taurus Chrome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0" name="AutoShape 14" descr="Dams Taurus Chrome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2" name="AutoShape 16" descr="https://static.office-furniture-direct.co.uk/Cache/Images/stack-4-chairs-blue-CHROME-01-400x400.png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4" name="AutoShape 18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6" name="AutoShape 20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4598" name="Picture 22" descr="en one chair | en Series | Spaceforme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669702" y="2144692"/>
            <a:ext cx="2667000" cy="3743325"/>
          </a:xfrm>
          <a:prstGeom prst="rect">
            <a:avLst/>
          </a:prstGeom>
          <a:noFill/>
        </p:spPr>
      </p:pic>
      <p:pic>
        <p:nvPicPr>
          <p:cNvPr id="24600" name="Picture 24" descr="A tall stack of vintage books arranged neatly on a transparent background  showcasing a variety of colors and textures, up a stack of books on  transparent backgroundfile 57171288 PNG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6914022" y="1445147"/>
            <a:ext cx="4012478" cy="401247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582" name="AutoShape 6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4" name="AutoShape 8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8" name="AutoShape 12" descr="Box of Four Dams Taurus Chrome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0" name="AutoShape 14" descr="Dams Taurus Chrome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2" name="AutoShape 16" descr="https://static.office-furniture-direct.co.uk/Cache/Images/stack-4-chairs-blue-CHROME-01-400x400.png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4" name="AutoShape 18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6" name="AutoShape 20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26478" y="1527859"/>
            <a:ext cx="9335154" cy="3805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object 2" descr="$PPTXTitle"/>
          <p:cNvSpPr txBox="1">
            <a:spLocks/>
          </p:cNvSpPr>
          <p:nvPr/>
        </p:nvSpPr>
        <p:spPr>
          <a:xfrm>
            <a:off x="293394" y="401207"/>
            <a:ext cx="13187680" cy="713740"/>
          </a:xfrm>
          <a:prstGeom prst="rect">
            <a:avLst/>
          </a:prstGeom>
        </p:spPr>
        <p:txBody>
          <a:bodyPr vert="horz" wrap="square" lIns="0" tIns="13970" rIns="0" bIns="0" rtlCol="0" anchor="b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3600" b="1" i="0" u="none" strike="noStrike" kern="1200" cap="none" spc="-229" normalizeH="0" baseline="0" noProof="0" dirty="0" smtClean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+mj-cs"/>
              </a:rPr>
              <a:t>Algorithms</a:t>
            </a:r>
            <a:r>
              <a:rPr kumimoji="0" lang="en-IN" sz="3600" b="1" i="0" u="none" strike="noStrike" kern="1200" cap="none" spc="-145" normalizeH="0" baseline="0" noProof="0" dirty="0" smtClean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+mj-cs"/>
              </a:rPr>
              <a:t> </a:t>
            </a:r>
            <a:r>
              <a:rPr kumimoji="0" lang="en-IN" sz="3600" b="1" i="0" u="none" strike="noStrike" kern="1200" cap="none" spc="-150" normalizeH="0" baseline="0" noProof="0" dirty="0" smtClean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+mj-cs"/>
              </a:rPr>
              <a:t>and</a:t>
            </a:r>
            <a:r>
              <a:rPr kumimoji="0" lang="en-IN" sz="3600" b="1" i="0" u="none" strike="noStrike" kern="1200" cap="none" spc="-140" normalizeH="0" baseline="0" noProof="0" dirty="0" smtClean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+mj-cs"/>
              </a:rPr>
              <a:t> </a:t>
            </a:r>
            <a:r>
              <a:rPr kumimoji="0" lang="en-IN" sz="3600" b="1" i="0" u="none" strike="noStrike" kern="1200" cap="none" spc="-120" normalizeH="0" baseline="0" noProof="0" dirty="0" smtClean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+mj-cs"/>
              </a:rPr>
              <a:t>data</a:t>
            </a:r>
            <a:r>
              <a:rPr kumimoji="0" lang="en-IN" sz="3600" b="1" i="0" u="none" strike="noStrike" kern="1200" cap="none" spc="-145" normalizeH="0" baseline="0" noProof="0" dirty="0" smtClean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+mj-cs"/>
              </a:rPr>
              <a:t> </a:t>
            </a:r>
            <a:r>
              <a:rPr kumimoji="0" lang="en-IN" sz="3600" b="1" i="0" u="none" strike="noStrike" kern="1200" cap="none" spc="-195" normalizeH="0" baseline="0" noProof="0" dirty="0" smtClean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+mj-cs"/>
              </a:rPr>
              <a:t>structures</a:t>
            </a:r>
            <a:endParaRPr kumimoji="0" lang="en-IN" sz="3600" b="1" i="0" u="none" strike="noStrike" kern="1200" cap="none" spc="-195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Roboto" panose="02000000000000000000" pitchFamily="2" charset="0"/>
              <a:ea typeface="Roboto" panose="02000000000000000000" pitchFamily="2" charset="0"/>
              <a:cs typeface="+mj-cs"/>
            </a:endParaRPr>
          </a:p>
        </p:txBody>
      </p:sp>
      <p:sp>
        <p:nvSpPr>
          <p:cNvPr id="7" name="object 4"/>
          <p:cNvSpPr txBox="1"/>
          <p:nvPr/>
        </p:nvSpPr>
        <p:spPr>
          <a:xfrm>
            <a:off x="370390" y="1423563"/>
            <a:ext cx="6372860" cy="1501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26400"/>
              </a:lnSpc>
              <a:spcBef>
                <a:spcPts val="95"/>
              </a:spcBef>
            </a:pPr>
            <a:r>
              <a:rPr sz="2550" b="1" spc="-85" dirty="0">
                <a:solidFill>
                  <a:srgbClr val="04182D"/>
                </a:solidFill>
                <a:latin typeface="Tahoma"/>
                <a:cs typeface="Tahoma"/>
              </a:rPr>
              <a:t>Algorithm</a:t>
            </a:r>
            <a:r>
              <a:rPr sz="2550" spc="-85" dirty="0">
                <a:solidFill>
                  <a:srgbClr val="04182D"/>
                </a:solidFill>
                <a:latin typeface="Tahoma"/>
                <a:cs typeface="Tahoma"/>
              </a:rPr>
              <a:t>:</a:t>
            </a:r>
            <a:r>
              <a:rPr sz="2550" spc="-55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90" dirty="0">
                <a:solidFill>
                  <a:srgbClr val="04182D"/>
                </a:solidFill>
                <a:latin typeface="Tahoma"/>
                <a:cs typeface="Tahoma"/>
              </a:rPr>
              <a:t>set</a:t>
            </a:r>
            <a:r>
              <a:rPr sz="2550" spc="-50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114" dirty="0">
                <a:solidFill>
                  <a:srgbClr val="04182D"/>
                </a:solidFill>
                <a:latin typeface="Tahoma"/>
                <a:cs typeface="Tahoma"/>
              </a:rPr>
              <a:t>of</a:t>
            </a:r>
            <a:r>
              <a:rPr sz="2550" spc="-50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70" dirty="0">
                <a:solidFill>
                  <a:srgbClr val="04182D"/>
                </a:solidFill>
                <a:latin typeface="Tahoma"/>
                <a:cs typeface="Tahoma"/>
              </a:rPr>
              <a:t>instructions</a:t>
            </a:r>
            <a:r>
              <a:rPr sz="2550" spc="-50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114" dirty="0">
                <a:solidFill>
                  <a:srgbClr val="04182D"/>
                </a:solidFill>
                <a:latin typeface="Tahoma"/>
                <a:cs typeface="Tahoma"/>
              </a:rPr>
              <a:t>that</a:t>
            </a:r>
            <a:r>
              <a:rPr sz="2550" spc="-50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75" dirty="0">
                <a:solidFill>
                  <a:srgbClr val="04182D"/>
                </a:solidFill>
                <a:latin typeface="Tahoma"/>
                <a:cs typeface="Tahoma"/>
              </a:rPr>
              <a:t>solve</a:t>
            </a:r>
            <a:r>
              <a:rPr sz="2550" spc="-50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175" dirty="0">
                <a:solidFill>
                  <a:srgbClr val="04182D"/>
                </a:solidFill>
                <a:latin typeface="Tahoma"/>
                <a:cs typeface="Tahoma"/>
              </a:rPr>
              <a:t>a </a:t>
            </a:r>
            <a:r>
              <a:rPr sz="2550" spc="85" dirty="0">
                <a:solidFill>
                  <a:srgbClr val="04182D"/>
                </a:solidFill>
                <a:latin typeface="Tahoma"/>
                <a:cs typeface="Tahoma"/>
              </a:rPr>
              <a:t>problem</a:t>
            </a:r>
            <a:endParaRPr sz="2550">
              <a:latin typeface="Tahoma"/>
              <a:cs typeface="Tahoma"/>
            </a:endParaRPr>
          </a:p>
          <a:p>
            <a:pPr marL="93980">
              <a:lnSpc>
                <a:spcPct val="100000"/>
              </a:lnSpc>
              <a:spcBef>
                <a:spcPts val="705"/>
              </a:spcBef>
              <a:tabLst>
                <a:tab pos="462915" algn="l"/>
              </a:tabLst>
            </a:pPr>
            <a:r>
              <a:rPr sz="2550" spc="-400" dirty="0">
                <a:solidFill>
                  <a:srgbClr val="04182D"/>
                </a:solidFill>
                <a:latin typeface="Tahoma"/>
                <a:cs typeface="Tahoma"/>
              </a:rPr>
              <a:t>1.</a:t>
            </a:r>
            <a:r>
              <a:rPr sz="2550" dirty="0">
                <a:solidFill>
                  <a:srgbClr val="04182D"/>
                </a:solidFill>
                <a:latin typeface="Tahoma"/>
                <a:cs typeface="Tahoma"/>
              </a:rPr>
              <a:t>	</a:t>
            </a:r>
            <a:r>
              <a:rPr sz="2650" i="1" spc="50" dirty="0">
                <a:solidFill>
                  <a:srgbClr val="04182D"/>
                </a:solidFill>
                <a:latin typeface="Tahoma"/>
                <a:cs typeface="Tahoma"/>
              </a:rPr>
              <a:t>Design</a:t>
            </a:r>
            <a:endParaRPr sz="2650">
              <a:latin typeface="Tahoma"/>
              <a:cs typeface="Tahoma"/>
            </a:endParaRPr>
          </a:p>
        </p:txBody>
      </p:sp>
      <p:pic>
        <p:nvPicPr>
          <p:cNvPr id="8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35757" y="2655898"/>
            <a:ext cx="1735627" cy="1461840"/>
          </a:xfrm>
          <a:prstGeom prst="rect">
            <a:avLst/>
          </a:prstGeom>
        </p:spPr>
      </p:pic>
      <p:sp>
        <p:nvSpPr>
          <p:cNvPr id="9" name="object 6"/>
          <p:cNvSpPr txBox="1"/>
          <p:nvPr/>
        </p:nvSpPr>
        <p:spPr>
          <a:xfrm>
            <a:off x="531860" y="4407718"/>
            <a:ext cx="1285240" cy="4305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441959" algn="l"/>
              </a:tabLst>
            </a:pPr>
            <a:r>
              <a:rPr sz="2550" spc="-25" dirty="0">
                <a:solidFill>
                  <a:srgbClr val="04182D"/>
                </a:solidFill>
                <a:latin typeface="Tahoma"/>
                <a:cs typeface="Tahoma"/>
              </a:rPr>
              <a:t>2.</a:t>
            </a:r>
            <a:r>
              <a:rPr sz="2550" dirty="0">
                <a:solidFill>
                  <a:srgbClr val="04182D"/>
                </a:solidFill>
                <a:latin typeface="Tahoma"/>
                <a:cs typeface="Tahoma"/>
              </a:rPr>
              <a:t>	</a:t>
            </a:r>
            <a:r>
              <a:rPr sz="2650" i="1" spc="130" dirty="0">
                <a:solidFill>
                  <a:srgbClr val="04182D"/>
                </a:solidFill>
                <a:latin typeface="Tahoma"/>
                <a:cs typeface="Tahoma"/>
              </a:rPr>
              <a:t>Code</a:t>
            </a:r>
            <a:endParaRPr sz="2650">
              <a:latin typeface="Tahoma"/>
              <a:cs typeface="Tahoma"/>
            </a:endParaRPr>
          </a:p>
        </p:txBody>
      </p:sp>
      <p:pic>
        <p:nvPicPr>
          <p:cNvPr id="10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83869" y="4348850"/>
            <a:ext cx="1799229" cy="1518337"/>
          </a:xfrm>
          <a:prstGeom prst="rect">
            <a:avLst/>
          </a:prstGeom>
        </p:spPr>
      </p:pic>
      <p:sp>
        <p:nvSpPr>
          <p:cNvPr id="11" name="object 10"/>
          <p:cNvSpPr txBox="1"/>
          <p:nvPr/>
        </p:nvSpPr>
        <p:spPr>
          <a:xfrm>
            <a:off x="5099808" y="2326389"/>
            <a:ext cx="6618605" cy="19907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26400"/>
              </a:lnSpc>
              <a:spcBef>
                <a:spcPts val="95"/>
              </a:spcBef>
            </a:pPr>
            <a:r>
              <a:rPr sz="2550" b="1" dirty="0">
                <a:solidFill>
                  <a:srgbClr val="04182D"/>
                </a:solidFill>
                <a:latin typeface="Tahoma"/>
                <a:cs typeface="Tahoma"/>
              </a:rPr>
              <a:t>Data</a:t>
            </a:r>
            <a:r>
              <a:rPr sz="2550" b="1" spc="-5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b="1" spc="-95" dirty="0">
                <a:solidFill>
                  <a:srgbClr val="04182D"/>
                </a:solidFill>
                <a:latin typeface="Tahoma"/>
                <a:cs typeface="Tahoma"/>
              </a:rPr>
              <a:t>structures:</a:t>
            </a:r>
            <a:r>
              <a:rPr sz="2550" b="1" spc="-10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90" dirty="0">
                <a:solidFill>
                  <a:srgbClr val="04182D"/>
                </a:solidFill>
                <a:latin typeface="Tahoma"/>
                <a:cs typeface="Tahoma"/>
              </a:rPr>
              <a:t>hold</a:t>
            </a:r>
            <a:r>
              <a:rPr sz="2550" spc="-55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150" dirty="0">
                <a:solidFill>
                  <a:srgbClr val="04182D"/>
                </a:solidFill>
                <a:latin typeface="Tahoma"/>
                <a:cs typeface="Tahoma"/>
              </a:rPr>
              <a:t>and</a:t>
            </a:r>
            <a:r>
              <a:rPr sz="2550" spc="-60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110" dirty="0">
                <a:solidFill>
                  <a:srgbClr val="04182D"/>
                </a:solidFill>
                <a:latin typeface="Tahoma"/>
                <a:cs typeface="Tahoma"/>
              </a:rPr>
              <a:t>manipulate</a:t>
            </a:r>
            <a:r>
              <a:rPr sz="2550" spc="-55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135" dirty="0">
                <a:solidFill>
                  <a:srgbClr val="04182D"/>
                </a:solidFill>
                <a:latin typeface="Tahoma"/>
                <a:cs typeface="Tahoma"/>
              </a:rPr>
              <a:t>data </a:t>
            </a:r>
            <a:r>
              <a:rPr sz="2550" spc="75" dirty="0">
                <a:solidFill>
                  <a:srgbClr val="04182D"/>
                </a:solidFill>
                <a:latin typeface="Tahoma"/>
                <a:cs typeface="Tahoma"/>
              </a:rPr>
              <a:t>when</a:t>
            </a:r>
            <a:r>
              <a:rPr sz="2550" spc="-45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130" dirty="0">
                <a:solidFill>
                  <a:srgbClr val="04182D"/>
                </a:solidFill>
                <a:latin typeface="Tahoma"/>
                <a:cs typeface="Tahoma"/>
              </a:rPr>
              <a:t>we</a:t>
            </a:r>
            <a:r>
              <a:rPr sz="2550" spc="-45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110" dirty="0">
                <a:solidFill>
                  <a:srgbClr val="04182D"/>
                </a:solidFill>
                <a:latin typeface="Tahoma"/>
                <a:cs typeface="Tahoma"/>
              </a:rPr>
              <a:t>execute</a:t>
            </a:r>
            <a:r>
              <a:rPr sz="2550" spc="-40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140" dirty="0">
                <a:solidFill>
                  <a:srgbClr val="04182D"/>
                </a:solidFill>
                <a:latin typeface="Tahoma"/>
                <a:cs typeface="Tahoma"/>
              </a:rPr>
              <a:t>an</a:t>
            </a:r>
            <a:r>
              <a:rPr sz="2550" spc="-45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90" dirty="0">
                <a:solidFill>
                  <a:srgbClr val="04182D"/>
                </a:solidFill>
                <a:latin typeface="Tahoma"/>
                <a:cs typeface="Tahoma"/>
              </a:rPr>
              <a:t>algorithm</a:t>
            </a:r>
            <a:endParaRPr sz="2550">
              <a:latin typeface="Tahoma"/>
              <a:cs typeface="Tahoma"/>
            </a:endParaRPr>
          </a:p>
          <a:p>
            <a:pPr marL="381000" marR="374650">
              <a:lnSpc>
                <a:spcPct val="126400"/>
              </a:lnSpc>
            </a:pPr>
            <a:r>
              <a:rPr sz="2550" b="1" dirty="0">
                <a:solidFill>
                  <a:srgbClr val="04182D"/>
                </a:solidFill>
                <a:latin typeface="Tahoma"/>
                <a:cs typeface="Tahoma"/>
              </a:rPr>
              <a:t>Advanced</a:t>
            </a:r>
            <a:r>
              <a:rPr sz="2550" b="1" spc="-40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155" dirty="0">
                <a:solidFill>
                  <a:srgbClr val="04182D"/>
                </a:solidFill>
                <a:latin typeface="Tahoma"/>
                <a:cs typeface="Tahoma"/>
              </a:rPr>
              <a:t>data</a:t>
            </a:r>
            <a:r>
              <a:rPr sz="2550" spc="-85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45" dirty="0">
                <a:solidFill>
                  <a:srgbClr val="04182D"/>
                </a:solidFill>
                <a:latin typeface="Tahoma"/>
                <a:cs typeface="Tahoma"/>
              </a:rPr>
              <a:t>structures:</a:t>
            </a:r>
            <a:r>
              <a:rPr sz="2550" spc="-85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85" dirty="0">
                <a:solidFill>
                  <a:srgbClr val="04182D"/>
                </a:solidFill>
                <a:latin typeface="Tahoma"/>
                <a:cs typeface="Tahoma"/>
              </a:rPr>
              <a:t>linked</a:t>
            </a:r>
            <a:r>
              <a:rPr sz="2550" spc="-85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-10" dirty="0">
                <a:solidFill>
                  <a:srgbClr val="04182D"/>
                </a:solidFill>
                <a:latin typeface="Tahoma"/>
                <a:cs typeface="Tahoma"/>
              </a:rPr>
              <a:t>lists, </a:t>
            </a:r>
            <a:r>
              <a:rPr sz="2550" spc="80" dirty="0">
                <a:solidFill>
                  <a:srgbClr val="04182D"/>
                </a:solidFill>
                <a:latin typeface="Tahoma"/>
                <a:cs typeface="Tahoma"/>
              </a:rPr>
              <a:t>stacks,</a:t>
            </a:r>
            <a:r>
              <a:rPr sz="2550" spc="-40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-10" dirty="0">
                <a:solidFill>
                  <a:srgbClr val="04182D"/>
                </a:solidFill>
                <a:latin typeface="Tahoma"/>
                <a:cs typeface="Tahoma"/>
              </a:rPr>
              <a:t>queues...</a:t>
            </a:r>
            <a:endParaRPr sz="2550"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492004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582" name="AutoShape 6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4" name="AutoShape 8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8" name="AutoShape 12" descr="Box of Four Dams Taurus Chrome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0" name="AutoShape 14" descr="Dams Taurus Chrome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2" name="AutoShape 16" descr="https://static.office-furniture-direct.co.uk/Cache/Images/stack-4-chairs-blue-CHROME-01-400x400.png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4" name="AutoShape 18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6" name="AutoShape 20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xmlns="" id="{8986177A-9A0A-F174-FF1B-DBD9E85D24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8775" y="1500188"/>
            <a:ext cx="9722774" cy="4175125"/>
          </a:xfrm>
        </p:spPr>
        <p:txBody>
          <a:bodyPr/>
          <a:lstStyle/>
          <a:p>
            <a:r>
              <a:rPr smtClean="0"/>
              <a:t>A Stack is a linear data structure that only allows inserting,  deleting and querying elements at one of its ends, which we call the top.</a:t>
            </a:r>
          </a:p>
          <a:p>
            <a:endParaRPr smtClean="0"/>
          </a:p>
          <a:p>
            <a:r>
              <a:rPr smtClean="0">
                <a:solidFill>
                  <a:srgbClr val="FF0000"/>
                </a:solidFill>
              </a:rPr>
              <a:t>LIFO </a:t>
            </a:r>
            <a:r>
              <a:rPr smtClean="0"/>
              <a:t> type  structure  (Last  In,  First  Out),  in  which  the  last element   that   enters   is   the   first   element   that   leaves.</a:t>
            </a:r>
          </a:p>
          <a:p>
            <a:endParaRPr smtClean="0"/>
          </a:p>
          <a:p>
            <a:r>
              <a:rPr smtClean="0"/>
              <a:t>In </a:t>
            </a:r>
            <a:r>
              <a:rPr smtClean="0">
                <a:solidFill>
                  <a:srgbClr val="FF0000"/>
                </a:solidFill>
              </a:rPr>
              <a:t>C++</a:t>
            </a:r>
            <a:r>
              <a:rPr smtClean="0"/>
              <a:t> we declare a stack using stack&lt;T&gt; where T is a defined 	type.</a:t>
            </a:r>
          </a:p>
          <a:p>
            <a:endParaRPr lang="en-US" dirty="0"/>
          </a:p>
        </p:txBody>
      </p:sp>
      <p:pic>
        <p:nvPicPr>
          <p:cNvPr id="15" name="Picture 10" descr="Pile Of Plates PNG Transparent Images Free Download | Vector Files | Pngtree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143657" y="3194614"/>
            <a:ext cx="2674210" cy="267421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582" name="AutoShape 6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4" name="AutoShape 8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8" name="AutoShape 12" descr="Box of Four Dams Taurus Chrome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0" name="AutoShape 14" descr="Dams Taurus Chrome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2" name="AutoShape 16" descr="https://static.office-furniture-direct.co.uk/Cache/Images/stack-4-chairs-blue-CHROME-01-400x400.png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4" name="AutoShape 18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6" name="AutoShape 20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" name="object 3"/>
          <p:cNvSpPr txBox="1"/>
          <p:nvPr/>
        </p:nvSpPr>
        <p:spPr>
          <a:xfrm>
            <a:off x="689907" y="2522960"/>
            <a:ext cx="103759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9095" indent="-366395">
              <a:lnSpc>
                <a:spcPct val="100000"/>
              </a:lnSpc>
              <a:spcBef>
                <a:spcPts val="100"/>
              </a:spcBef>
              <a:buFont typeface="Arial"/>
              <a:buChar char="●"/>
              <a:tabLst>
                <a:tab pos="379095" algn="l"/>
              </a:tabLst>
            </a:pPr>
            <a:r>
              <a:rPr sz="1800" spc="60" dirty="0">
                <a:latin typeface="Cambria"/>
                <a:cs typeface="Cambria"/>
              </a:rPr>
              <a:t>Insert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15" name="object 4"/>
          <p:cNvSpPr txBox="1"/>
          <p:nvPr/>
        </p:nvSpPr>
        <p:spPr>
          <a:xfrm>
            <a:off x="1960106" y="2511385"/>
            <a:ext cx="2019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mbria"/>
                <a:cs typeface="Cambria"/>
              </a:rPr>
              <a:t>is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16" name="object 5"/>
          <p:cNvSpPr txBox="1"/>
          <p:nvPr/>
        </p:nvSpPr>
        <p:spPr>
          <a:xfrm>
            <a:off x="2313791" y="2522960"/>
            <a:ext cx="6705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75" dirty="0">
                <a:latin typeface="Cambria"/>
                <a:cs typeface="Cambria"/>
              </a:rPr>
              <a:t>called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17" name="object 6"/>
          <p:cNvSpPr txBox="1"/>
          <p:nvPr/>
        </p:nvSpPr>
        <p:spPr>
          <a:xfrm>
            <a:off x="3195876" y="2511385"/>
            <a:ext cx="62484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95" dirty="0">
                <a:solidFill>
                  <a:srgbClr val="7F6000"/>
                </a:solidFill>
                <a:latin typeface="Cambria"/>
                <a:cs typeface="Cambria"/>
              </a:rPr>
              <a:t>push</a:t>
            </a:r>
            <a:r>
              <a:rPr sz="1800" spc="95" dirty="0">
                <a:latin typeface="Cambria"/>
                <a:cs typeface="Cambria"/>
              </a:rPr>
              <a:t>.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18" name="object 7"/>
          <p:cNvSpPr txBox="1"/>
          <p:nvPr/>
        </p:nvSpPr>
        <p:spPr>
          <a:xfrm>
            <a:off x="689907" y="3071601"/>
            <a:ext cx="148844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9095" indent="-366395">
              <a:lnSpc>
                <a:spcPct val="100000"/>
              </a:lnSpc>
              <a:spcBef>
                <a:spcPts val="100"/>
              </a:spcBef>
              <a:buFont typeface="Arial"/>
              <a:buChar char="●"/>
              <a:tabLst>
                <a:tab pos="379095" algn="l"/>
              </a:tabLst>
            </a:pPr>
            <a:r>
              <a:rPr sz="1800" spc="90" dirty="0">
                <a:latin typeface="Cambria"/>
                <a:cs typeface="Cambria"/>
              </a:rPr>
              <a:t>Removing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19" name="object 8"/>
          <p:cNvSpPr txBox="1"/>
          <p:nvPr/>
        </p:nvSpPr>
        <p:spPr>
          <a:xfrm>
            <a:off x="2640148" y="3071601"/>
            <a:ext cx="37338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50" dirty="0">
                <a:latin typeface="Cambria"/>
                <a:cs typeface="Cambria"/>
              </a:rPr>
              <a:t>the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20" name="object 9"/>
          <p:cNvSpPr txBox="1"/>
          <p:nvPr/>
        </p:nvSpPr>
        <p:spPr>
          <a:xfrm>
            <a:off x="3475568" y="3071601"/>
            <a:ext cx="37782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35" dirty="0">
                <a:latin typeface="Cambria"/>
                <a:cs typeface="Cambria"/>
              </a:rPr>
              <a:t>top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21" name="object 10"/>
          <p:cNvSpPr txBox="1"/>
          <p:nvPr/>
        </p:nvSpPr>
        <p:spPr>
          <a:xfrm>
            <a:off x="4315367" y="3071601"/>
            <a:ext cx="9074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80" dirty="0">
                <a:latin typeface="Cambria"/>
                <a:cs typeface="Cambria"/>
              </a:rPr>
              <a:t>element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22" name="object 11"/>
          <p:cNvSpPr txBox="1"/>
          <p:nvPr/>
        </p:nvSpPr>
        <p:spPr>
          <a:xfrm>
            <a:off x="5684696" y="3071601"/>
            <a:ext cx="2019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mbria"/>
                <a:cs typeface="Cambria"/>
              </a:rPr>
              <a:t>is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23" name="object 12"/>
          <p:cNvSpPr txBox="1"/>
          <p:nvPr/>
        </p:nvSpPr>
        <p:spPr>
          <a:xfrm>
            <a:off x="6348471" y="3071601"/>
            <a:ext cx="6705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75" dirty="0">
                <a:latin typeface="Cambria"/>
                <a:cs typeface="Cambria"/>
              </a:rPr>
              <a:t>called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24" name="object 13"/>
          <p:cNvSpPr txBox="1"/>
          <p:nvPr/>
        </p:nvSpPr>
        <p:spPr>
          <a:xfrm>
            <a:off x="7483872" y="3071601"/>
            <a:ext cx="5035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85" dirty="0">
                <a:solidFill>
                  <a:srgbClr val="FF0000"/>
                </a:solidFill>
                <a:latin typeface="Cambria"/>
                <a:cs typeface="Cambria"/>
              </a:rPr>
              <a:t>pop</a:t>
            </a:r>
            <a:r>
              <a:rPr sz="1800" spc="85" dirty="0">
                <a:latin typeface="Cambria"/>
                <a:cs typeface="Cambria"/>
              </a:rPr>
              <a:t>.</a:t>
            </a:r>
            <a:endParaRPr sz="1800">
              <a:latin typeface="Cambria"/>
              <a:cs typeface="Cambria"/>
            </a:endParaRPr>
          </a:p>
        </p:txBody>
      </p:sp>
      <p:pic>
        <p:nvPicPr>
          <p:cNvPr id="25" name="Picture 10" descr="Pile Of Plates PNG Transparent Images Free Download | Vector Files | Pngtree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8833559" y="1574157"/>
            <a:ext cx="2674210" cy="267421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Stacks Operations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582" name="AutoShape 6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4" name="AutoShape 8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8" name="AutoShape 12" descr="Box of Four Dams Taurus Chrome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0" name="AutoShape 14" descr="Dams Taurus Chrome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2" name="AutoShape 16" descr="https://static.office-furniture-direct.co.uk/Cache/Images/stack-4-chairs-blue-CHROME-01-400x400.png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4" name="AutoShape 18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6" name="AutoShape 20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1202" name="Picture 2" descr="Stack Operations in Data Structure - Naukri Code 360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7851" y="2257068"/>
            <a:ext cx="6532212" cy="239113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Stacks Operations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582" name="AutoShape 6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4" name="AutoShape 8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8" name="AutoShape 12" descr="Box of Four Dams Taurus Chrome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0" name="AutoShape 14" descr="Dams Taurus Chrome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2" name="AutoShape 16" descr="https://static.office-furniture-direct.co.uk/Cache/Images/stack-4-chairs-blue-CHROME-01-400x400.png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4" name="AutoShape 18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6" name="AutoShape 20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5" name="object 3"/>
          <p:cNvSpPr txBox="1"/>
          <p:nvPr/>
        </p:nvSpPr>
        <p:spPr>
          <a:xfrm>
            <a:off x="2480461" y="2403510"/>
            <a:ext cx="897255" cy="314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00" b="1" spc="-10" dirty="0">
                <a:solidFill>
                  <a:srgbClr val="0000FF"/>
                </a:solidFill>
                <a:latin typeface="Arial"/>
                <a:cs typeface="Arial"/>
              </a:rPr>
              <a:t>push(5)</a:t>
            </a:r>
            <a:endParaRPr sz="1900">
              <a:latin typeface="Arial"/>
              <a:cs typeface="Arial"/>
            </a:endParaRPr>
          </a:p>
        </p:txBody>
      </p:sp>
      <p:sp>
        <p:nvSpPr>
          <p:cNvPr id="26" name="object 4"/>
          <p:cNvSpPr txBox="1"/>
          <p:nvPr/>
        </p:nvSpPr>
        <p:spPr>
          <a:xfrm>
            <a:off x="4104862" y="3650124"/>
            <a:ext cx="1024890" cy="396240"/>
          </a:xfrm>
          <a:prstGeom prst="rect">
            <a:avLst/>
          </a:prstGeom>
          <a:ln w="9524">
            <a:solidFill>
              <a:srgbClr val="9E9E9E"/>
            </a:solidFill>
          </a:ln>
        </p:spPr>
        <p:txBody>
          <a:bodyPr vert="horz" wrap="square" lIns="0" tIns="7810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615"/>
              </a:spcBef>
            </a:pPr>
            <a:r>
              <a:rPr sz="1400" spc="-50" dirty="0">
                <a:latin typeface="Arial"/>
                <a:cs typeface="Arial"/>
              </a:rPr>
              <a:t>5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4" name="object 5"/>
          <p:cNvGrpSpPr/>
          <p:nvPr/>
        </p:nvGrpSpPr>
        <p:grpSpPr>
          <a:xfrm>
            <a:off x="5345236" y="3842804"/>
            <a:ext cx="568960" cy="41275"/>
            <a:chOff x="5345236" y="3842804"/>
            <a:chExt cx="568960" cy="41275"/>
          </a:xfrm>
        </p:grpSpPr>
        <p:sp>
          <p:nvSpPr>
            <p:cNvPr id="28" name="object 6"/>
            <p:cNvSpPr/>
            <p:nvPr/>
          </p:nvSpPr>
          <p:spPr>
            <a:xfrm>
              <a:off x="5393224" y="3863299"/>
              <a:ext cx="520700" cy="0"/>
            </a:xfrm>
            <a:custGeom>
              <a:avLst/>
              <a:gdLst/>
              <a:ahLst/>
              <a:cxnLst/>
              <a:rect l="l" t="t" r="r" b="b"/>
              <a:pathLst>
                <a:path w="520700">
                  <a:moveTo>
                    <a:pt x="520649" y="0"/>
                  </a:moveTo>
                  <a:lnTo>
                    <a:pt x="0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7"/>
            <p:cNvSpPr/>
            <p:nvPr/>
          </p:nvSpPr>
          <p:spPr>
            <a:xfrm>
              <a:off x="5349999" y="3847567"/>
              <a:ext cx="43815" cy="31750"/>
            </a:xfrm>
            <a:custGeom>
              <a:avLst/>
              <a:gdLst/>
              <a:ahLst/>
              <a:cxnLst/>
              <a:rect l="l" t="t" r="r" b="b"/>
              <a:pathLst>
                <a:path w="43814" h="31750">
                  <a:moveTo>
                    <a:pt x="43225" y="31465"/>
                  </a:moveTo>
                  <a:lnTo>
                    <a:pt x="0" y="15732"/>
                  </a:lnTo>
                  <a:lnTo>
                    <a:pt x="43225" y="0"/>
                  </a:lnTo>
                  <a:lnTo>
                    <a:pt x="43225" y="3146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8"/>
            <p:cNvSpPr/>
            <p:nvPr/>
          </p:nvSpPr>
          <p:spPr>
            <a:xfrm>
              <a:off x="5349999" y="3847567"/>
              <a:ext cx="43815" cy="31750"/>
            </a:xfrm>
            <a:custGeom>
              <a:avLst/>
              <a:gdLst/>
              <a:ahLst/>
              <a:cxnLst/>
              <a:rect l="l" t="t" r="r" b="b"/>
              <a:pathLst>
                <a:path w="43814" h="31750">
                  <a:moveTo>
                    <a:pt x="43225" y="0"/>
                  </a:moveTo>
                  <a:lnTo>
                    <a:pt x="0" y="15732"/>
                  </a:lnTo>
                  <a:lnTo>
                    <a:pt x="43225" y="31465"/>
                  </a:lnTo>
                  <a:lnTo>
                    <a:pt x="43225" y="0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" name="object 9"/>
          <p:cNvSpPr txBox="1"/>
          <p:nvPr/>
        </p:nvSpPr>
        <p:spPr>
          <a:xfrm>
            <a:off x="6083672" y="3697571"/>
            <a:ext cx="33909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spc="30" dirty="0">
                <a:latin typeface="Cambria"/>
                <a:cs typeface="Cambria"/>
              </a:rPr>
              <a:t>top</a:t>
            </a:r>
            <a:endParaRPr sz="1600">
              <a:latin typeface="Cambria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Stacks Operations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582" name="AutoShape 6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4" name="AutoShape 8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8" name="AutoShape 12" descr="Box of Four Dams Taurus Chrome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0" name="AutoShape 14" descr="Dams Taurus Chrome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2" name="AutoShape 16" descr="https://static.office-furniture-direct.co.uk/Cache/Images/stack-4-chairs-blue-CHROME-01-400x400.png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4" name="AutoShape 18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6" name="AutoShape 20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" name="object 3"/>
          <p:cNvSpPr txBox="1"/>
          <p:nvPr/>
        </p:nvSpPr>
        <p:spPr>
          <a:xfrm>
            <a:off x="1380866" y="1743753"/>
            <a:ext cx="897255" cy="314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00" b="1" spc="-10" dirty="0">
                <a:solidFill>
                  <a:srgbClr val="0000FF"/>
                </a:solidFill>
                <a:latin typeface="Arial"/>
                <a:cs typeface="Arial"/>
              </a:rPr>
              <a:t>push(8)</a:t>
            </a:r>
            <a:endParaRPr sz="1900">
              <a:latin typeface="Arial"/>
              <a:cs typeface="Arial"/>
            </a:endParaRPr>
          </a:p>
        </p:txBody>
      </p:sp>
      <p:graphicFrame>
        <p:nvGraphicFramePr>
          <p:cNvPr id="20" name="object 4"/>
          <p:cNvGraphicFramePr>
            <a:graphicFrameLocks noGrp="1"/>
          </p:cNvGraphicFramePr>
          <p:nvPr/>
        </p:nvGraphicFramePr>
        <p:xfrm>
          <a:off x="4076950" y="3955218"/>
          <a:ext cx="1024890" cy="7912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24890"/>
              </a:tblGrid>
              <a:tr h="3956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8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78740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1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78105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pSp>
        <p:nvGrpSpPr>
          <p:cNvPr id="21" name="object 5"/>
          <p:cNvGrpSpPr/>
          <p:nvPr/>
        </p:nvGrpSpPr>
        <p:grpSpPr>
          <a:xfrm>
            <a:off x="5310762" y="4152660"/>
            <a:ext cx="568960" cy="41275"/>
            <a:chOff x="5333912" y="3446604"/>
            <a:chExt cx="568960" cy="41275"/>
          </a:xfrm>
        </p:grpSpPr>
        <p:sp>
          <p:nvSpPr>
            <p:cNvPr id="22" name="object 6"/>
            <p:cNvSpPr/>
            <p:nvPr/>
          </p:nvSpPr>
          <p:spPr>
            <a:xfrm>
              <a:off x="5381900" y="3467099"/>
              <a:ext cx="520700" cy="0"/>
            </a:xfrm>
            <a:custGeom>
              <a:avLst/>
              <a:gdLst/>
              <a:ahLst/>
              <a:cxnLst/>
              <a:rect l="l" t="t" r="r" b="b"/>
              <a:pathLst>
                <a:path w="520700">
                  <a:moveTo>
                    <a:pt x="520649" y="0"/>
                  </a:moveTo>
                  <a:lnTo>
                    <a:pt x="0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7"/>
            <p:cNvSpPr/>
            <p:nvPr/>
          </p:nvSpPr>
          <p:spPr>
            <a:xfrm>
              <a:off x="5338674" y="3451367"/>
              <a:ext cx="43815" cy="31750"/>
            </a:xfrm>
            <a:custGeom>
              <a:avLst/>
              <a:gdLst/>
              <a:ahLst/>
              <a:cxnLst/>
              <a:rect l="l" t="t" r="r" b="b"/>
              <a:pathLst>
                <a:path w="43814" h="31750">
                  <a:moveTo>
                    <a:pt x="43225" y="31465"/>
                  </a:moveTo>
                  <a:lnTo>
                    <a:pt x="0" y="15732"/>
                  </a:lnTo>
                  <a:lnTo>
                    <a:pt x="43225" y="0"/>
                  </a:lnTo>
                  <a:lnTo>
                    <a:pt x="43225" y="3146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8"/>
            <p:cNvSpPr/>
            <p:nvPr/>
          </p:nvSpPr>
          <p:spPr>
            <a:xfrm>
              <a:off x="5338674" y="3451367"/>
              <a:ext cx="43815" cy="31750"/>
            </a:xfrm>
            <a:custGeom>
              <a:avLst/>
              <a:gdLst/>
              <a:ahLst/>
              <a:cxnLst/>
              <a:rect l="l" t="t" r="r" b="b"/>
              <a:pathLst>
                <a:path w="43814" h="31750">
                  <a:moveTo>
                    <a:pt x="43225" y="0"/>
                  </a:moveTo>
                  <a:lnTo>
                    <a:pt x="0" y="15732"/>
                  </a:lnTo>
                  <a:lnTo>
                    <a:pt x="43225" y="31465"/>
                  </a:lnTo>
                  <a:lnTo>
                    <a:pt x="43225" y="0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9"/>
          <p:cNvSpPr txBox="1"/>
          <p:nvPr/>
        </p:nvSpPr>
        <p:spPr>
          <a:xfrm>
            <a:off x="6049197" y="4007428"/>
            <a:ext cx="33909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spc="30" dirty="0">
                <a:latin typeface="Cambria"/>
                <a:cs typeface="Cambria"/>
              </a:rPr>
              <a:t>top</a:t>
            </a:r>
            <a:endParaRPr sz="1600">
              <a:latin typeface="Cambria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Stacks Operations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582" name="AutoShape 6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4" name="AutoShape 8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8" name="AutoShape 12" descr="Box of Four Dams Taurus Chrome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0" name="AutoShape 14" descr="Dams Taurus Chrome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2" name="AutoShape 16" descr="https://static.office-furniture-direct.co.uk/Cache/Images/stack-4-chairs-blue-CHROME-01-400x400.png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4" name="AutoShape 18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6" name="AutoShape 20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1" name="object 3"/>
          <p:cNvSpPr txBox="1"/>
          <p:nvPr/>
        </p:nvSpPr>
        <p:spPr>
          <a:xfrm>
            <a:off x="1526614" y="1651155"/>
            <a:ext cx="628650" cy="314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00" b="1" spc="-10" dirty="0">
                <a:solidFill>
                  <a:srgbClr val="FF0000"/>
                </a:solidFill>
                <a:latin typeface="Arial"/>
                <a:cs typeface="Arial"/>
              </a:rPr>
              <a:t>pop()</a:t>
            </a:r>
            <a:endParaRPr sz="1900">
              <a:latin typeface="Arial"/>
              <a:cs typeface="Arial"/>
            </a:endParaRPr>
          </a:p>
        </p:txBody>
      </p:sp>
      <p:graphicFrame>
        <p:nvGraphicFramePr>
          <p:cNvPr id="25" name="object 4"/>
          <p:cNvGraphicFramePr>
            <a:graphicFrameLocks noGrp="1"/>
          </p:cNvGraphicFramePr>
          <p:nvPr/>
        </p:nvGraphicFramePr>
        <p:xfrm>
          <a:off x="4088526" y="3464045"/>
          <a:ext cx="1024890" cy="11893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24890"/>
              </a:tblGrid>
              <a:tr h="3968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4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78740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12700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968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8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79375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12700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1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78105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pSp>
        <p:nvGrpSpPr>
          <p:cNvPr id="26" name="object 5"/>
          <p:cNvGrpSpPr/>
          <p:nvPr/>
        </p:nvGrpSpPr>
        <p:grpSpPr>
          <a:xfrm>
            <a:off x="5310987" y="3661487"/>
            <a:ext cx="568960" cy="41275"/>
            <a:chOff x="5322561" y="3048029"/>
            <a:chExt cx="568960" cy="41275"/>
          </a:xfrm>
        </p:grpSpPr>
        <p:sp>
          <p:nvSpPr>
            <p:cNvPr id="28" name="object 6"/>
            <p:cNvSpPr/>
            <p:nvPr/>
          </p:nvSpPr>
          <p:spPr>
            <a:xfrm>
              <a:off x="5370549" y="3068524"/>
              <a:ext cx="520700" cy="0"/>
            </a:xfrm>
            <a:custGeom>
              <a:avLst/>
              <a:gdLst/>
              <a:ahLst/>
              <a:cxnLst/>
              <a:rect l="l" t="t" r="r" b="b"/>
              <a:pathLst>
                <a:path w="520700">
                  <a:moveTo>
                    <a:pt x="520649" y="0"/>
                  </a:moveTo>
                  <a:lnTo>
                    <a:pt x="0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7"/>
            <p:cNvSpPr/>
            <p:nvPr/>
          </p:nvSpPr>
          <p:spPr>
            <a:xfrm>
              <a:off x="5327324" y="3052792"/>
              <a:ext cx="43815" cy="31750"/>
            </a:xfrm>
            <a:custGeom>
              <a:avLst/>
              <a:gdLst/>
              <a:ahLst/>
              <a:cxnLst/>
              <a:rect l="l" t="t" r="r" b="b"/>
              <a:pathLst>
                <a:path w="43814" h="31750">
                  <a:moveTo>
                    <a:pt x="43225" y="31465"/>
                  </a:moveTo>
                  <a:lnTo>
                    <a:pt x="0" y="15732"/>
                  </a:lnTo>
                  <a:lnTo>
                    <a:pt x="43225" y="0"/>
                  </a:lnTo>
                  <a:lnTo>
                    <a:pt x="43225" y="3146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8"/>
            <p:cNvSpPr/>
            <p:nvPr/>
          </p:nvSpPr>
          <p:spPr>
            <a:xfrm>
              <a:off x="5327324" y="3052792"/>
              <a:ext cx="43815" cy="31750"/>
            </a:xfrm>
            <a:custGeom>
              <a:avLst/>
              <a:gdLst/>
              <a:ahLst/>
              <a:cxnLst/>
              <a:rect l="l" t="t" r="r" b="b"/>
              <a:pathLst>
                <a:path w="43814" h="31750">
                  <a:moveTo>
                    <a:pt x="43225" y="0"/>
                  </a:moveTo>
                  <a:lnTo>
                    <a:pt x="0" y="15732"/>
                  </a:lnTo>
                  <a:lnTo>
                    <a:pt x="43225" y="31465"/>
                  </a:lnTo>
                  <a:lnTo>
                    <a:pt x="43225" y="0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" name="object 9"/>
          <p:cNvSpPr txBox="1"/>
          <p:nvPr/>
        </p:nvSpPr>
        <p:spPr>
          <a:xfrm>
            <a:off x="6049423" y="3516255"/>
            <a:ext cx="33909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spc="30" dirty="0">
                <a:latin typeface="Cambria"/>
                <a:cs typeface="Cambria"/>
              </a:rPr>
              <a:t>top</a:t>
            </a:r>
            <a:endParaRPr sz="1600">
              <a:latin typeface="Cambria"/>
              <a:cs typeface="Cambria"/>
            </a:endParaRPr>
          </a:p>
        </p:txBody>
      </p:sp>
      <p:pic>
        <p:nvPicPr>
          <p:cNvPr id="32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267073" y="1804908"/>
            <a:ext cx="2400300" cy="3648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Stacks </a:t>
            </a:r>
            <a:r>
              <a:rPr lang="en-US" dirty="0" err="1" smtClean="0"/>
              <a:t>vs</a:t>
            </a:r>
            <a:r>
              <a:rPr lang="en-US" dirty="0" smtClean="0"/>
              <a:t> Queue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582" name="AutoShape 6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4" name="AutoShape 8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8" name="AutoShape 12" descr="Box of Four Dams Taurus Chrome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0" name="AutoShape 14" descr="Dams Taurus Chrome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2" name="AutoShape 16" descr="https://static.office-furniture-direct.co.uk/Cache/Images/stack-4-chairs-blue-CHROME-01-400x400.png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4" name="AutoShape 18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6" name="AutoShape 20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3450" y="1514475"/>
            <a:ext cx="5943600" cy="4295775"/>
          </a:xfrm>
          <a:prstGeom prst="rect">
            <a:avLst/>
          </a:prstGeom>
        </p:spPr>
      </p:pic>
      <p:pic>
        <p:nvPicPr>
          <p:cNvPr id="15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660612" y="1712310"/>
            <a:ext cx="2400300" cy="3648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Stacks </a:t>
            </a:r>
            <a:r>
              <a:rPr lang="en-US" dirty="0" err="1" smtClean="0"/>
              <a:t>vs</a:t>
            </a:r>
            <a:r>
              <a:rPr lang="en-US" dirty="0" smtClean="0"/>
              <a:t> Queue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582" name="AutoShape 6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4" name="AutoShape 8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8" name="AutoShape 12" descr="Box of Four Dams Taurus Chrome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0" name="AutoShape 14" descr="Dams Taurus Chrome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2" name="AutoShape 16" descr="https://static.office-furniture-direct.co.uk/Cache/Images/stack-4-chairs-blue-CHROME-01-400x400.png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4" name="AutoShape 18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6" name="AutoShape 20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4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17704" y="1836275"/>
            <a:ext cx="5943600" cy="3467100"/>
          </a:xfrm>
          <a:prstGeom prst="rect">
            <a:avLst/>
          </a:prstGeom>
        </p:spPr>
      </p:pic>
      <p:pic>
        <p:nvPicPr>
          <p:cNvPr id="15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572592" y="1955379"/>
            <a:ext cx="2400300" cy="3648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Stacks: LIFO/FILO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582" name="AutoShape 6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4" name="AutoShape 8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8" name="AutoShape 12" descr="Box of Four Dams Taurus Chrome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0" name="AutoShape 14" descr="Dams Taurus Chrome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2" name="AutoShape 16" descr="https://static.office-furniture-direct.co.uk/Cache/Images/stack-4-chairs-blue-CHROME-01-400x400.png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4" name="AutoShape 18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6" name="AutoShape 20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xmlns="" id="{8986177A-9A0A-F174-FF1B-DBD9E85D24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8775" y="1500188"/>
            <a:ext cx="9137444" cy="4175125"/>
          </a:xfrm>
        </p:spPr>
        <p:txBody>
          <a:bodyPr/>
          <a:lstStyle/>
          <a:p>
            <a:r>
              <a:rPr smtClean="0"/>
              <a:t>LIFO/FILO: Element which is put up last will be the first one out.</a:t>
            </a:r>
            <a:endParaRPr lang="en-US" dirty="0"/>
          </a:p>
        </p:txBody>
      </p:sp>
      <p:pic>
        <p:nvPicPr>
          <p:cNvPr id="46082" name="Picture 2"/>
          <p:cNvPicPr>
            <a:picLocks noChangeAspect="1" noChangeArrowheads="1"/>
          </p:cNvPicPr>
          <p:nvPr/>
        </p:nvPicPr>
        <p:blipFill>
          <a:blip r:embed="rId2"/>
          <a:srcRect l="4274" t="2061"/>
          <a:stretch>
            <a:fillRect/>
          </a:stretch>
        </p:blipFill>
        <p:spPr bwMode="auto">
          <a:xfrm>
            <a:off x="520861" y="2361235"/>
            <a:ext cx="2872129" cy="31810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6083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889686" y="2001678"/>
            <a:ext cx="2400300" cy="3648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Industry example of Stack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xmlns="" id="{E3109802-316C-721A-8025-47A0C1B111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8775" y="1500188"/>
            <a:ext cx="9137444" cy="4175125"/>
          </a:xfrm>
        </p:spPr>
        <p:txBody>
          <a:bodyPr/>
          <a:lstStyle/>
          <a:p>
            <a:pPr>
              <a:buFont typeface="Wingdings"/>
              <a:buChar char="à"/>
            </a:pPr>
            <a:r>
              <a:rPr lang="en-US" dirty="0" smtClean="0">
                <a:sym typeface="Wingdings" pitchFamily="2" charset="2"/>
              </a:rPr>
              <a:t>Undo/redo operations</a:t>
            </a:r>
          </a:p>
          <a:p>
            <a:pPr>
              <a:buFont typeface="Wingdings"/>
              <a:buChar char="à"/>
            </a:pPr>
            <a:r>
              <a:rPr smtClean="0">
                <a:sym typeface="Wingdings" pitchFamily="2" charset="2"/>
              </a:rPr>
              <a:t>Call stack in programming</a:t>
            </a:r>
          </a:p>
          <a:p>
            <a:pPr>
              <a:buFont typeface="Wingdings"/>
              <a:buChar char="à"/>
            </a:pPr>
            <a:r>
              <a:rPr smtClean="0">
                <a:sym typeface="Wingdings" pitchFamily="2" charset="2"/>
              </a:rPr>
              <a:t>Matching HTML tags/branches</a:t>
            </a:r>
          </a:p>
          <a:p>
            <a:pPr>
              <a:buFont typeface="Wingdings"/>
              <a:buChar char="à"/>
            </a:pPr>
            <a:r>
              <a:rPr smtClean="0">
                <a:sym typeface="Wingdings" pitchFamily="2" charset="2"/>
              </a:rPr>
              <a:t>In back tracking algorithm</a:t>
            </a:r>
          </a:p>
          <a:p>
            <a:pPr>
              <a:buFont typeface="Wingdings"/>
              <a:buChar char="à"/>
            </a:pPr>
            <a:r>
              <a:rPr smtClean="0">
                <a:sym typeface="Wingdings" pitchFamily="2" charset="2"/>
              </a:rPr>
              <a:t>Decimal to Binary conversion</a:t>
            </a:r>
          </a:p>
          <a:p>
            <a:pPr>
              <a:buFont typeface="Wingdings"/>
              <a:buChar char="à"/>
            </a:pPr>
            <a:r>
              <a:rPr smtClean="0">
                <a:sym typeface="Wingdings" pitchFamily="2" charset="2"/>
              </a:rPr>
              <a:t>Reversing a string</a:t>
            </a:r>
          </a:p>
          <a:p>
            <a:pPr>
              <a:buFont typeface="Wingdings"/>
              <a:buChar char="à"/>
            </a:pPr>
            <a:r>
              <a:rPr smtClean="0">
                <a:sym typeface="Wingdings" pitchFamily="2" charset="2"/>
              </a:rPr>
              <a:t>Evaluating a Postfix Expression</a:t>
            </a:r>
          </a:p>
          <a:p>
            <a:endParaRPr lang="en-US" dirty="0"/>
          </a:p>
        </p:txBody>
      </p:sp>
      <p:pic>
        <p:nvPicPr>
          <p:cNvPr id="22530" name="Picture 2" descr="Basic HTML Tags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091034" y="1593921"/>
            <a:ext cx="7802153" cy="231832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29736485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 Representation using array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1506" name="Picture 2" descr="https://i.ytimg.com/vi/gT6s56XdeGA/maxresdefault.jpg"/>
          <p:cNvPicPr>
            <a:picLocks noChangeAspect="1" noChangeArrowheads="1"/>
          </p:cNvPicPr>
          <p:nvPr/>
        </p:nvPicPr>
        <p:blipFill>
          <a:blip r:embed="rId2"/>
          <a:srcRect b="8792"/>
          <a:stretch>
            <a:fillRect/>
          </a:stretch>
        </p:blipFill>
        <p:spPr bwMode="auto">
          <a:xfrm>
            <a:off x="559442" y="1562522"/>
            <a:ext cx="7693308" cy="394702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2618870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 Representation using array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7346" name="Picture 2" descr="Stack | Application of stack in data structure | Stack program in c | Stack  using array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95133" y="1336466"/>
            <a:ext cx="7410370" cy="456767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2618870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 Representation using array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8370" name="AutoShape 2" descr="Stack in Data Structure: Examples, Uses, Implementation, Mor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8372" name="AutoShape 4" descr="Stack in Data Structure: Examples, Uses, Implementation, Mor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8374" name="AutoShape 6" descr="Data Structure ARRAY REPRESENTATION OF STACKS | PPTX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8376" name="AutoShape 8" descr="Stack - Linked List Implementation - GeeksforGeek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8378" name="AutoShape 10" descr="Stack - Linked List Implementation - GeeksforGeek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8380" name="Picture 12" descr="Array Data Structure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1855728"/>
            <a:ext cx="7892302" cy="35033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2618870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 Representation using Linked List 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9458" name="Picture 2" descr="Stack Representation using Arrays and Linked List ~ TUTORIALTPOINT- Java  Tutorial, C Tutorial, DBMS Tutorial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02927" y="1568049"/>
            <a:ext cx="6527078" cy="404828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2492004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 Representation using Linked List 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5298" name="Picture 2" descr="How to implement stack using using linked list in C++ - CodeSpeedy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60689" y="1553379"/>
            <a:ext cx="9020175" cy="410527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2492004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 Representation using Linked List 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6322" name="Picture 2" descr="Linked List Representation of Stack » CS Taleem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66998" y="1579450"/>
            <a:ext cx="7662602" cy="368776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2492004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Visualization of stack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8986177A-9A0A-F174-FF1B-DBD9E85D24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smtClean="0"/>
              <a:t>Array Stack Visualization: </a:t>
            </a:r>
            <a:r>
              <a:rPr smtClean="0">
                <a:hlinkClick r:id="rId2"/>
              </a:rPr>
              <a:t>https://www.cs.usfca.edu/~galles/visualization/StackArray.html</a:t>
            </a:r>
            <a:endParaRPr smtClean="0"/>
          </a:p>
          <a:p>
            <a:pPr marL="342900" indent="-342900">
              <a:buAutoNum type="arabicPeriod"/>
            </a:pPr>
            <a:endParaRPr smtClean="0"/>
          </a:p>
          <a:p>
            <a:pPr marL="342900" indent="-342900"/>
            <a:endParaRPr smtClean="0"/>
          </a:p>
          <a:p>
            <a:pPr marL="342900" indent="-342900"/>
            <a:r>
              <a:rPr smtClean="0"/>
              <a:t>2.	Stack Visualizer: </a:t>
            </a:r>
            <a:r>
              <a:rPr smtClean="0">
                <a:hlinkClick r:id="rId3"/>
              </a:rPr>
              <a:t>https://stack-visualizer-wheat.vercel.app/</a:t>
            </a:r>
            <a:endParaRPr smtClean="0"/>
          </a:p>
          <a:p>
            <a:pPr marL="342900" indent="-342900">
              <a:buAutoNum type="arabicPeriod"/>
            </a:pPr>
            <a:endParaRPr smtClean="0"/>
          </a:p>
          <a:p>
            <a:pPr marL="342900" indent="-342900"/>
            <a:endParaRPr smtClean="0"/>
          </a:p>
          <a:p>
            <a:pPr marL="342900" indent="-342900"/>
            <a:r>
              <a:rPr smtClean="0"/>
              <a:t>3.	Linked List (Single, Doubly), Stack, Queue, Deque </a:t>
            </a:r>
            <a:r>
              <a:rPr lang="en-US" dirty="0" smtClean="0"/>
              <a:t>–</a:t>
            </a:r>
            <a:r>
              <a:rPr smtClean="0"/>
              <a:t> VisuAlgo:  </a:t>
            </a:r>
            <a:r>
              <a:rPr smtClean="0">
                <a:hlinkClick r:id="rId4"/>
              </a:rPr>
              <a:t>https://visualgo.net/en/list</a:t>
            </a:r>
            <a:endParaRPr smtClean="0"/>
          </a:p>
          <a:p>
            <a:pPr marL="342900" indent="-342900"/>
            <a:endParaRPr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9736485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 Example: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7410" name="Picture 2" descr="Valid Brackets – Part 2 | Stack Method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229208" y="1440460"/>
            <a:ext cx="7706448" cy="437025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2618870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Evaluation of Postfix Expression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6385" name="Picture 1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43623" y="1608882"/>
            <a:ext cx="7646160" cy="40632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Evaluation of Postfix Expression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0418" name="Picture 2" descr="81. Evaluation of Postfix (Hindi)"/>
          <p:cNvPicPr>
            <a:picLocks noChangeAspect="1" noChangeArrowheads="1"/>
          </p:cNvPicPr>
          <p:nvPr/>
        </p:nvPicPr>
        <p:blipFill>
          <a:blip r:embed="rId2"/>
          <a:srcRect t="11802" r="24973"/>
          <a:stretch>
            <a:fillRect/>
          </a:stretch>
        </p:blipFill>
        <p:spPr bwMode="auto">
          <a:xfrm>
            <a:off x="200738" y="1875099"/>
            <a:ext cx="5494006" cy="363288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Thanking you !!!!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197C0724-35FE-DFD8-FDEA-773DEA7A68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smtClean="0"/>
              <a:t>Any question !!!!!</a:t>
            </a:r>
          </a:p>
          <a:p>
            <a:endParaRPr smtClean="0"/>
          </a:p>
          <a:p>
            <a:r>
              <a:rPr smtClean="0"/>
              <a:t>Download PPT : </a:t>
            </a:r>
            <a:r>
              <a:rPr smtClean="0">
                <a:hlinkClick r:id="rId2"/>
              </a:rPr>
              <a:t>sachin365123/Applies-Data-Structure-and-Application-GLA-Online-Sessions-Jan---Jun-2026</a:t>
            </a:r>
            <a:r>
              <a:rPr smtClean="0"/>
              <a:t> 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4920042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2919612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1497</TotalTime>
  <Words>344</Words>
  <Application>Microsoft Office PowerPoint</Application>
  <PresentationFormat>Custom</PresentationFormat>
  <Paragraphs>92</Paragraphs>
  <Slides>29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0" baseType="lpstr">
      <vt:lpstr>Office Theme</vt:lpstr>
      <vt:lpstr>Slide 1</vt:lpstr>
      <vt:lpstr> </vt:lpstr>
      <vt:lpstr>Content</vt:lpstr>
      <vt:lpstr>Why to study so many data structures?</vt:lpstr>
      <vt:lpstr>Stacks</vt:lpstr>
      <vt:lpstr>Stacks</vt:lpstr>
      <vt:lpstr>Slide 7</vt:lpstr>
      <vt:lpstr>Stacks</vt:lpstr>
      <vt:lpstr>Stacks</vt:lpstr>
      <vt:lpstr>Stacks Operations</vt:lpstr>
      <vt:lpstr>Stacks Operations</vt:lpstr>
      <vt:lpstr>Stacks Operations</vt:lpstr>
      <vt:lpstr>Stacks Operations</vt:lpstr>
      <vt:lpstr>Stacks vs Queue</vt:lpstr>
      <vt:lpstr>Stacks vs Queue</vt:lpstr>
      <vt:lpstr>Stacks: LIFO/FILO</vt:lpstr>
      <vt:lpstr>Industry example of Stack</vt:lpstr>
      <vt:lpstr>Stack Representation using array</vt:lpstr>
      <vt:lpstr>Stack Representation using array</vt:lpstr>
      <vt:lpstr>Stack Representation using array</vt:lpstr>
      <vt:lpstr>Stack Representation using Linked List </vt:lpstr>
      <vt:lpstr>Stack Representation using Linked List </vt:lpstr>
      <vt:lpstr>Stack Representation using Linked List </vt:lpstr>
      <vt:lpstr>Visualization of stack</vt:lpstr>
      <vt:lpstr>Stack Example:</vt:lpstr>
      <vt:lpstr>Evaluation of Postfix Expression</vt:lpstr>
      <vt:lpstr>Evaluation of Postfix Expression</vt:lpstr>
      <vt:lpstr>Thanking you !!!!</vt:lpstr>
      <vt:lpstr>Slide 29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hp</cp:lastModifiedBy>
  <cp:revision>90</cp:revision>
  <dcterms:created xsi:type="dcterms:W3CDTF">2024-10-06T15:26:34Z</dcterms:created>
  <dcterms:modified xsi:type="dcterms:W3CDTF">2026-03-14T16:39:12Z</dcterms:modified>
</cp:coreProperties>
</file>